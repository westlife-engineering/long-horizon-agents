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本次完整汇报包含 </a:t>
            </a:r>
            <a:r>
              <a:rPr lang="en-US"/>
              <a:t>Foundation、Harness、Model Optimization </a:t>
            </a:r>
            <a:r>
              <a:rPr lang="zh-CN" altLang="en-US"/>
              <a:t>与 </a:t>
            </a:r>
            <a:r>
              <a:rPr lang="en-US"/>
              <a:t>Application，</a:t>
            </a:r>
            <a:r>
              <a:rPr lang="zh-CN" altLang="en-US"/>
              <a:t>共</a:t>
            </a:r>
            <a:r>
              <a:rPr lang="en-US" altLang="zh-CN"/>
              <a:t>17</a:t>
            </a:r>
            <a:r>
              <a:rPr lang="zh-CN" altLang="en-US"/>
              <a:t>页。第</a:t>
            </a:r>
            <a:r>
              <a:rPr lang="en-US" altLang="zh-CN"/>
              <a:t>1–10</a:t>
            </a:r>
            <a:r>
              <a:rPr lang="zh-CN" altLang="en-US"/>
              <a:t>页为最新 </a:t>
            </a:r>
            <a:r>
              <a:rPr lang="en-US"/>
              <a:t>Foundation / Harness </a:t>
            </a:r>
            <a:r>
              <a:rPr lang="zh-CN" altLang="en-US"/>
              <a:t>原稿，第</a:t>
            </a:r>
            <a:r>
              <a:rPr lang="en-US" altLang="zh-CN"/>
              <a:t>11–17</a:t>
            </a:r>
            <a:r>
              <a:rPr lang="zh-CN" altLang="en-US"/>
              <a:t>页为精简后的续篇。两段重点讲述方案位于第</a:t>
            </a:r>
            <a:r>
              <a:rPr lang="en-US" altLang="zh-CN"/>
              <a:t>14</a:t>
            </a:r>
            <a:r>
              <a:rPr lang="zh-CN" altLang="en-US"/>
              <a:t>、</a:t>
            </a:r>
            <a:r>
              <a:rPr lang="en-US" altLang="zh-CN"/>
              <a:t>17</a:t>
            </a:r>
            <a:r>
              <a:rPr lang="zh-CN" altLang="en-US"/>
              <a:t>页备注。准备日期</a:t>
            </a:r>
            <a:r>
              <a:rPr lang="en-US" altLang="zh-CN"/>
              <a:t>2026-10-28</a:t>
            </a:r>
            <a:r>
              <a:rPr lang="zh-CN" altLang="en-US"/>
              <a:t>。来源定位保留在各页脚注与备注。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 秒。Long-Horizon 依据相互依赖的决策与持续交互定义，时长或调用次数不能单独判定。H1–H3 是本综述的操作性框架，C2 在 C1 基础上增加状态延续，C3 增加跨任务经验积累。层级判断还需说明窗口与交接条件。批处理与调试的比较是教学例子。来源：S001 §2.1 PDF pp.7、9，§2.2 pp.10–11，§2.4.1 p.13；wiki/foundations/Formalization.md。 H1–H3 与 C1–C3 的英文名称按原文 Fig.3（PDF p.10）保留。Context Window 的容量与 Handoff 条件会影响层级判断。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75 秒。沿横向流程解释 Environment State s_t、Observation o_t、Context c_t、Action a_t 与下一 Environment State s_{t+1}。Q 表示 Task Specification，History 包括 o_{0:t} 与 a_{0:t-1}；本轮 Observation 已到来，Action 尚未提出。四个公式分别对应 Observation、Context Construction、Action Selection 与 State Transition。πθ 是 Base Policy，ℋ 是 Harness，⊕ 表示 Runtime Coupling。图中的 Validation &amp; Execution 是原文式外说明的 Harness 职责，并不意味着 ℋ 只负责构造 Context。返回线表示 t 更新为 t+1 后重复该过程，直至 Termination；省略了拒绝、失败重试及并行调度。箭头是过程顺序，State Transition 仍同时依赖 s_t 与 a_t。来源：S001 §2.1 PDF p.9，Eq.1 与 Agent–Environment Loop；wiki/foundations/Formalization.md。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 秒。依据综述 §2.4 的三个相邻概念组织。Long-Horizon 关注任务依赖所要求的 C1–C3 能力；Long-Running 关注执行时长与恢复，可运行很久但各步逻辑解耦。Autonomous 关注人工参与和控制程度，属于治理维度，不直接衡量任务能力；Long-Horizon Agent 可以保留 Approval Checkpoints。Self-Evolving 指经验驱动的持久系统改变，以改善未来表现，改变对象包括 Parameters、Memory、Tools、Topology，并不限于模型权重。H1 / H2 不以 Self-evolution 为必要条件，但并非所有 H1 / H2 系统都固定不变。H3 / C3 与 Self-evolution 高度重叠，综述把 Self-evolution 视为实现 C3 的一种机制，不能把它们画成互斥集合。四行描述不同维度，既不是四类互斥产品，也不是能力升级顺序。来源：S001 §2.4.1 p.13；§2.4.2 pp.13–14；§2.4.3 与 Fig.5 p.14；本节结语 p.15。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40 秒。六类机制是职责分类，不是每次运行必须依次执行的六个步骤。实际实现可能同时承担多个职责。后续讨论聚焦跨模块交接中的依据采用、约束覆盖和结果归属。来源：S001 §4 PDF p.20、Table 2 p.21；wiki/harness/Overview.md。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 秒。结构按 S001 §4 总览与 Table 2（PDF pp.20–21）重绘，并参考 wiki/harness/Overview.md。上层 Orchestration 超出单个 Agent Loop，负责任务分解、角色分配、路由和协调。Loops and Workflows 决定 Model Call、Action、Observation、检查与状态更新的控制顺序，可以采用 Linear、Plan-Execute 或 Branching，不是固定流水线。Context and Memory 管理本轮 Working Context 与跨窗口、任务、Session 的 Persistent Memory。Base Policy 提出 Action。Hooks and Middleware 在预定义执行点提供检查、修改、暂停、阻止或转交，图中只示意 Action 执行前的一个位置。Tools, MCP, and Skills 接入外部能力并复用过程。Environment 返回 Observation，供后续 Context 更新。Verification 可以评估 State、Action、Output 与 Side Effects，不只在末尾验收；虚线表示检查与控制反馈关系，不是必经执行步骤。其结果进入后续继续、修订或接受结果的控制。Hooks 与 Verification 职责可由同一函数共同实现，图中的分区不表示六个独立进程。此图为综述内容的教学归纳，非原论文系统架构图。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 秒。Working Context 与 Persistent Memory 按运行时用途区分。规则文件在磁盘上是持久记录，加载后也成为本轮 Context。Fig.8 中 Discard、Compress、Select 对应正文的 Context Discard、Context Compression、Context Selection，可组合使用。Factual Memory 与 Experiential Memory 是内容分类；文本、图或代码是表示形式。Memory Operations 包括 Write、Maintain、Retrieve。Memory Retrieval 不代表记录已被正确理解或适当使用。来源：S001 §4.2、Fig.8 PDF pp.23–26；wiki/harness/memory.md。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60–70 秒。本页按职责对比，不按互斥对象分类。Verification 不仅评价最终 Output，也可检查 State、Action 的 Safety 和中间推理质量；可形成判断、评分或诊断，用于搜索选择、修订和验收。Hooks 提供执行路径上的可编程介入位置，并把 Policy 或风险判断落实为 Allow / Block / Hand-off 等控制。必须区分调用与干预：到达预设 Lifecycle Point 时可调用 Hook；是否阻止、修改或转交取决于具体条件。Pre-defined Rule-based Hooks 和 Custom User-defined Hooks 的条件来源分别是框架规则与部署者 Policy；Runtime-adaptive Hooks 可从 Uncertainty、行为变化与威胁变化等 Runtime Signals 形成触发条件，不能把所有 Hooks 都说成固定规则。Verification 的调用由 Workflow / 检查策略组织，可在 Step-level 或 End-of-run 介入，不以已经发生违规为前提。Step-level 不等于一定在动作之后，Safety Verification 可以在执行之前进行。评价对象和时点都可能重叠；同一函数可同时形成判断并执行控制。表格是对 S001 职责的归纳，不要求分成两个独立模块。综述 §4.5.3 的部分不确定性方法仅输出风险信号，因此表中 Hooks 的控制职责是系统接口层面的概括，实际仍需检查判断是否接入执行机制。来源：S001 §4.5 pp.31–34；§4.6 p.34；§4.6.2–4.6.3 pp.36–37；wiki/harness/hooks.md 与 wiki/harness/verification.md。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简短讲稿（约 45–60 秒）：</a:t>
            </a:r>
          </a:p>
          <a:p>
            <a:r>
              <a:t>这一页关注的是，局部判断在共享后，会不会被当成确定事实。比如 Branch A 只是暂时把性能提升归因于 Memory，但写入 Memory 时，原来的假设被省略了。Branch B 再取回，就可能直接把它写成论文结论。长任务会反复复用这些记录，因此一次条件丢失可能影响后续多个判断。由此得到的思考是：共享记录除了保存结论，还应保留证据、成立条件，以及它是候选解释还是已确认事实。</a:t>
            </a:r>
          </a:p>
          <a:p>
            <a:endParaRPr/>
          </a:p>
          <a:p>
            <a:r>
              <a:t>补充说明与来源：</a:t>
            </a:r>
          </a:p>
          <a:p>
            <a:r>
              <a:t>约 75–90 秒。核心问题：一个 Branch 的候选解释经过 Memory 写入和检索后，会不会被另一执行者当成已确认事实？本页把讨论记录 C.1 的文献整理情境具体化：Branch A 在模型与预算一致的假设下，暂将性能提升解释为 Memory 的作用；压缩后的共享记录只保留“Memory 提升性能”；Branch B 写总结时省略了原假设，并把候选解释当作论文结论。该情境是为讲解构造的示意，不对应任何实际论文实验，模型与预算一致也不是完成因果归因的充分条件。讨论价值在于 Long-Horizon Tasks 的后续步骤会反复取回并使用记录，条件遗漏可能随多次复用传播。思考落点：记录不仅要保存结论，还要保存支持它的证据、成立条件和当前判断状态；取回时区分参考候选解释与采用已确认事实。及时共享可靠观察仍有价值，不主张所有 Branch 隔离或等全部结束再共享。来源：组会/2026-10-28-Harness/讨论记录.md C.1、E；S001 §4.1.3 p.22、§4.2.2 p.26、§4.4.4 pp.30–31。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简短讲稿（约 40–50 秒）：</a:t>
            </a:r>
          </a:p>
          <a:p>
            <a:r>
              <a:t>这一页关注的是，Verifier 可能在检查过程中补做任务。比如 Agent 只写出了草稿，没有保存；Verifier 检查时先保存，再确认文件存在。如果最后只记录“任务完成”，就容易把检查时补做的部分也算到原 Agent 身上。主动检查和修复本身有价值，但评价时应区分原执行的结果和介入后的结果，只记录会改变达标状态的动作。</a:t>
            </a:r>
          </a:p>
          <a:p>
            <a:endParaRPr/>
          </a:p>
          <a:p>
            <a:r>
              <a:t>补充说明与来源：本页来自讨论记录 C.3 的保存情境，是基于综述的拓展思考，不是论文报告的实验。S001 §4.6.2 PDF p.36 说明 Agentic Verifiers 能推理、调用 Tool，并主动探查 Environment。保存动作改变了“指定文件已保存”这一验收要求的达标状态，介入后的文件存在不能反推介入前已完成。若系统明确授权检查并修复，可以报告整体完成，但应保留补做贡献；无须禁止 Verifier 行动，也不必追踪不影响任务判定的焦点或访问记录变化。该情境只讨论保存要求，不证明文件内容正确或整项任务完成。来源：组会/2026-10-28-Harness/讨论记录.md C.3；S001 §4.6.2 p.36。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约60秒。承接Harness：外部运行机制帮助完成任务，Model Optimization讨论这些行为怎样进入参数或可训练模块。表格将本库三层关系中的能力形成拆成基础与适配两行，便于呈现；它不是作者提出的新分类。架构和数据/环境是支撑条件，Self-evolution是跨轮组织，不能把七节当作七种同层级算法。SFT、RL、OPD可配合，OPD强调在当前学生相关状态上提供监督，不能概括为RL仅有稀疏奖励、OPD指导总是正确。</a:t>
            </a:r>
          </a:p>
          <a:p>
            <a:r>
              <a:t>来源：raw/surveys/Towards Long-Horizon Agents.pdf，S001，§5总述p.37，Table5 p.38，Fig.11 p.39，§5.3–5.7 pp.43–55。PDF页码与本文印刷页码一致。SHA-256 C62DA7E66A4C3F7251ED8B450F51DF6500B2F850C7C70853779614E3D780E738。</a:t>
            </a:r>
          </a:p>
          <a:p>
            <a:r>
              <a:t>知识入口：wiki/optimization/Overview.md。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4012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约75秒。本图是本库教学示意，不是作者原图，不是一次任务执行中依次训练所有阶段。Architectural Substrate支撑长历史表示与计算。Data and Environment Synthesis提供任务、交互条件和训练经验；学习阶段用这些经验及相应信号更新策略。更新后的策略在Harness与Environment支持下执行，产生成功、失败和恢复轨迹。只有这些记录经选择和验证，再进入学习，才构成图示的参数学习循环。Self-evolution组织跨轮经验生产，也可调整任务/环境，图中回写路径是简化表达。记录Memory可改变后续输入，但不自动意味着参数更新；外部工具也不会因训练而消失。</a:t>
            </a:r>
          </a:p>
          <a:p>
            <a:r>
              <a:t>来源：S001 raw/surveys/Towards Long-Horizon Agents.pdf，§5 p.37、Fig.11 p.39、§5.6 pp.52–53、§5.7与Fig.13 pp.53–55。知识入口：wiki/optimization/Overview.md。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8960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约75秒。先用本表定位Agentic RL，再进入下一页的学习信号与训练状态讨论。综述把RL目标从单次回答扩展到多轮交互轨迹，利用自身交互反馈优化策略；这不要求所有方法都只用最新轨迹，也不要求此前必经SFT。</a:t>
            </a:r>
          </a:p>
          <a:p>
            <a:r>
              <a:t>Credit Assignment关心如何把结果与过程反馈对应到决策。Outcome/Process区分评价对象，Rubric表达显式标准，三者可交叉，并非三个互斥奖励算法。终局反馈也可训练早期动作，不预设每步都必须有奖励。Policy Optimization把信用信号转成参数更新，综述讨论Clipping-based、Turn-level、Entropy-based，对应稳定性、优化粒度和探索。Sampling Strategy决定实际生成/保留哪些经验，包括Trajectory-level Rollout、Tree-structured Sampling、Budget-aware and Pruning。Interaction Patterns组织可优化的决策，包含Hierarchical、Multi-agent及Memory-state Learning；运行时写Memory本身不等于更新参数。</a:t>
            </a:r>
          </a:p>
          <a:p>
            <a:r>
              <a:t>四行是可组合设计维度，不是固定顺序或四种互斥算法。用共享前缀或局部比较取得信号，不自动提供单个动作的因果贡献。下一页因此分别追问局部信用的作用和错误状态是否最终进入更新。</a:t>
            </a:r>
          </a:p>
          <a:p>
            <a:r>
              <a:t>原始来源：raw/surveys/Towards Long-Horizon Agents.pdf，S001 §5.5与Fig.12 p.47；§5.5.1 pp.48–50；§5.5.2 p.50；§5.5.3 pp.50–51；§5.5.4 pp.51–52。页码从PDF第一页计。知识入口：wiki/optimization/reinforcement-learning.md。表格为综述框架的压缩表达，不代表逐项核验其全部引用或复现实验。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1830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讲述方案</a:t>
            </a:r>
          </a:p>
          <a:p>
            <a:endParaRPr lang="zh-CN" altLang="en-US"/>
          </a:p>
          <a:p>
            <a:r>
              <a:rPr lang="zh-CN" altLang="en-US"/>
              <a:t>上一页概括了 </a:t>
            </a:r>
            <a:r>
              <a:rPr lang="en-US" altLang="zh-CN"/>
              <a:t>Agentic RL </a:t>
            </a:r>
            <a:r>
              <a:rPr lang="zh-CN" altLang="en-US"/>
              <a:t>怎样采样、分配信用并更新策略。这一页进一步看，训练后分数提高，究竟说明学到了什么。
可以用代码修复来理解。第一，在同样的接口和预算下，修复成功率更高，说明当前配置下更可靠。第二，还要区分是更少犯错，还是犯错以后更会恢复。比如更少改错文件，与改错后能发现、撤回并继续修复，是两种不同的改善，最终成功率本身不能把它们分开。第三，是换条件以后还剩多少能力：换一道题、换一个工具接口，或者缩短交互预算，检验的并不是同一种迁移。
所以这页想保留的判断是，当前成功、错误后的恢复和跨条件迁移需要分别举证。讨论点是：什么证据足以支持“训练学到了可迁移的策略”，而不只是在当前配置下做得更好？</a:t>
            </a:r>
          </a:p>
          <a:p>
            <a:endParaRPr lang="zh-CN" altLang="en-US"/>
          </a:p>
          <a:p>
            <a:r>
              <a:rPr lang="zh-CN" altLang="en-US"/>
              <a:t>原讲解与证据定位</a:t>
            </a:r>
          </a:p>
          <a:p>
            <a:r>
              <a:rPr lang="zh-CN" altLang="en-US"/>
              <a:t>约</a:t>
            </a:r>
            <a:r>
              <a:rPr lang="en-US" altLang="zh-CN"/>
              <a:t>75</a:t>
            </a:r>
            <a:r>
              <a:rPr lang="zh-CN" altLang="en-US"/>
              <a:t>秒。三层是讨论维度，不是能力等级定义，也不是已设计或已运行的实验。当前成功率、错误后的恢复、改变条件后的迁移回答不同问题。训练学会使用当前工具可以是一种能力内化，无需把工具全部移除；但要声称能力更通用，需要改变条件后的证据。外部流程负担是否减少，也应单独计量。可以进一步讨论：若成功率提高同时消耗更多交互，研究收益究竟体现在哪里？最终完成率、成本、覆盖、恢复和迁移应按问题选择，而不只看一个总分。</a:t>
            </a:r>
          </a:p>
          <a:p>
            <a:r>
              <a:rPr lang="zh-CN" altLang="en-US"/>
              <a:t>来源：</a:t>
            </a:r>
            <a:r>
              <a:rPr lang="en-US" altLang="zh-CN"/>
              <a:t>raw/surveys/Towards Long-Horizon Agents.pdf</a:t>
            </a:r>
            <a:r>
              <a:rPr lang="zh-CN" altLang="en-US"/>
              <a:t>，</a:t>
            </a:r>
            <a:r>
              <a:rPr lang="en-US" altLang="zh-CN"/>
              <a:t>§5.2 pp.40–43</a:t>
            </a:r>
            <a:r>
              <a:rPr lang="zh-CN" altLang="en-US"/>
              <a:t>，</a:t>
            </a:r>
            <a:r>
              <a:rPr lang="en-US" altLang="zh-CN"/>
              <a:t>§5.5–5.7 pp.47–55</a:t>
            </a:r>
            <a:r>
              <a:rPr lang="zh-CN" altLang="en-US"/>
              <a:t>，</a:t>
            </a:r>
            <a:r>
              <a:rPr lang="en-US" altLang="zh-CN"/>
              <a:t>§6.6 pp.64–65</a:t>
            </a:r>
            <a:r>
              <a:rPr lang="zh-CN" altLang="en-US"/>
              <a:t>。结合上一页原文机制形成归纳，未将这些判断表述为综述统一实验结论。知识入口：</a:t>
            </a:r>
            <a:r>
              <a:rPr lang="en-US" altLang="zh-CN"/>
              <a:t>wiki/optimization/Questions.md</a:t>
            </a:r>
            <a:r>
              <a:rPr lang="zh-CN" altLang="en-US"/>
              <a:t>、</a:t>
            </a:r>
            <a:r>
              <a:rPr lang="en-US" altLang="zh-CN"/>
              <a:t>wiki/optimization/Overview.md</a:t>
            </a:r>
            <a:r>
              <a:rPr lang="zh-CN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1303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约60秒。综述第6节按Agent与Environment的接口组织，而非按整体难度。Software Engineering常有可执行反馈，但测试通过不保证覆盖真实需求。Information Seeking获得的是证据，通常没有直接执行判定器。Computer Use状态部分可见。Multimodal信息跨时间与模态分散。General-purpose可在单个工作流组合多个接口，不是和其他四类完全互斥。此页覆盖综述五类全景，后面的原论文例子仅限本次定向核读范围，不能以长视频案例代表全部Multimodal，以跨应用数字任务代表所有General-purpose任务。</a:t>
            </a:r>
          </a:p>
          <a:p>
            <a:r>
              <a:t>来源：raw/surveys/Towards Long-Horizon Agents.pdf，§6 pp.55–56，Fig.14 p.57，§6.1–6.5 pp.56–64。知识入口：wiki/applications/Overview.md。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8716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75秒。本图是跨应用教学归纳，表达运行和结果归因，不是作者原图或组件贡献比例。模型根据当前输入做判断并提出动作；Harness管理输入、接口与执行；Environment接受操作并返回观察/反馈。持久产物和运行记录帮助后续决策，但是否正确仍需检查。图中终态评测从任务要求和实际结果取证，与运行中可得到的反馈区别开来；例如隐藏测试或benchmark的终态评分脚本不一定提供给Agent。不同系统可把某些决策放在固定规则中，模型并非唯一控制者。横向框代表职责，不规定必须有三个物理独立软件模块。</a:t>
            </a:r>
          </a:p>
          <a:p>
            <a:r>
              <a:t>来源：raw/surveys/Towards Long-Horizon Agents.pdf，§6 pp.55–56、Fig.14 p.57、§6.6 pp.64–65。知识入口：wiki/applications/Overview.md、wiki/applications/success-mechanisms.md。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9002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F9E3B7B-8101-4530-A1E8-BC44710C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3BCF2E5-F78D-4049-99DD-C58915638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6744BAC-ECF3-46B6-8CF1-D77DBFBA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06D55E5-8CA7-4BCC-ADAC-229A1F3C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4DC87E-DA8C-410B-85F3-FBEEBD142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D13817D-4595-46C4-A8F1-3E17E9F0F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D7744CB-3821-42B2-8796-D7A7269AF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F4BE97E-0344-4B8A-A23E-EE424CA5713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2665BC3-12B1-4BAA-A252-C3C1953E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B45E26B-7D8F-4FF7-B649-FC90BC25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0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第一次组会 · 综述阅读与讨论">
            <a:extLst>
              <a:ext uri="{FF2B5EF4-FFF2-40B4-BE49-F238E27FC236}">
                <a16:creationId xmlns:a16="http://schemas.microsoft.com/office/drawing/2014/main" id="{5E950632-F60D-4D69-AB51-6C3ED95BCE76}"/>
              </a:ext>
            </a:extLst>
          </p:cNvPr>
          <p:cNvSpPr>
            <a:spLocks noGrp="1"/>
          </p:cNvSpPr>
          <p:nvPr/>
        </p:nvSpPr>
        <p:spPr>
          <a:xfrm>
            <a:off x="762000" y="62865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D1C2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D1C2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D1C2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D1C2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D1C2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D1C2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D1C2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D1C2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D1C2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D1C2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 b="0">
                <a:solidFill>
                  <a:srgbClr val="D1C2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1C2F0"/>
                </a:solidFill>
                <a:latin typeface="Microsoft YaHei"/>
                <a:ea typeface="Microsoft YaHei"/>
                <a:cs typeface="Microsoft YaHei"/>
              </a:rPr>
              <a:t>第一次组会 · 综述阅读与讨论</a:t>
            </a:r>
          </a:p>
        </p:txBody>
      </p:sp>
      <p:sp>
        <p:nvSpPr>
          <p:cNvPr id="2" name="Long-Horizon&#10;Agents">
            <a:extLst>
              <a:ext uri="{FF2B5EF4-FFF2-40B4-BE49-F238E27FC236}">
                <a16:creationId xmlns:a16="http://schemas.microsoft.com/office/drawing/2014/main" id="{979440D8-115C-4A43-BD28-A2C91B774507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10382250" cy="2238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Long-Horizon</a:t>
            </a:r>
          </a:p>
          <a:p>
            <a: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Agents</a:t>
            </a:r>
          </a:p>
        </p:txBody>
      </p:sp>
      <p:sp>
        <p:nvSpPr>
          <p:cNvPr id="3" name="Foundation 与 Harness">
            <a:extLst>
              <a:ext uri="{FF2B5EF4-FFF2-40B4-BE49-F238E27FC236}">
                <a16:creationId xmlns:a16="http://schemas.microsoft.com/office/drawing/2014/main" id="{268052BC-4ED0-4904-B7D2-06CF54C80113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0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6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rPr>
              <a:t>Foundation、Harness、</a:t>
            </a:r>
          </a:p>
          <a:p>
            <a:pPr>
              <a:defRPr sz="30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600" b="1">
                <a:solidFill>
                  <a:srgbClr val="D1B7FF"/>
                </a:solidFill>
                <a:latin typeface="Microsoft YaHei"/>
                <a:ea typeface="Microsoft YaHei"/>
                <a:cs typeface="Microsoft YaHei"/>
              </a:rPr>
              <a:t>Model Optimization 与 Application</a:t>
            </a:r>
            <a:endParaRPr sz="2600" b="1">
              <a:solidFill>
                <a:srgbClr val="D1B7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Long-Horizon Tasks 的决策依赖与运行机制">
            <a:extLst>
              <a:ext uri="{FF2B5EF4-FFF2-40B4-BE49-F238E27FC236}">
                <a16:creationId xmlns:a16="http://schemas.microsoft.com/office/drawing/2014/main" id="{327FA7C3-9596-45F5-AFDA-EEB4E22FCA4A}"/>
              </a:ext>
            </a:extLst>
          </p:cNvPr>
          <p:cNvSpPr>
            <a:spLocks noGrp="1"/>
          </p:cNvSpPr>
          <p:nvPr/>
        </p:nvSpPr>
        <p:spPr>
          <a:xfrm>
            <a:off x="800100" y="5308600"/>
            <a:ext cx="10001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EBE5F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EBE5F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EBE5F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EBE5F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EBE5F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EBE5F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EBE5F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EBE5F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EBE5F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EBE5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0">
                <a:solidFill>
                  <a:srgbClr val="EBE5F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100" b="0">
                <a:solidFill>
                  <a:srgbClr val="EBE5F8"/>
                </a:solidFill>
                <a:latin typeface="Microsoft YaHei"/>
                <a:ea typeface="Microsoft YaHei"/>
                <a:cs typeface="Microsoft YaHei"/>
              </a:rPr>
              <a:t>Long-Horizon Agents </a:t>
            </a:r>
            <a:r>
              <a:rPr lang="zh-CN" altLang="en-US" sz="2100" b="0">
                <a:solidFill>
                  <a:srgbClr val="EBE5F8"/>
                </a:solidFill>
                <a:latin typeface="Microsoft YaHei"/>
                <a:ea typeface="Microsoft YaHei"/>
                <a:cs typeface="Microsoft YaHei"/>
              </a:rPr>
              <a:t>的运行机制、能力内化与应用</a:t>
            </a:r>
            <a:endParaRPr sz="2100" b="0">
              <a:solidFill>
                <a:srgbClr val="EBE5F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基于 Towards Long-Horizon Agents: A Su">
            <a:extLst>
              <a:ext uri="{FF2B5EF4-FFF2-40B4-BE49-F238E27FC236}">
                <a16:creationId xmlns:a16="http://schemas.microsoft.com/office/drawing/2014/main" id="{E82E8708-F6AA-444E-BF86-DB3FCAB0DB95}"/>
              </a:ext>
            </a:extLst>
          </p:cNvPr>
          <p:cNvSpPr>
            <a:spLocks noGrp="1"/>
          </p:cNvSpPr>
          <p:nvPr/>
        </p:nvSpPr>
        <p:spPr>
          <a:xfrm>
            <a:off x="800100" y="6086475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BFB4D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BFB4D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BFB4D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BFB4D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BFB4D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BFB4D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BFB4D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BFB4D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BFB4D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BFB4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BFB4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FB4D7"/>
                </a:solidFill>
                <a:latin typeface="Microsoft YaHei"/>
                <a:ea typeface="Microsoft YaHei"/>
                <a:cs typeface="Microsoft YaHei"/>
              </a:rPr>
              <a:t>基于 Towards Long-Horizon Agents: A Survey（S001）</a:t>
            </a:r>
          </a:p>
        </p:txBody>
      </p:sp>
    </p:spTree>
    <p:extLst>
      <p:ext uri="{BB962C8B-B14F-4D97-AF65-F5344CB8AC3E}">
        <p14:creationId xmlns:p14="http://schemas.microsoft.com/office/powerpoint/2010/main" val="932454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1  Foundation · 概念">
            <a:extLst>
              <a:ext uri="{FF2B5EF4-FFF2-40B4-BE49-F238E27FC236}">
                <a16:creationId xmlns:a16="http://schemas.microsoft.com/office/drawing/2014/main" id="{48EE118A-F006-4C25-9792-0601AD030D28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01  Foundation · 概念</a:t>
            </a:r>
          </a:p>
        </p:txBody>
      </p:sp>
      <p:sp>
        <p:nvSpPr>
          <p:cNvPr id="2" name="Long-Horizon Tasks 具有持续的决策依赖">
            <a:extLst>
              <a:ext uri="{FF2B5EF4-FFF2-40B4-BE49-F238E27FC236}">
                <a16:creationId xmlns:a16="http://schemas.microsoft.com/office/drawing/2014/main" id="{210F11A5-1921-4E1C-BB78-5B35D7B4213F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Long-Horizon Tasks 具有持续的决策依赖</a:t>
            </a:r>
          </a:p>
        </p:txBody>
      </p:sp>
      <p:sp>
        <p:nvSpPr>
          <p:cNvPr id="3" name="前序决策影响后续行动，环境反馈可能要求修订计划。">
            <a:extLst>
              <a:ext uri="{FF2B5EF4-FFF2-40B4-BE49-F238E27FC236}">
                <a16:creationId xmlns:a16="http://schemas.microsoft.com/office/drawing/2014/main" id="{B02B701B-DC93-4A72-B2A7-DE12CEDA523F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前序决策影响后续行动，环境反馈可能要求修订计划。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C0C8317-DC95-4257-A965-D3EFE3C058C2}"/>
              </a:ext>
            </a:extLst>
          </p:cNvPr>
          <p:cNvGraphicFramePr/>
          <p:nvPr/>
        </p:nvGraphicFramePr>
        <p:xfrm>
          <a:off x="762000" y="2095500"/>
          <a:ext cx="10668000" cy="30480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 Level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新增要求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Capability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4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 Intra-Context Tasks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 Context 内持续交互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  Intra-Context</a:t>
                      </a:r>
                    </a:p>
                    <a:p>
                      <a:r>
                        <a:rPr sz="1800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Interactive Reasoning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4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H2  Cross-Context Tasks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 Context / Session</a:t>
                      </a:r>
                    </a:p>
                    <a:p>
                      <a:r>
                        <a:rPr sz="1800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保存约束与进度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  Cross-Context</a:t>
                      </a:r>
                    </a:p>
                    <a:p>
                      <a:r>
                        <a:rPr sz="1800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and Memory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4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H3  Cross-Task Streams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后续任务利用已有经验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C3  Cross-Task</a:t>
                      </a:r>
                    </a:p>
                    <a:p>
                      <a:r>
                        <a:rPr sz="1800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Experience Accumulation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独立批处理主要增加工作量；诊断、修改与测试则形成相互依赖的决策。">
            <a:extLst>
              <a:ext uri="{FF2B5EF4-FFF2-40B4-BE49-F238E27FC236}">
                <a16:creationId xmlns:a16="http://schemas.microsoft.com/office/drawing/2014/main" id="{372BCFB1-BAA8-4347-9A31-22FA3007C513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独立批处理主要增加工作量；诊断、修改与测试则形成相互依赖的决策。</a:t>
            </a:r>
          </a:p>
        </p:txBody>
      </p:sp>
      <p:sp>
        <p:nvSpPr>
          <p:cNvPr id="6" name="综述框架：S001 §2.1–2.2，PDF pp.7、9–11；批处理">
            <a:extLst>
              <a:ext uri="{FF2B5EF4-FFF2-40B4-BE49-F238E27FC236}">
                <a16:creationId xmlns:a16="http://schemas.microsoft.com/office/drawing/2014/main" id="{9983F270-B6CC-4C98-8D82-F94320343C32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综述框架：S001 §2.1–2.2，PDF pp.7、9–11；批处理辨析：§2.4.1，p.13</a:t>
            </a: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3695819B-CA7C-4139-A644-F5299A868862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50500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01  Foundation · 概念">
            <a:extLst>
              <a:ext uri="{FF2B5EF4-FFF2-40B4-BE49-F238E27FC236}">
                <a16:creationId xmlns:a16="http://schemas.microsoft.com/office/drawing/2014/main" id="{ED6E9BCE-6C61-4240-8B5B-ACF6E9F44616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01  Foundation · 概念</a:t>
            </a:r>
          </a:p>
        </p:txBody>
      </p:sp>
      <p:sp>
        <p:nvSpPr>
          <p:cNvPr id="2" name="Agent–Environment Loop">
            <a:extLst>
              <a:ext uri="{FF2B5EF4-FFF2-40B4-BE49-F238E27FC236}">
                <a16:creationId xmlns:a16="http://schemas.microsoft.com/office/drawing/2014/main" id="{4F4E5CEB-7BE8-470F-A10C-598A1EDF576E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Agent–Environment Loop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D7FAAF-A3DF-4E0B-93F5-3DFE1CF97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7363" y="1476375"/>
            <a:ext cx="2342024" cy="409575"/>
          </a:xfrm>
          <a:prstGeom prst="rect">
            <a:avLst/>
          </a:prstGeom>
        </p:spPr>
      </p:pic>
      <p:sp>
        <p:nvSpPr>
          <p:cNvPr id="4" name="Environment sₜ">
            <a:extLst>
              <a:ext uri="{FF2B5EF4-FFF2-40B4-BE49-F238E27FC236}">
                <a16:creationId xmlns:a16="http://schemas.microsoft.com/office/drawing/2014/main" id="{614B2717-0D30-4B79-AF89-A792406712C0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190500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BCAED1"/>
            </a:solidFill>
          </a:ln>
        </p:spPr>
      </p:sp>
      <p:sp>
        <p:nvSpPr>
          <p:cNvPr id="5" name="Environment">
            <a:extLst>
              <a:ext uri="{FF2B5EF4-FFF2-40B4-BE49-F238E27FC236}">
                <a16:creationId xmlns:a16="http://schemas.microsoft.com/office/drawing/2014/main" id="{4CF0CA87-983F-47A1-B66F-FD2EFCFAABFD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6" name="sₜ">
            <a:extLst>
              <a:ext uri="{FF2B5EF4-FFF2-40B4-BE49-F238E27FC236}">
                <a16:creationId xmlns:a16="http://schemas.microsoft.com/office/drawing/2014/main" id="{8C3EF15F-B665-43D7-83B9-87C99BE68144}"/>
              </a:ext>
            </a:extLst>
          </p:cNvPr>
          <p:cNvSpPr>
            <a:spLocks noGrp="1"/>
          </p:cNvSpPr>
          <p:nvPr/>
        </p:nvSpPr>
        <p:spPr>
          <a:xfrm>
            <a:off x="81915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sₜ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F6C8342-455A-4F0F-AEAE-BE067273A575}"/>
              </a:ext>
            </a:extLst>
          </p:cNvPr>
          <p:cNvCxnSpPr/>
          <p:nvPr/>
        </p:nvCxnSpPr>
        <p:spPr>
          <a:xfrm>
            <a:off x="2667000" y="3219450"/>
            <a:ext cx="285750" cy="0"/>
          </a:xfrm>
          <a:prstGeom prst="straightConnector1">
            <a:avLst/>
          </a:prstGeom>
          <a:ln w="19050">
            <a:solidFill>
              <a:srgbClr val="6638A5"/>
            </a:solidFill>
            <a:tailEnd type="triangle" w="med" len="med"/>
          </a:ln>
        </p:spPr>
      </p:cxnSp>
      <p:sp>
        <p:nvSpPr>
          <p:cNvPr id="8" name="Observation oₜ">
            <a:extLst>
              <a:ext uri="{FF2B5EF4-FFF2-40B4-BE49-F238E27FC236}">
                <a16:creationId xmlns:a16="http://schemas.microsoft.com/office/drawing/2014/main" id="{246C723B-3E04-48C7-81E7-6D4AA36300FA}"/>
              </a:ext>
            </a:extLst>
          </p:cNvPr>
          <p:cNvSpPr>
            <a:spLocks noGrp="1"/>
          </p:cNvSpPr>
          <p:nvPr/>
        </p:nvSpPr>
        <p:spPr>
          <a:xfrm>
            <a:off x="2952750" y="2762250"/>
            <a:ext cx="190500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BCAED1"/>
            </a:solidFill>
          </a:ln>
        </p:spPr>
      </p:sp>
      <p:sp>
        <p:nvSpPr>
          <p:cNvPr id="9" name="Observation">
            <a:extLst>
              <a:ext uri="{FF2B5EF4-FFF2-40B4-BE49-F238E27FC236}">
                <a16:creationId xmlns:a16="http://schemas.microsoft.com/office/drawing/2014/main" id="{C84529C5-F3F0-4AFA-BB2F-BF67763744EA}"/>
              </a:ext>
            </a:extLst>
          </p:cNvPr>
          <p:cNvSpPr>
            <a:spLocks noGrp="1"/>
          </p:cNvSpPr>
          <p:nvPr/>
        </p:nvSpPr>
        <p:spPr>
          <a:xfrm>
            <a:off x="300990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Observation</a:t>
            </a:r>
          </a:p>
        </p:txBody>
      </p:sp>
      <p:sp>
        <p:nvSpPr>
          <p:cNvPr id="10" name="oₜ">
            <a:extLst>
              <a:ext uri="{FF2B5EF4-FFF2-40B4-BE49-F238E27FC236}">
                <a16:creationId xmlns:a16="http://schemas.microsoft.com/office/drawing/2014/main" id="{4CF3729F-D21D-4E77-8DE5-FDFC71284CD5}"/>
              </a:ext>
            </a:extLst>
          </p:cNvPr>
          <p:cNvSpPr>
            <a:spLocks noGrp="1"/>
          </p:cNvSpPr>
          <p:nvPr/>
        </p:nvSpPr>
        <p:spPr>
          <a:xfrm>
            <a:off x="300990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oₜ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B634165-9549-4DB1-A0D7-4078335E1DE8}"/>
              </a:ext>
            </a:extLst>
          </p:cNvPr>
          <p:cNvCxnSpPr/>
          <p:nvPr/>
        </p:nvCxnSpPr>
        <p:spPr>
          <a:xfrm>
            <a:off x="4857750" y="3219450"/>
            <a:ext cx="285750" cy="0"/>
          </a:xfrm>
          <a:prstGeom prst="straightConnector1">
            <a:avLst/>
          </a:prstGeom>
          <a:ln w="19050">
            <a:solidFill>
              <a:srgbClr val="6638A5"/>
            </a:solidFill>
            <a:tailEnd type="triangle" w="med" len="med"/>
          </a:ln>
        </p:spPr>
      </p:cxnSp>
      <p:sp>
        <p:nvSpPr>
          <p:cNvPr id="12" name="Harness cₜ">
            <a:extLst>
              <a:ext uri="{FF2B5EF4-FFF2-40B4-BE49-F238E27FC236}">
                <a16:creationId xmlns:a16="http://schemas.microsoft.com/office/drawing/2014/main" id="{0C2148AA-1913-4E63-B292-6084AEAC3657}"/>
              </a:ext>
            </a:extLst>
          </p:cNvPr>
          <p:cNvSpPr>
            <a:spLocks noGrp="1"/>
          </p:cNvSpPr>
          <p:nvPr/>
        </p:nvSpPr>
        <p:spPr>
          <a:xfrm>
            <a:off x="5143500" y="2762250"/>
            <a:ext cx="1905000" cy="914400"/>
          </a:xfrm>
          <a:prstGeom prst="rect">
            <a:avLst/>
          </a:prstGeom>
          <a:solidFill>
            <a:srgbClr val="E2DAF1"/>
          </a:solidFill>
          <a:ln w="14288">
            <a:solidFill>
              <a:srgbClr val="6638A5"/>
            </a:solidFill>
          </a:ln>
        </p:spPr>
      </p:sp>
      <p:sp>
        <p:nvSpPr>
          <p:cNvPr id="13" name="Harness">
            <a:extLst>
              <a:ext uri="{FF2B5EF4-FFF2-40B4-BE49-F238E27FC236}">
                <a16:creationId xmlns:a16="http://schemas.microsoft.com/office/drawing/2014/main" id="{5722BC1A-3FCC-454F-93B7-578C574BADB4}"/>
              </a:ext>
            </a:extLst>
          </p:cNvPr>
          <p:cNvSpPr>
            <a:spLocks noGrp="1"/>
          </p:cNvSpPr>
          <p:nvPr/>
        </p:nvSpPr>
        <p:spPr>
          <a:xfrm>
            <a:off x="520065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14" name="cₜ">
            <a:extLst>
              <a:ext uri="{FF2B5EF4-FFF2-40B4-BE49-F238E27FC236}">
                <a16:creationId xmlns:a16="http://schemas.microsoft.com/office/drawing/2014/main" id="{394C5A90-BF72-4BFD-8AE2-E6B18CEAD78A}"/>
              </a:ext>
            </a:extLst>
          </p:cNvPr>
          <p:cNvSpPr>
            <a:spLocks noGrp="1"/>
          </p:cNvSpPr>
          <p:nvPr/>
        </p:nvSpPr>
        <p:spPr>
          <a:xfrm>
            <a:off x="520065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cₜ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19D4DAD-6C17-4F19-B73F-E42293443464}"/>
              </a:ext>
            </a:extLst>
          </p:cNvPr>
          <p:cNvCxnSpPr/>
          <p:nvPr/>
        </p:nvCxnSpPr>
        <p:spPr>
          <a:xfrm>
            <a:off x="7048500" y="3219450"/>
            <a:ext cx="285750" cy="0"/>
          </a:xfrm>
          <a:prstGeom prst="straightConnector1">
            <a:avLst/>
          </a:prstGeom>
          <a:ln w="19050">
            <a:solidFill>
              <a:srgbClr val="6638A5"/>
            </a:solidFill>
            <a:tailEnd type="triangle" w="med" len="med"/>
          </a:ln>
        </p:spPr>
      </p:cxnSp>
      <p:sp>
        <p:nvSpPr>
          <p:cNvPr id="16" name="Base Policy aₜ">
            <a:extLst>
              <a:ext uri="{FF2B5EF4-FFF2-40B4-BE49-F238E27FC236}">
                <a16:creationId xmlns:a16="http://schemas.microsoft.com/office/drawing/2014/main" id="{FC5143F0-3856-4252-9560-AA659F303FDC}"/>
              </a:ext>
            </a:extLst>
          </p:cNvPr>
          <p:cNvSpPr>
            <a:spLocks noGrp="1"/>
          </p:cNvSpPr>
          <p:nvPr/>
        </p:nvSpPr>
        <p:spPr>
          <a:xfrm>
            <a:off x="7334250" y="2762250"/>
            <a:ext cx="190500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BCAED1"/>
            </a:solidFill>
          </a:ln>
        </p:spPr>
      </p:sp>
      <p:sp>
        <p:nvSpPr>
          <p:cNvPr id="17" name="Base Policy">
            <a:extLst>
              <a:ext uri="{FF2B5EF4-FFF2-40B4-BE49-F238E27FC236}">
                <a16:creationId xmlns:a16="http://schemas.microsoft.com/office/drawing/2014/main" id="{AB0796C4-1B9B-4641-8C6D-53EFE3B3A414}"/>
              </a:ext>
            </a:extLst>
          </p:cNvPr>
          <p:cNvSpPr>
            <a:spLocks noGrp="1"/>
          </p:cNvSpPr>
          <p:nvPr/>
        </p:nvSpPr>
        <p:spPr>
          <a:xfrm>
            <a:off x="739140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Base Policy</a:t>
            </a:r>
          </a:p>
        </p:txBody>
      </p:sp>
      <p:sp>
        <p:nvSpPr>
          <p:cNvPr id="18" name="aₜ">
            <a:extLst>
              <a:ext uri="{FF2B5EF4-FFF2-40B4-BE49-F238E27FC236}">
                <a16:creationId xmlns:a16="http://schemas.microsoft.com/office/drawing/2014/main" id="{414C1459-1AB4-4B83-AF7F-9BA4E545BCE0}"/>
              </a:ext>
            </a:extLst>
          </p:cNvPr>
          <p:cNvSpPr>
            <a:spLocks noGrp="1"/>
          </p:cNvSpPr>
          <p:nvPr/>
        </p:nvSpPr>
        <p:spPr>
          <a:xfrm>
            <a:off x="739140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aₜ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99874D3-E574-466F-B26D-AFFCB2BEFD12}"/>
              </a:ext>
            </a:extLst>
          </p:cNvPr>
          <p:cNvCxnSpPr/>
          <p:nvPr/>
        </p:nvCxnSpPr>
        <p:spPr>
          <a:xfrm>
            <a:off x="9239250" y="3219450"/>
            <a:ext cx="285750" cy="0"/>
          </a:xfrm>
          <a:prstGeom prst="straightConnector1">
            <a:avLst/>
          </a:prstGeom>
          <a:ln w="19050">
            <a:solidFill>
              <a:srgbClr val="6638A5"/>
            </a:solidFill>
            <a:tailEnd type="triangle" w="med" len="med"/>
          </a:ln>
        </p:spPr>
      </p:cxnSp>
      <p:sp>
        <p:nvSpPr>
          <p:cNvPr id="20" name="Environment sₜ₊₁">
            <a:extLst>
              <a:ext uri="{FF2B5EF4-FFF2-40B4-BE49-F238E27FC236}">
                <a16:creationId xmlns:a16="http://schemas.microsoft.com/office/drawing/2014/main" id="{D012BDC0-044D-4056-BE69-AD50DFFC30C9}"/>
              </a:ext>
            </a:extLst>
          </p:cNvPr>
          <p:cNvSpPr>
            <a:spLocks noGrp="1"/>
          </p:cNvSpPr>
          <p:nvPr/>
        </p:nvSpPr>
        <p:spPr>
          <a:xfrm>
            <a:off x="9525000" y="2762250"/>
            <a:ext cx="190500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BCAED1"/>
            </a:solidFill>
          </a:ln>
        </p:spPr>
      </p:sp>
      <p:sp>
        <p:nvSpPr>
          <p:cNvPr id="21" name="Environment">
            <a:extLst>
              <a:ext uri="{FF2B5EF4-FFF2-40B4-BE49-F238E27FC236}">
                <a16:creationId xmlns:a16="http://schemas.microsoft.com/office/drawing/2014/main" id="{2FA646B5-78ED-41CF-97E3-84DE714D1D21}"/>
              </a:ext>
            </a:extLst>
          </p:cNvPr>
          <p:cNvSpPr>
            <a:spLocks noGrp="1"/>
          </p:cNvSpPr>
          <p:nvPr/>
        </p:nvSpPr>
        <p:spPr>
          <a:xfrm>
            <a:off x="958215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22" name="sₜ₊₁">
            <a:extLst>
              <a:ext uri="{FF2B5EF4-FFF2-40B4-BE49-F238E27FC236}">
                <a16:creationId xmlns:a16="http://schemas.microsoft.com/office/drawing/2014/main" id="{977E69DA-6251-4A11-AF64-B5F18ED942B1}"/>
              </a:ext>
            </a:extLst>
          </p:cNvPr>
          <p:cNvSpPr>
            <a:spLocks noGrp="1"/>
          </p:cNvSpPr>
          <p:nvPr/>
        </p:nvSpPr>
        <p:spPr>
          <a:xfrm>
            <a:off x="958215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sₜ₊₁</a:t>
            </a:r>
          </a:p>
        </p:txBody>
      </p:sp>
      <p:sp>
        <p:nvSpPr>
          <p:cNvPr id="23" name="Task Specification Q + History">
            <a:extLst>
              <a:ext uri="{FF2B5EF4-FFF2-40B4-BE49-F238E27FC236}">
                <a16:creationId xmlns:a16="http://schemas.microsoft.com/office/drawing/2014/main" id="{5CACEDC9-A7FA-4D34-AA1A-32BC79D4AF02}"/>
              </a:ext>
            </a:extLst>
          </p:cNvPr>
          <p:cNvSpPr>
            <a:spLocks noGrp="1"/>
          </p:cNvSpPr>
          <p:nvPr/>
        </p:nvSpPr>
        <p:spPr>
          <a:xfrm>
            <a:off x="4333875" y="20669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Task Specification Q + History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AFEC5A0-2BA1-4A4D-BF50-864977CC2538}"/>
              </a:ext>
            </a:extLst>
          </p:cNvPr>
          <p:cNvCxnSpPr/>
          <p:nvPr/>
        </p:nvCxnSpPr>
        <p:spPr>
          <a:xfrm>
            <a:off x="6096000" y="2400300"/>
            <a:ext cx="0" cy="361950"/>
          </a:xfrm>
          <a:prstGeom prst="straightConnector1">
            <a:avLst/>
          </a:prstGeom>
          <a:ln w="19050">
            <a:solidFill>
              <a:srgbClr val="6638A5"/>
            </a:solidFill>
            <a:tailEnd type="triangle" w="med" len="med"/>
          </a:ln>
        </p:spPr>
      </p:cxnSp>
      <p:sp>
        <p:nvSpPr>
          <p:cNvPr id="25" name="Context">
            <a:extLst>
              <a:ext uri="{FF2B5EF4-FFF2-40B4-BE49-F238E27FC236}">
                <a16:creationId xmlns:a16="http://schemas.microsoft.com/office/drawing/2014/main" id="{475AC000-1B57-47FC-8AED-1F0726384B6B}"/>
              </a:ext>
            </a:extLst>
          </p:cNvPr>
          <p:cNvSpPr>
            <a:spLocks noGrp="1"/>
          </p:cNvSpPr>
          <p:nvPr/>
        </p:nvSpPr>
        <p:spPr>
          <a:xfrm>
            <a:off x="5353050" y="3743325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26" name="Action">
            <a:extLst>
              <a:ext uri="{FF2B5EF4-FFF2-40B4-BE49-F238E27FC236}">
                <a16:creationId xmlns:a16="http://schemas.microsoft.com/office/drawing/2014/main" id="{7C837111-4586-44E7-A8E8-EFFC5C3ACEDA}"/>
              </a:ext>
            </a:extLst>
          </p:cNvPr>
          <p:cNvSpPr>
            <a:spLocks noGrp="1"/>
          </p:cNvSpPr>
          <p:nvPr/>
        </p:nvSpPr>
        <p:spPr>
          <a:xfrm>
            <a:off x="7543800" y="3743325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27" name="Harness: Validation &amp; Execution">
            <a:extLst>
              <a:ext uri="{FF2B5EF4-FFF2-40B4-BE49-F238E27FC236}">
                <a16:creationId xmlns:a16="http://schemas.microsoft.com/office/drawing/2014/main" id="{16554857-FC30-4462-A983-691BD591291A}"/>
              </a:ext>
            </a:extLst>
          </p:cNvPr>
          <p:cNvSpPr>
            <a:spLocks noGrp="1"/>
          </p:cNvSpPr>
          <p:nvPr/>
        </p:nvSpPr>
        <p:spPr>
          <a:xfrm>
            <a:off x="7839075" y="2333625"/>
            <a:ext cx="35909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Harness: Validation &amp; Execution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1B1545D-DFA8-4231-9F0B-F949E1AE00BC}"/>
              </a:ext>
            </a:extLst>
          </p:cNvPr>
          <p:cNvCxnSpPr/>
          <p:nvPr/>
        </p:nvCxnSpPr>
        <p:spPr>
          <a:xfrm>
            <a:off x="10477500" y="3676650"/>
            <a:ext cx="0" cy="590550"/>
          </a:xfrm>
          <a:prstGeom prst="straightConnector1">
            <a:avLst/>
          </a:prstGeom>
          <a:ln w="19050">
            <a:solidFill>
              <a:srgbClr val="6638A5"/>
            </a:solidFill>
          </a:ln>
        </p:spPr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F43F0F5-4662-44DD-B78F-3A7F96B1E669}"/>
              </a:ext>
            </a:extLst>
          </p:cNvPr>
          <p:cNvCxnSpPr/>
          <p:nvPr/>
        </p:nvCxnSpPr>
        <p:spPr>
          <a:xfrm>
            <a:off x="1714500" y="4267200"/>
            <a:ext cx="8763000" cy="0"/>
          </a:xfrm>
          <a:prstGeom prst="straightConnector1">
            <a:avLst/>
          </a:prstGeom>
          <a:ln w="19050">
            <a:solidFill>
              <a:srgbClr val="6638A5"/>
            </a:solidFill>
          </a:ln>
        </p:spPr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0CE8860-C7CA-4921-9D79-6DEC8D04C59A}"/>
              </a:ext>
            </a:extLst>
          </p:cNvPr>
          <p:cNvCxnSpPr/>
          <p:nvPr/>
        </p:nvCxnSpPr>
        <p:spPr>
          <a:xfrm>
            <a:off x="1714500" y="3676650"/>
            <a:ext cx="0" cy="590550"/>
          </a:xfrm>
          <a:prstGeom prst="straightConnector1">
            <a:avLst/>
          </a:prstGeom>
          <a:ln w="19050">
            <a:solidFill>
              <a:srgbClr val="6638A5"/>
            </a:solidFill>
            <a:headEnd type="triangle" w="med" len="med"/>
          </a:ln>
        </p:spPr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473CEFFD-949B-40B7-B918-F83C8139EF5F}"/>
              </a:ext>
            </a:extLst>
          </p:cNvPr>
          <p:cNvSpPr>
            <a:spLocks noGrp="1"/>
          </p:cNvSpPr>
          <p:nvPr/>
        </p:nvSpPr>
        <p:spPr>
          <a:xfrm>
            <a:off x="5010150" y="4105275"/>
            <a:ext cx="2171700" cy="304800"/>
          </a:xfrm>
          <a:prstGeom prst="rect">
            <a:avLst/>
          </a:prstGeom>
          <a:solidFill>
            <a:srgbClr val="F1EDF8"/>
          </a:solidFill>
          <a:ln w="0">
            <a:noFill/>
          </a:ln>
        </p:spPr>
      </p:sp>
      <p:sp>
        <p:nvSpPr>
          <p:cNvPr id="32" name="t ← t + 1">
            <a:extLst>
              <a:ext uri="{FF2B5EF4-FFF2-40B4-BE49-F238E27FC236}">
                <a16:creationId xmlns:a16="http://schemas.microsoft.com/office/drawing/2014/main" id="{E3DA07F5-5012-4A48-B569-41C23A697F99}"/>
              </a:ext>
            </a:extLst>
          </p:cNvPr>
          <p:cNvSpPr>
            <a:spLocks noGrp="1"/>
          </p:cNvSpPr>
          <p:nvPr/>
        </p:nvSpPr>
        <p:spPr>
          <a:xfrm>
            <a:off x="5048250" y="410527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t ← t + 1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E6B40B95-D127-4F8B-ABFE-E5E2FD878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41615" y="4695825"/>
            <a:ext cx="1841269" cy="45720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0D172849-92B1-43C0-9AAA-AA8E20522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029623" y="4695825"/>
            <a:ext cx="3562004" cy="45720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0F8AABB-A1A7-4DB6-99E4-4CC7DA1834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764723" y="5467350"/>
            <a:ext cx="1995055" cy="4572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02515F8B-6881-478C-9E42-E879A5DDC6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436947" y="5467350"/>
            <a:ext cx="2747356" cy="457200"/>
          </a:xfrm>
          <a:prstGeom prst="rect">
            <a:avLst/>
          </a:prstGeom>
        </p:spPr>
      </p:pic>
      <p:sp>
        <p:nvSpPr>
          <p:cNvPr id="37" name="S001 §2.1, Eq.1 与 Agent–Environment ">
            <a:extLst>
              <a:ext uri="{FF2B5EF4-FFF2-40B4-BE49-F238E27FC236}">
                <a16:creationId xmlns:a16="http://schemas.microsoft.com/office/drawing/2014/main" id="{708E9955-1861-4233-A484-8309CD7A9203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S001 §2.1, Eq.1 与 Agent–Environment Loop, PDF p.9；依据 Formalization.md 重绘的简化示意</a:t>
            </a:r>
          </a:p>
        </p:txBody>
      </p:sp>
      <p:sp>
        <p:nvSpPr>
          <p:cNvPr id="38" name="03">
            <a:extLst>
              <a:ext uri="{FF2B5EF4-FFF2-40B4-BE49-F238E27FC236}">
                <a16:creationId xmlns:a16="http://schemas.microsoft.com/office/drawing/2014/main" id="{91BD0D48-0482-40C1-B2C6-A87FC0B3B2F9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5248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1  Foundation · 概念辨析">
            <a:extLst>
              <a:ext uri="{FF2B5EF4-FFF2-40B4-BE49-F238E27FC236}">
                <a16:creationId xmlns:a16="http://schemas.microsoft.com/office/drawing/2014/main" id="{A745E84B-93A9-4A9C-AE7A-D0EB208DBB1E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01  Foundation · 概念辨析</a:t>
            </a:r>
          </a:p>
        </p:txBody>
      </p:sp>
      <p:sp>
        <p:nvSpPr>
          <p:cNvPr id="2" name="Long-Horizon 与相邻概念描述不同维度">
            <a:extLst>
              <a:ext uri="{FF2B5EF4-FFF2-40B4-BE49-F238E27FC236}">
                <a16:creationId xmlns:a16="http://schemas.microsoft.com/office/drawing/2014/main" id="{1EFF0F89-395E-4A4E-9B32-0B92C2A4B3A9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Long-Horizon 与相邻概念描述不同维度</a:t>
            </a:r>
          </a:p>
        </p:txBody>
      </p:sp>
      <p:sp>
        <p:nvSpPr>
          <p:cNvPr id="3" name="同一 Agent 可以同时具有这些性质。">
            <a:extLst>
              <a:ext uri="{FF2B5EF4-FFF2-40B4-BE49-F238E27FC236}">
                <a16:creationId xmlns:a16="http://schemas.microsoft.com/office/drawing/2014/main" id="{475261BF-072C-47CD-90B4-F0A442E3D88A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同一 Agent 可以同时具有这些性质。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27295A8-9C0D-49B7-A5B3-78799C9EBD5C}"/>
              </a:ext>
            </a:extLst>
          </p:cNvPr>
          <p:cNvGraphicFramePr/>
          <p:nvPr/>
        </p:nvGraphicFramePr>
        <p:xfrm>
          <a:off x="762000" y="2114550"/>
          <a:ext cx="10668000" cy="3238502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主要维度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关键区别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Long-Horizon Agent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相互依赖决策的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持续推进能力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通过交互维持推理，并按需延续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/ Memory、积累跨任务经验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Long-Running Agent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执行时长与持续运行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可运行数天，但各步骤仍相互独立；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长时间运行不等于复杂的决策依赖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Autonomous Agent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人工参与与控制程度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Long-Horizon Agent 可保留人工审批；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 Autonomy 也可能只完成短任务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Self-Evolving Agent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经验驱动的持久改变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旨在改善后续表现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/ H2 不要求持久自我改变；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H3 / C3 与 Self-evolution 高度重叠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三个相邻概念都不能单独说明系统能否完成 Long-Horizon Tas">
            <a:extLst>
              <a:ext uri="{FF2B5EF4-FFF2-40B4-BE49-F238E27FC236}">
                <a16:creationId xmlns:a16="http://schemas.microsoft.com/office/drawing/2014/main" id="{7A9B5DC0-2AD7-47EA-B074-5B82DA93D48F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三个相邻概念都不能单独说明系统能否完成 Long-Horizon Tasks。</a:t>
            </a:r>
          </a:p>
        </p:txBody>
      </p:sp>
      <p:sp>
        <p:nvSpPr>
          <p:cNvPr id="6" name="综述概念辨析：S001 §2.4.1–2.4.3, Fig.5, PDF">
            <a:extLst>
              <a:ext uri="{FF2B5EF4-FFF2-40B4-BE49-F238E27FC236}">
                <a16:creationId xmlns:a16="http://schemas.microsoft.com/office/drawing/2014/main" id="{A7D7C720-2AA3-4594-B9F0-96F64D2148B1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综述概念辨析：S001 §2.4.1–2.4.3, Fig.5, PDF pp.13–15</a:t>
            </a:r>
          </a:p>
        </p:txBody>
      </p:sp>
      <p:sp>
        <p:nvSpPr>
          <p:cNvPr id="7" name="04">
            <a:extLst>
              <a:ext uri="{FF2B5EF4-FFF2-40B4-BE49-F238E27FC236}">
                <a16:creationId xmlns:a16="http://schemas.microsoft.com/office/drawing/2014/main" id="{EA3F47D1-E8A5-40EA-A051-455714495DD7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0698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2  Harness · 总览">
            <a:extLst>
              <a:ext uri="{FF2B5EF4-FFF2-40B4-BE49-F238E27FC236}">
                <a16:creationId xmlns:a16="http://schemas.microsoft.com/office/drawing/2014/main" id="{103296DE-7A4C-4034-9C38-6D67B254D309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02  Harness · 总览</a:t>
            </a:r>
          </a:p>
        </p:txBody>
      </p:sp>
      <p:sp>
        <p:nvSpPr>
          <p:cNvPr id="2" name="Harness 由六类运行机制组成">
            <a:extLst>
              <a:ext uri="{FF2B5EF4-FFF2-40B4-BE49-F238E27FC236}">
                <a16:creationId xmlns:a16="http://schemas.microsoft.com/office/drawing/2014/main" id="{E8710DB5-9099-4B1D-A4C3-C86F5805713D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Harness 由六类运行机制组成</a:t>
            </a:r>
          </a:p>
        </p:txBody>
      </p:sp>
      <p:sp>
        <p:nvSpPr>
          <p:cNvPr id="3" name="六类机制分别组织执行、管理状态，并约束和评估行动。">
            <a:extLst>
              <a:ext uri="{FF2B5EF4-FFF2-40B4-BE49-F238E27FC236}">
                <a16:creationId xmlns:a16="http://schemas.microsoft.com/office/drawing/2014/main" id="{1AE0A58E-6FC5-4E4E-A283-26DAF45A4D76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六类机制分别组织执行、管理状态，并约束和评估行动。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B0D9A65-3DF2-44A1-9472-95D202927FF4}"/>
              </a:ext>
            </a:extLst>
          </p:cNvPr>
          <p:cNvGraphicFramePr/>
          <p:nvPr/>
        </p:nvGraphicFramePr>
        <p:xfrm>
          <a:off x="762000" y="2000250"/>
          <a:ext cx="10668000" cy="3381378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典型内容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Loops and Workflows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组织执行过程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Trajectory、显式计划、候选比较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 and Memory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管理决策所需状态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Working Context / Persistent Memory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Tools, MCP, and Skills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接入外部能力并复用过程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Function Calling、组合与复用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Orchestration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分配工作并协调交接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角色、通信与结果聚合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Hooks and Middleware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落实执行约束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放行、阻止或转交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Verification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评估行为与结果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Correctness / Safety / Faithfulness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模块交接涉及记录的采用、动作的约束和结果的确认。">
            <a:extLst>
              <a:ext uri="{FF2B5EF4-FFF2-40B4-BE49-F238E27FC236}">
                <a16:creationId xmlns:a16="http://schemas.microsoft.com/office/drawing/2014/main" id="{6B2C0E5C-CD5C-4EA7-AE9F-6778D78A3D2E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模块交接涉及记录的采用、动作的约束和结果的确认。</a:t>
            </a:r>
          </a:p>
        </p:txBody>
      </p:sp>
      <p:sp>
        <p:nvSpPr>
          <p:cNvPr id="6" name="综述分类：S001 §4、Table 2，PDF pp.20–21；交接">
            <a:extLst>
              <a:ext uri="{FF2B5EF4-FFF2-40B4-BE49-F238E27FC236}">
                <a16:creationId xmlns:a16="http://schemas.microsoft.com/office/drawing/2014/main" id="{0FB8B7E3-326F-463F-83CC-26227B670B1F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综述分类：S001 §4、Table 2，PDF pp.20–21；交接视角为讨论归纳</a:t>
            </a:r>
          </a:p>
        </p:txBody>
      </p:sp>
      <p:sp>
        <p:nvSpPr>
          <p:cNvPr id="7" name="05">
            <a:extLst>
              <a:ext uri="{FF2B5EF4-FFF2-40B4-BE49-F238E27FC236}">
                <a16:creationId xmlns:a16="http://schemas.microsoft.com/office/drawing/2014/main" id="{828BC034-7297-4BD5-ADEB-5DF5245470B7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98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02  Harness · 运行结构">
            <a:extLst>
              <a:ext uri="{FF2B5EF4-FFF2-40B4-BE49-F238E27FC236}">
                <a16:creationId xmlns:a16="http://schemas.microsoft.com/office/drawing/2014/main" id="{0A2199DF-DCAC-4ADE-9843-78AAFE7BF2C7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02  Harness · 运行结构</a:t>
            </a:r>
          </a:p>
        </p:txBody>
      </p:sp>
      <p:sp>
        <p:nvSpPr>
          <p:cNvPr id="2" name="Harness 围绕 Agent Loop 组织执行">
            <a:extLst>
              <a:ext uri="{FF2B5EF4-FFF2-40B4-BE49-F238E27FC236}">
                <a16:creationId xmlns:a16="http://schemas.microsoft.com/office/drawing/2014/main" id="{5F96DF67-9FB7-4C72-B18E-4C283AAFC250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Harness 围绕 Agent Loop 组织执行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66D360-5B1B-4E16-A544-AD099733B3C3}"/>
              </a:ext>
            </a:extLst>
          </p:cNvPr>
          <p:cNvSpPr>
            <a:spLocks noGrp="1"/>
          </p:cNvSpPr>
          <p:nvPr/>
        </p:nvSpPr>
        <p:spPr>
          <a:xfrm>
            <a:off x="762000" y="1562100"/>
            <a:ext cx="7858125" cy="657225"/>
          </a:xfrm>
          <a:prstGeom prst="rect">
            <a:avLst/>
          </a:prstGeom>
          <a:solidFill>
            <a:srgbClr val="E2DAF1"/>
          </a:solidFill>
          <a:ln w="9525">
            <a:solidFill>
              <a:srgbClr val="BCAED1"/>
            </a:solidFill>
          </a:ln>
        </p:spPr>
      </p:sp>
      <p:sp>
        <p:nvSpPr>
          <p:cNvPr id="4" name="Orchestration">
            <a:extLst>
              <a:ext uri="{FF2B5EF4-FFF2-40B4-BE49-F238E27FC236}">
                <a16:creationId xmlns:a16="http://schemas.microsoft.com/office/drawing/2014/main" id="{7AE72026-318F-42DB-8984-3634D2D1A748}"/>
              </a:ext>
            </a:extLst>
          </p:cNvPr>
          <p:cNvSpPr>
            <a:spLocks noGrp="1"/>
          </p:cNvSpPr>
          <p:nvPr/>
        </p:nvSpPr>
        <p:spPr>
          <a:xfrm>
            <a:off x="971550" y="172402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Orchestration</a:t>
            </a:r>
          </a:p>
        </p:txBody>
      </p:sp>
      <p:sp>
        <p:nvSpPr>
          <p:cNvPr id="5" name="分解任务 · 分配角色 · 协调交接">
            <a:extLst>
              <a:ext uri="{FF2B5EF4-FFF2-40B4-BE49-F238E27FC236}">
                <a16:creationId xmlns:a16="http://schemas.microsoft.com/office/drawing/2014/main" id="{E7550F55-B088-4FCF-B1C6-6F7C061AC43D}"/>
              </a:ext>
            </a:extLst>
          </p:cNvPr>
          <p:cNvSpPr>
            <a:spLocks noGrp="1"/>
          </p:cNvSpPr>
          <p:nvPr/>
        </p:nvSpPr>
        <p:spPr>
          <a:xfrm>
            <a:off x="3571875" y="1781175"/>
            <a:ext cx="485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分解任务 · 分配角色 · 协调交接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99DD01-0AFC-47E7-BB0F-028B285A4243}"/>
              </a:ext>
            </a:extLst>
          </p:cNvPr>
          <p:cNvSpPr>
            <a:spLocks noGrp="1"/>
          </p:cNvSpPr>
          <p:nvPr/>
        </p:nvSpPr>
        <p:spPr>
          <a:xfrm>
            <a:off x="9429750" y="1562100"/>
            <a:ext cx="2000250" cy="657225"/>
          </a:xfrm>
          <a:prstGeom prst="rect">
            <a:avLst/>
          </a:prstGeom>
          <a:solidFill>
            <a:srgbClr val="FFFFFF"/>
          </a:solidFill>
          <a:ln w="9525">
            <a:solidFill>
              <a:srgbClr val="BCAED1"/>
            </a:solidFill>
          </a:ln>
        </p:spPr>
      </p:sp>
      <p:sp>
        <p:nvSpPr>
          <p:cNvPr id="7" name="其他 Agent Loops">
            <a:extLst>
              <a:ext uri="{FF2B5EF4-FFF2-40B4-BE49-F238E27FC236}">
                <a16:creationId xmlns:a16="http://schemas.microsoft.com/office/drawing/2014/main" id="{30CACD62-F641-462B-8715-3F8C3C91FA04}"/>
              </a:ext>
            </a:extLst>
          </p:cNvPr>
          <p:cNvSpPr>
            <a:spLocks noGrp="1"/>
          </p:cNvSpPr>
          <p:nvPr/>
        </p:nvSpPr>
        <p:spPr>
          <a:xfrm>
            <a:off x="9505950" y="1771650"/>
            <a:ext cx="1847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其他 Agent Loops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4658838-84FC-4FC0-8CCC-2620E0535585}"/>
              </a:ext>
            </a:extLst>
          </p:cNvPr>
          <p:cNvCxnSpPr/>
          <p:nvPr/>
        </p:nvCxnSpPr>
        <p:spPr>
          <a:xfrm>
            <a:off x="8620125" y="1885950"/>
            <a:ext cx="809625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tailEnd type="triangle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16FC50C-9CF6-4ACD-AA99-1A247F0DE327}"/>
              </a:ext>
            </a:extLst>
          </p:cNvPr>
          <p:cNvCxnSpPr/>
          <p:nvPr/>
        </p:nvCxnSpPr>
        <p:spPr>
          <a:xfrm>
            <a:off x="4667250" y="2219325"/>
            <a:ext cx="0" cy="43815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tailEnd type="triangle" w="med" len="med"/>
          </a:ln>
        </p:spPr>
      </p:cxnSp>
      <p:sp>
        <p:nvSpPr>
          <p:cNvPr id="10" name="Loops and Workflows">
            <a:extLst>
              <a:ext uri="{FF2B5EF4-FFF2-40B4-BE49-F238E27FC236}">
                <a16:creationId xmlns:a16="http://schemas.microsoft.com/office/drawing/2014/main" id="{1DC7B010-84BD-474F-8275-103A19E2F0A6}"/>
              </a:ext>
            </a:extLst>
          </p:cNvPr>
          <p:cNvSpPr>
            <a:spLocks noGrp="1"/>
          </p:cNvSpPr>
          <p:nvPr/>
        </p:nvSpPr>
        <p:spPr>
          <a:xfrm>
            <a:off x="762000" y="25908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Loops and Workflows</a:t>
            </a:r>
          </a:p>
        </p:txBody>
      </p:sp>
      <p:sp>
        <p:nvSpPr>
          <p:cNvPr id="11" name="安排调用、计划与分支">
            <a:extLst>
              <a:ext uri="{FF2B5EF4-FFF2-40B4-BE49-F238E27FC236}">
                <a16:creationId xmlns:a16="http://schemas.microsoft.com/office/drawing/2014/main" id="{AFA56EA4-F987-440E-B777-4949215E1EFC}"/>
              </a:ext>
            </a:extLst>
          </p:cNvPr>
          <p:cNvSpPr>
            <a:spLocks noGrp="1"/>
          </p:cNvSpPr>
          <p:nvPr/>
        </p:nvSpPr>
        <p:spPr>
          <a:xfrm>
            <a:off x="4333875" y="2647950"/>
            <a:ext cx="4762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安排调用、计划与分支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117AD39-5554-489E-B168-C7C3EC612067}"/>
              </a:ext>
            </a:extLst>
          </p:cNvPr>
          <p:cNvCxnSpPr/>
          <p:nvPr/>
        </p:nvCxnSpPr>
        <p:spPr>
          <a:xfrm>
            <a:off x="762000" y="3028950"/>
            <a:ext cx="10668000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</a:ln>
        </p:spPr>
      </p:cxnSp>
      <p:sp>
        <p:nvSpPr>
          <p:cNvPr id="13" name="Context and Memory">
            <a:extLst>
              <a:ext uri="{FF2B5EF4-FFF2-40B4-BE49-F238E27FC236}">
                <a16:creationId xmlns:a16="http://schemas.microsoft.com/office/drawing/2014/main" id="{EDAC29E0-FCCD-410F-8F2C-606A1875478D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2524125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6638A5"/>
            </a:solidFill>
          </a:ln>
        </p:spPr>
      </p:sp>
      <p:sp>
        <p:nvSpPr>
          <p:cNvPr id="14" name="Context and Memory">
            <a:extLst>
              <a:ext uri="{FF2B5EF4-FFF2-40B4-BE49-F238E27FC236}">
                <a16:creationId xmlns:a16="http://schemas.microsoft.com/office/drawing/2014/main" id="{055DF6ED-3EC7-48EA-BF05-048ACC4CD61C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23717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Context and Memory</a:t>
            </a:r>
          </a:p>
        </p:txBody>
      </p:sp>
      <p:sp>
        <p:nvSpPr>
          <p:cNvPr id="15" name="Working Context&#10;Persistent Memory">
            <a:extLst>
              <a:ext uri="{FF2B5EF4-FFF2-40B4-BE49-F238E27FC236}">
                <a16:creationId xmlns:a16="http://schemas.microsoft.com/office/drawing/2014/main" id="{3BE7383D-EFEC-40CF-B8E8-BA98F98AE1DC}"/>
              </a:ext>
            </a:extLst>
          </p:cNvPr>
          <p:cNvSpPr>
            <a:spLocks noGrp="1"/>
          </p:cNvSpPr>
          <p:nvPr/>
        </p:nvSpPr>
        <p:spPr>
          <a:xfrm>
            <a:off x="838200" y="3800475"/>
            <a:ext cx="23717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Working Context</a:t>
            </a:r>
          </a:p>
          <a:p>
            <a: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Persistent Memory</a:t>
            </a:r>
          </a:p>
        </p:txBody>
      </p:sp>
      <p:sp>
        <p:nvSpPr>
          <p:cNvPr id="16" name="Base Policy">
            <a:extLst>
              <a:ext uri="{FF2B5EF4-FFF2-40B4-BE49-F238E27FC236}">
                <a16:creationId xmlns:a16="http://schemas.microsoft.com/office/drawing/2014/main" id="{A5635913-3C26-41D7-BBCB-ECCF40842830}"/>
              </a:ext>
            </a:extLst>
          </p:cNvPr>
          <p:cNvSpPr>
            <a:spLocks noGrp="1"/>
          </p:cNvSpPr>
          <p:nvPr/>
        </p:nvSpPr>
        <p:spPr>
          <a:xfrm>
            <a:off x="3762375" y="3314700"/>
            <a:ext cx="1619250" cy="952500"/>
          </a:xfrm>
          <a:prstGeom prst="rect">
            <a:avLst/>
          </a:prstGeom>
          <a:solidFill>
            <a:srgbClr val="29204F"/>
          </a:solidFill>
          <a:ln w="14288">
            <a:solidFill>
              <a:srgbClr val="29204F"/>
            </a:solidFill>
          </a:ln>
        </p:spPr>
      </p:sp>
      <p:sp>
        <p:nvSpPr>
          <p:cNvPr id="17" name="Base Policy">
            <a:extLst>
              <a:ext uri="{FF2B5EF4-FFF2-40B4-BE49-F238E27FC236}">
                <a16:creationId xmlns:a16="http://schemas.microsoft.com/office/drawing/2014/main" id="{F277D54D-9DA5-4261-BBDF-933D48DAE376}"/>
              </a:ext>
            </a:extLst>
          </p:cNvPr>
          <p:cNvSpPr>
            <a:spLocks noGrp="1"/>
          </p:cNvSpPr>
          <p:nvPr/>
        </p:nvSpPr>
        <p:spPr>
          <a:xfrm>
            <a:off x="3838575" y="3429000"/>
            <a:ext cx="14668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Base Policy</a:t>
            </a:r>
          </a:p>
        </p:txBody>
      </p:sp>
      <p:sp>
        <p:nvSpPr>
          <p:cNvPr id="18" name="提出 Action">
            <a:extLst>
              <a:ext uri="{FF2B5EF4-FFF2-40B4-BE49-F238E27FC236}">
                <a16:creationId xmlns:a16="http://schemas.microsoft.com/office/drawing/2014/main" id="{B47263FD-32D2-467B-9044-86BD632BF0DA}"/>
              </a:ext>
            </a:extLst>
          </p:cNvPr>
          <p:cNvSpPr>
            <a:spLocks noGrp="1"/>
          </p:cNvSpPr>
          <p:nvPr/>
        </p:nvSpPr>
        <p:spPr>
          <a:xfrm>
            <a:off x="3838575" y="3800475"/>
            <a:ext cx="14668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D8C8E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D8C8E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D8C8E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D8C8E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D8C8E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D8C8E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D8C8E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D8C8E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D8C8E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D8C8E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D8C8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C8ED"/>
                </a:solidFill>
                <a:latin typeface="Microsoft YaHei"/>
                <a:ea typeface="Microsoft YaHei"/>
                <a:cs typeface="Microsoft YaHei"/>
              </a:rPr>
              <a:t>提出 Action</a:t>
            </a:r>
          </a:p>
        </p:txBody>
      </p:sp>
      <p:sp>
        <p:nvSpPr>
          <p:cNvPr id="19" name="Hooks and Middleware">
            <a:extLst>
              <a:ext uri="{FF2B5EF4-FFF2-40B4-BE49-F238E27FC236}">
                <a16:creationId xmlns:a16="http://schemas.microsoft.com/office/drawing/2014/main" id="{486E8959-ED72-4D7C-B2E6-7537DF62AFD4}"/>
              </a:ext>
            </a:extLst>
          </p:cNvPr>
          <p:cNvSpPr>
            <a:spLocks noGrp="1"/>
          </p:cNvSpPr>
          <p:nvPr/>
        </p:nvSpPr>
        <p:spPr>
          <a:xfrm>
            <a:off x="5857875" y="3314700"/>
            <a:ext cx="2667000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6638A5"/>
            </a:solidFill>
          </a:ln>
        </p:spPr>
      </p:sp>
      <p:sp>
        <p:nvSpPr>
          <p:cNvPr id="20" name="Hooks and Middleware">
            <a:extLst>
              <a:ext uri="{FF2B5EF4-FFF2-40B4-BE49-F238E27FC236}">
                <a16:creationId xmlns:a16="http://schemas.microsoft.com/office/drawing/2014/main" id="{BA474DA9-56E5-4C28-AE81-376CBA8CB2E2}"/>
              </a:ext>
            </a:extLst>
          </p:cNvPr>
          <p:cNvSpPr>
            <a:spLocks noGrp="1"/>
          </p:cNvSpPr>
          <p:nvPr/>
        </p:nvSpPr>
        <p:spPr>
          <a:xfrm>
            <a:off x="5934075" y="3429000"/>
            <a:ext cx="25146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Hooks and Middleware</a:t>
            </a:r>
          </a:p>
        </p:txBody>
      </p:sp>
      <p:sp>
        <p:nvSpPr>
          <p:cNvPr id="21" name="检查 · 阻止 · 修改 · 转交">
            <a:extLst>
              <a:ext uri="{FF2B5EF4-FFF2-40B4-BE49-F238E27FC236}">
                <a16:creationId xmlns:a16="http://schemas.microsoft.com/office/drawing/2014/main" id="{D1EB4C71-D26C-4522-9114-0B0530766389}"/>
              </a:ext>
            </a:extLst>
          </p:cNvPr>
          <p:cNvSpPr>
            <a:spLocks noGrp="1"/>
          </p:cNvSpPr>
          <p:nvPr/>
        </p:nvSpPr>
        <p:spPr>
          <a:xfrm>
            <a:off x="5934075" y="3800475"/>
            <a:ext cx="2514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检查 · 阻止 · 修改 · 转交</a:t>
            </a:r>
          </a:p>
        </p:txBody>
      </p:sp>
      <p:sp>
        <p:nvSpPr>
          <p:cNvPr id="22" name="Tools, MCP, and Skills">
            <a:extLst>
              <a:ext uri="{FF2B5EF4-FFF2-40B4-BE49-F238E27FC236}">
                <a16:creationId xmlns:a16="http://schemas.microsoft.com/office/drawing/2014/main" id="{E48C4446-C52F-4AFC-AD4C-8B0E72356AFD}"/>
              </a:ext>
            </a:extLst>
          </p:cNvPr>
          <p:cNvSpPr>
            <a:spLocks noGrp="1"/>
          </p:cNvSpPr>
          <p:nvPr/>
        </p:nvSpPr>
        <p:spPr>
          <a:xfrm>
            <a:off x="9001125" y="3314700"/>
            <a:ext cx="2428875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6638A5"/>
            </a:solidFill>
          </a:ln>
        </p:spPr>
      </p:sp>
      <p:sp>
        <p:nvSpPr>
          <p:cNvPr id="23" name="Tools, MCP, and Skills">
            <a:extLst>
              <a:ext uri="{FF2B5EF4-FFF2-40B4-BE49-F238E27FC236}">
                <a16:creationId xmlns:a16="http://schemas.microsoft.com/office/drawing/2014/main" id="{51A28B82-70C3-4188-A473-61AC6BDF7CED}"/>
              </a:ext>
            </a:extLst>
          </p:cNvPr>
          <p:cNvSpPr>
            <a:spLocks noGrp="1"/>
          </p:cNvSpPr>
          <p:nvPr/>
        </p:nvSpPr>
        <p:spPr>
          <a:xfrm>
            <a:off x="9077325" y="3429000"/>
            <a:ext cx="22764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Tools, MCP, and Skills</a:t>
            </a:r>
          </a:p>
        </p:txBody>
      </p:sp>
      <p:sp>
        <p:nvSpPr>
          <p:cNvPr id="24" name="接入能力 · 复用过程">
            <a:extLst>
              <a:ext uri="{FF2B5EF4-FFF2-40B4-BE49-F238E27FC236}">
                <a16:creationId xmlns:a16="http://schemas.microsoft.com/office/drawing/2014/main" id="{10F7A732-124C-4529-9723-655CC2AAF79E}"/>
              </a:ext>
            </a:extLst>
          </p:cNvPr>
          <p:cNvSpPr>
            <a:spLocks noGrp="1"/>
          </p:cNvSpPr>
          <p:nvPr/>
        </p:nvSpPr>
        <p:spPr>
          <a:xfrm>
            <a:off x="9077325" y="3800475"/>
            <a:ext cx="22764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接入能力 · 复用过程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C828FAD-995D-4791-BEBB-B333615F3199}"/>
              </a:ext>
            </a:extLst>
          </p:cNvPr>
          <p:cNvCxnSpPr/>
          <p:nvPr/>
        </p:nvCxnSpPr>
        <p:spPr>
          <a:xfrm>
            <a:off x="3286125" y="3790950"/>
            <a:ext cx="476250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tailEnd type="triangle" w="med" len="med"/>
          </a:ln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9D4DC8F-DA36-4A6D-8916-E2D224C38DF3}"/>
              </a:ext>
            </a:extLst>
          </p:cNvPr>
          <p:cNvCxnSpPr/>
          <p:nvPr/>
        </p:nvCxnSpPr>
        <p:spPr>
          <a:xfrm>
            <a:off x="5381625" y="3790950"/>
            <a:ext cx="476250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tailEnd type="triangle" w="med" len="med"/>
          </a:ln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A81409B-D6E2-4056-BA46-29F149631B6E}"/>
              </a:ext>
            </a:extLst>
          </p:cNvPr>
          <p:cNvCxnSpPr/>
          <p:nvPr/>
        </p:nvCxnSpPr>
        <p:spPr>
          <a:xfrm>
            <a:off x="8524875" y="3790950"/>
            <a:ext cx="476250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tailEnd type="triangle" w="med" len="med"/>
          </a:ln>
        </p:spPr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CEA2FD6D-97B2-4ED6-9A75-ACEA661B453D}"/>
              </a:ext>
            </a:extLst>
          </p:cNvPr>
          <p:cNvSpPr>
            <a:spLocks noGrp="1"/>
          </p:cNvSpPr>
          <p:nvPr/>
        </p:nvSpPr>
        <p:spPr>
          <a:xfrm>
            <a:off x="9334500" y="4610100"/>
            <a:ext cx="2095500" cy="514350"/>
          </a:xfrm>
          <a:prstGeom prst="rect">
            <a:avLst/>
          </a:prstGeom>
          <a:solidFill>
            <a:srgbClr val="E2DAF1"/>
          </a:solidFill>
          <a:ln w="9525">
            <a:solidFill>
              <a:srgbClr val="BCAED1"/>
            </a:solidFill>
          </a:ln>
        </p:spPr>
      </p:sp>
      <p:sp>
        <p:nvSpPr>
          <p:cNvPr id="29" name="Environment">
            <a:extLst>
              <a:ext uri="{FF2B5EF4-FFF2-40B4-BE49-F238E27FC236}">
                <a16:creationId xmlns:a16="http://schemas.microsoft.com/office/drawing/2014/main" id="{27DC1E34-D349-4C76-AE4B-4BA175835412}"/>
              </a:ext>
            </a:extLst>
          </p:cNvPr>
          <p:cNvSpPr>
            <a:spLocks noGrp="1"/>
          </p:cNvSpPr>
          <p:nvPr/>
        </p:nvSpPr>
        <p:spPr>
          <a:xfrm>
            <a:off x="9401175" y="4724400"/>
            <a:ext cx="1962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A28F933-E692-46EE-9B6F-AA4A890AABAA}"/>
              </a:ext>
            </a:extLst>
          </p:cNvPr>
          <p:cNvCxnSpPr/>
          <p:nvPr/>
        </p:nvCxnSpPr>
        <p:spPr>
          <a:xfrm>
            <a:off x="10382250" y="4267200"/>
            <a:ext cx="0" cy="34290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tailEnd type="triangle" w="med" len="med"/>
          </a:ln>
        </p:spPr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1F93FB3-7F83-4071-9EAD-1353119315A3}"/>
              </a:ext>
            </a:extLst>
          </p:cNvPr>
          <p:cNvCxnSpPr/>
          <p:nvPr/>
        </p:nvCxnSpPr>
        <p:spPr>
          <a:xfrm>
            <a:off x="2028825" y="4867275"/>
            <a:ext cx="7305675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64C6783-4854-4157-B2F0-2713DFAE4203}"/>
              </a:ext>
            </a:extLst>
          </p:cNvPr>
          <p:cNvCxnSpPr/>
          <p:nvPr/>
        </p:nvCxnSpPr>
        <p:spPr>
          <a:xfrm>
            <a:off x="2028825" y="4267200"/>
            <a:ext cx="0" cy="600075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headEnd type="triangle" w="med" len="med"/>
          </a:ln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6E39E157-9B1B-4108-AE25-4FC3AE94B279}"/>
              </a:ext>
            </a:extLst>
          </p:cNvPr>
          <p:cNvSpPr>
            <a:spLocks noGrp="1"/>
          </p:cNvSpPr>
          <p:nvPr/>
        </p:nvSpPr>
        <p:spPr>
          <a:xfrm>
            <a:off x="3619500" y="4686300"/>
            <a:ext cx="2495550" cy="352425"/>
          </a:xfrm>
          <a:prstGeom prst="rect">
            <a:avLst/>
          </a:prstGeom>
          <a:solidFill>
            <a:srgbClr val="F1EDF8"/>
          </a:solidFill>
          <a:ln w="0">
            <a:noFill/>
          </a:ln>
        </p:spPr>
      </p:sp>
      <p:sp>
        <p:nvSpPr>
          <p:cNvPr id="34" name="Observation / Feedback">
            <a:extLst>
              <a:ext uri="{FF2B5EF4-FFF2-40B4-BE49-F238E27FC236}">
                <a16:creationId xmlns:a16="http://schemas.microsoft.com/office/drawing/2014/main" id="{2AB9FC18-1E95-4FE9-B965-11E4C3BF9C05}"/>
              </a:ext>
            </a:extLst>
          </p:cNvPr>
          <p:cNvSpPr>
            <a:spLocks noGrp="1"/>
          </p:cNvSpPr>
          <p:nvPr/>
        </p:nvSpPr>
        <p:spPr>
          <a:xfrm>
            <a:off x="3667125" y="4724400"/>
            <a:ext cx="24003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Observation / Feedback</a:t>
            </a:r>
          </a:p>
        </p:txBody>
      </p:sp>
      <p:sp>
        <p:nvSpPr>
          <p:cNvPr id="35" name="Verification">
            <a:extLst>
              <a:ext uri="{FF2B5EF4-FFF2-40B4-BE49-F238E27FC236}">
                <a16:creationId xmlns:a16="http://schemas.microsoft.com/office/drawing/2014/main" id="{099BC862-9BEC-45B0-919A-FB5D971C6B08}"/>
              </a:ext>
            </a:extLst>
          </p:cNvPr>
          <p:cNvSpPr>
            <a:spLocks noGrp="1"/>
          </p:cNvSpPr>
          <p:nvPr/>
        </p:nvSpPr>
        <p:spPr>
          <a:xfrm>
            <a:off x="4286250" y="5381625"/>
            <a:ext cx="409575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6638A5"/>
            </a:solidFill>
          </a:ln>
        </p:spPr>
      </p:sp>
      <p:sp>
        <p:nvSpPr>
          <p:cNvPr id="36" name="Verification">
            <a:extLst>
              <a:ext uri="{FF2B5EF4-FFF2-40B4-BE49-F238E27FC236}">
                <a16:creationId xmlns:a16="http://schemas.microsoft.com/office/drawing/2014/main" id="{5FFA37C8-696A-44EF-B83F-64161A2759E3}"/>
              </a:ext>
            </a:extLst>
          </p:cNvPr>
          <p:cNvSpPr>
            <a:spLocks noGrp="1"/>
          </p:cNvSpPr>
          <p:nvPr/>
        </p:nvSpPr>
        <p:spPr>
          <a:xfrm>
            <a:off x="4362450" y="5495925"/>
            <a:ext cx="39433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Verification</a:t>
            </a:r>
          </a:p>
        </p:txBody>
      </p:sp>
      <p:sp>
        <p:nvSpPr>
          <p:cNvPr id="37" name="评价 State / Action / Output">
            <a:extLst>
              <a:ext uri="{FF2B5EF4-FFF2-40B4-BE49-F238E27FC236}">
                <a16:creationId xmlns:a16="http://schemas.microsoft.com/office/drawing/2014/main" id="{780164D5-3FBD-4525-BBEF-748359F95800}"/>
              </a:ext>
            </a:extLst>
          </p:cNvPr>
          <p:cNvSpPr>
            <a:spLocks noGrp="1"/>
          </p:cNvSpPr>
          <p:nvPr/>
        </p:nvSpPr>
        <p:spPr>
          <a:xfrm>
            <a:off x="4362450" y="5867400"/>
            <a:ext cx="39433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评价 State / Action / Output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8A78703-F7B7-42B5-AA46-42D4B0D6DECD}"/>
              </a:ext>
            </a:extLst>
          </p:cNvPr>
          <p:cNvCxnSpPr/>
          <p:nvPr/>
        </p:nvCxnSpPr>
        <p:spPr>
          <a:xfrm>
            <a:off x="7191375" y="4267200"/>
            <a:ext cx="0" cy="1114425"/>
          </a:xfrm>
          <a:prstGeom prst="straightConnector1">
            <a:avLst/>
          </a:prstGeom>
          <a:ln w="19050">
            <a:solidFill>
              <a:srgbClr val="A35D42"/>
            </a:solidFill>
            <a:prstDash val="dash"/>
            <a:tailEnd type="triangle" w="med" len="med"/>
          </a:ln>
        </p:spPr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ACA56DEB-AFB0-46B2-BDCA-D8F8FCDC10F7}"/>
              </a:ext>
            </a:extLst>
          </p:cNvPr>
          <p:cNvCxnSpPr/>
          <p:nvPr/>
        </p:nvCxnSpPr>
        <p:spPr>
          <a:xfrm>
            <a:off x="10382250" y="5124450"/>
            <a:ext cx="0" cy="647700"/>
          </a:xfrm>
          <a:prstGeom prst="straightConnector1">
            <a:avLst/>
          </a:prstGeom>
          <a:ln w="19050">
            <a:solidFill>
              <a:srgbClr val="A35D42"/>
            </a:solidFill>
            <a:prstDash val="dash"/>
          </a:ln>
        </p:spPr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099AE18-C7BC-4AFB-B4A8-F3E1EE71FD7A}"/>
              </a:ext>
            </a:extLst>
          </p:cNvPr>
          <p:cNvCxnSpPr/>
          <p:nvPr/>
        </p:nvCxnSpPr>
        <p:spPr>
          <a:xfrm>
            <a:off x="8382000" y="5772150"/>
            <a:ext cx="2000250" cy="0"/>
          </a:xfrm>
          <a:prstGeom prst="straightConnector1">
            <a:avLst/>
          </a:prstGeom>
          <a:ln w="19050">
            <a:solidFill>
              <a:srgbClr val="A35D42"/>
            </a:solidFill>
            <a:prstDash val="dash"/>
            <a:headEnd type="triangle" w="med" len="med"/>
          </a:ln>
        </p:spPr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0FC95ED-DF08-4966-8AD2-4C985F43C627}"/>
              </a:ext>
            </a:extLst>
          </p:cNvPr>
          <p:cNvCxnSpPr/>
          <p:nvPr/>
        </p:nvCxnSpPr>
        <p:spPr>
          <a:xfrm>
            <a:off x="3524250" y="5772150"/>
            <a:ext cx="762000" cy="0"/>
          </a:xfrm>
          <a:prstGeom prst="straightConnector1">
            <a:avLst/>
          </a:prstGeom>
          <a:ln w="19050">
            <a:solidFill>
              <a:srgbClr val="A35D42"/>
            </a:solidFill>
            <a:prstDash val="dash"/>
          </a:ln>
        </p:spPr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C6C5CF8-C46F-4DBF-9627-853FB9DE47CD}"/>
              </a:ext>
            </a:extLst>
          </p:cNvPr>
          <p:cNvCxnSpPr/>
          <p:nvPr/>
        </p:nvCxnSpPr>
        <p:spPr>
          <a:xfrm>
            <a:off x="3524250" y="3028950"/>
            <a:ext cx="0" cy="2743200"/>
          </a:xfrm>
          <a:prstGeom prst="straightConnector1">
            <a:avLst/>
          </a:prstGeom>
          <a:ln w="19050">
            <a:solidFill>
              <a:srgbClr val="A35D42"/>
            </a:solidFill>
            <a:prstDash val="dash"/>
            <a:headEnd type="triangle" w="med" len="med"/>
          </a:ln>
        </p:spPr>
      </p:cxnSp>
      <p:sp>
        <p:nvSpPr>
          <p:cNvPr id="43" name="继续 / 修订 / 接受">
            <a:extLst>
              <a:ext uri="{FF2B5EF4-FFF2-40B4-BE49-F238E27FC236}">
                <a16:creationId xmlns:a16="http://schemas.microsoft.com/office/drawing/2014/main" id="{67581932-E3E3-46CE-AD5E-955947DC5D5E}"/>
              </a:ext>
            </a:extLst>
          </p:cNvPr>
          <p:cNvSpPr>
            <a:spLocks noGrp="1"/>
          </p:cNvSpPr>
          <p:nvPr/>
        </p:nvSpPr>
        <p:spPr>
          <a:xfrm>
            <a:off x="809625" y="545782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0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rPr>
              <a:t>继续 / 修订 / 接受</a:t>
            </a:r>
          </a:p>
        </p:txBody>
      </p:sp>
      <p:sp>
        <p:nvSpPr>
          <p:cNvPr id="44" name="虚线：评价与控制反馈">
            <a:extLst>
              <a:ext uri="{FF2B5EF4-FFF2-40B4-BE49-F238E27FC236}">
                <a16:creationId xmlns:a16="http://schemas.microsoft.com/office/drawing/2014/main" id="{7F9D1F39-2C18-4550-AD18-042EF6302A60}"/>
              </a:ext>
            </a:extLst>
          </p:cNvPr>
          <p:cNvSpPr>
            <a:spLocks noGrp="1"/>
          </p:cNvSpPr>
          <p:nvPr/>
        </p:nvSpPr>
        <p:spPr>
          <a:xfrm>
            <a:off x="809625" y="59150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虚线：评价与控制反馈</a:t>
            </a:r>
          </a:p>
        </p:txBody>
      </p:sp>
      <p:sp>
        <p:nvSpPr>
          <p:cNvPr id="45" name="依据 S001 §4, Table 2, PDF pp.20–21 重绘">
            <a:extLst>
              <a:ext uri="{FF2B5EF4-FFF2-40B4-BE49-F238E27FC236}">
                <a16:creationId xmlns:a16="http://schemas.microsoft.com/office/drawing/2014/main" id="{DFA62844-D0BC-4607-92C6-43C862C6ADCD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依据 S001 §4, Table 2, PDF pp.20–21 重绘；连线表示简化职责关系，不限定实现顺序</a:t>
            </a:r>
          </a:p>
        </p:txBody>
      </p:sp>
      <p:sp>
        <p:nvSpPr>
          <p:cNvPr id="46" name="06">
            <a:extLst>
              <a:ext uri="{FF2B5EF4-FFF2-40B4-BE49-F238E27FC236}">
                <a16:creationId xmlns:a16="http://schemas.microsoft.com/office/drawing/2014/main" id="{6913B179-3C0B-4903-9018-16D2DF4CD7B4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4027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02  Harness · Context and Memory">
            <a:extLst>
              <a:ext uri="{FF2B5EF4-FFF2-40B4-BE49-F238E27FC236}">
                <a16:creationId xmlns:a16="http://schemas.microsoft.com/office/drawing/2014/main" id="{77C97C4E-51D7-4386-93EC-F990D038419A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02  Harness · Context and Memory</a:t>
            </a:r>
          </a:p>
        </p:txBody>
      </p:sp>
      <p:sp>
        <p:nvSpPr>
          <p:cNvPr id="2" name="Context 与 Memory 共同管理决策依据">
            <a:extLst>
              <a:ext uri="{FF2B5EF4-FFF2-40B4-BE49-F238E27FC236}">
                <a16:creationId xmlns:a16="http://schemas.microsoft.com/office/drawing/2014/main" id="{34009DD5-357F-4000-B4D5-4DCEAF1EC07B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Context 与 Memory 共同管理决策依据</a:t>
            </a:r>
          </a:p>
        </p:txBody>
      </p:sp>
      <p:sp>
        <p:nvSpPr>
          <p:cNvPr id="3" name="Working Context 包含本轮可见信息，Persistent ">
            <a:extLst>
              <a:ext uri="{FF2B5EF4-FFF2-40B4-BE49-F238E27FC236}">
                <a16:creationId xmlns:a16="http://schemas.microsoft.com/office/drawing/2014/main" id="{8AA31D6D-3620-49FC-B507-012524D7403C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Working Context 包含本轮可见信息，Persistent Memory 保存跨窗口或任务的记录。</a:t>
            </a:r>
          </a:p>
        </p:txBody>
      </p:sp>
      <p:sp>
        <p:nvSpPr>
          <p:cNvPr id="4" name="Working Context">
            <a:extLst>
              <a:ext uri="{FF2B5EF4-FFF2-40B4-BE49-F238E27FC236}">
                <a16:creationId xmlns:a16="http://schemas.microsoft.com/office/drawing/2014/main" id="{67939B9A-A0DB-4616-B0E2-C49B465B55DC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Working Context</a:t>
            </a:r>
          </a:p>
        </p:txBody>
      </p:sp>
      <p:sp>
        <p:nvSpPr>
          <p:cNvPr id="5" name="本轮模型可见的信息">
            <a:extLst>
              <a:ext uri="{FF2B5EF4-FFF2-40B4-BE49-F238E27FC236}">
                <a16:creationId xmlns:a16="http://schemas.microsoft.com/office/drawing/2014/main" id="{BDD72BE5-F376-49CF-9434-21045565538C}"/>
              </a:ext>
            </a:extLst>
          </p:cNvPr>
          <p:cNvSpPr>
            <a:spLocks noGrp="1"/>
          </p:cNvSpPr>
          <p:nvPr/>
        </p:nvSpPr>
        <p:spPr>
          <a:xfrm>
            <a:off x="762000" y="3114675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本轮模型可见的信息</a:t>
            </a:r>
          </a:p>
        </p:txBody>
      </p:sp>
      <p:sp>
        <p:nvSpPr>
          <p:cNvPr id="6" name="Discard：移除低价值或过时内容&#10;Compress：保留约束、进度与">
            <a:extLst>
              <a:ext uri="{FF2B5EF4-FFF2-40B4-BE49-F238E27FC236}">
                <a16:creationId xmlns:a16="http://schemas.microsoft.com/office/drawing/2014/main" id="{15E31972-B0BE-4666-BBE9-176C6F3FF38A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504825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Discard：移除低价值或过时内容</a:t>
            </a:r>
          </a:p>
          <a:p>
            <a: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Compress：保留约束、进度与失败线索</a:t>
            </a:r>
          </a:p>
          <a:p>
            <a: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Select：按需取回相关记录</a:t>
            </a:r>
          </a:p>
        </p:txBody>
      </p:sp>
      <p:sp>
        <p:nvSpPr>
          <p:cNvPr id="7" name="Persistent Memory">
            <a:extLst>
              <a:ext uri="{FF2B5EF4-FFF2-40B4-BE49-F238E27FC236}">
                <a16:creationId xmlns:a16="http://schemas.microsoft.com/office/drawing/2014/main" id="{495410AE-FD1D-427B-9B5E-BDE0907CB222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Persistent Memory</a:t>
            </a:r>
          </a:p>
        </p:txBody>
      </p:sp>
      <p:sp>
        <p:nvSpPr>
          <p:cNvPr id="8" name="跨 Context Window / Task 保留记录">
            <a:extLst>
              <a:ext uri="{FF2B5EF4-FFF2-40B4-BE49-F238E27FC236}">
                <a16:creationId xmlns:a16="http://schemas.microsoft.com/office/drawing/2014/main" id="{F92E33EA-F93B-495E-8B5A-9E1D65F1009B}"/>
              </a:ext>
            </a:extLst>
          </p:cNvPr>
          <p:cNvSpPr>
            <a:spLocks noGrp="1"/>
          </p:cNvSpPr>
          <p:nvPr/>
        </p:nvSpPr>
        <p:spPr>
          <a:xfrm>
            <a:off x="6381750" y="3114675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跨 Context Window / Task 保留记录</a:t>
            </a:r>
          </a:p>
        </p:txBody>
      </p:sp>
      <p:sp>
        <p:nvSpPr>
          <p:cNvPr id="9" name="Factual Memory：事实、规则&#10;Experiential Me">
            <a:extLst>
              <a:ext uri="{FF2B5EF4-FFF2-40B4-BE49-F238E27FC236}">
                <a16:creationId xmlns:a16="http://schemas.microsoft.com/office/drawing/2014/main" id="{4596B5F2-8604-40DA-AAF9-43322B44CE11}"/>
              </a:ext>
            </a:extLst>
          </p:cNvPr>
          <p:cNvSpPr>
            <a:spLocks noGrp="1"/>
          </p:cNvSpPr>
          <p:nvPr/>
        </p:nvSpPr>
        <p:spPr>
          <a:xfrm>
            <a:off x="6381750" y="3752850"/>
            <a:ext cx="504825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Factual Memory：事实、规则</a:t>
            </a:r>
          </a:p>
          <a:p>
            <a: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Experiential Memory：案例、教训</a:t>
            </a:r>
          </a:p>
          <a:p>
            <a:pPr>
              <a:def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Write / Maintain / Retrieve</a:t>
            </a:r>
          </a:p>
        </p:txBody>
      </p:sp>
      <p:sp>
        <p:nvSpPr>
          <p:cNvPr id="10" name="Memory Retrieval 还需考虑记录的有效期与适用条件。">
            <a:extLst>
              <a:ext uri="{FF2B5EF4-FFF2-40B4-BE49-F238E27FC236}">
                <a16:creationId xmlns:a16="http://schemas.microsoft.com/office/drawing/2014/main" id="{CFC7F37F-F85B-4CF8-85D6-E56D4D506347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Memory Retrieval 还需考虑记录的有效期与适用条件。</a:t>
            </a:r>
          </a:p>
        </p:txBody>
      </p:sp>
      <p:sp>
        <p:nvSpPr>
          <p:cNvPr id="11" name="概念：S001 §4.2、Fig.8，PDF pp.23–26；接受条件">
            <a:extLst>
              <a:ext uri="{FF2B5EF4-FFF2-40B4-BE49-F238E27FC236}">
                <a16:creationId xmlns:a16="http://schemas.microsoft.com/office/drawing/2014/main" id="{41B89921-AA98-4ED0-B838-98DE38C450A7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概念：S001 §4.2、Fig.8，PDF pp.23–26；接受条件是跨节讨论归纳</a:t>
            </a:r>
          </a:p>
        </p:txBody>
      </p:sp>
      <p:sp>
        <p:nvSpPr>
          <p:cNvPr id="12" name="07">
            <a:extLst>
              <a:ext uri="{FF2B5EF4-FFF2-40B4-BE49-F238E27FC236}">
                <a16:creationId xmlns:a16="http://schemas.microsoft.com/office/drawing/2014/main" id="{48B9FB7E-22EC-49D7-A068-6AA5E113A266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78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2  Harness · Verification / Hooks a">
            <a:extLst>
              <a:ext uri="{FF2B5EF4-FFF2-40B4-BE49-F238E27FC236}">
                <a16:creationId xmlns:a16="http://schemas.microsoft.com/office/drawing/2014/main" id="{0A07B4C6-CABA-4C8B-A24D-1C361162F1D6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02  Harness · Verification / Hooks and Middleware</a:t>
            </a:r>
          </a:p>
        </p:txBody>
      </p:sp>
      <p:sp>
        <p:nvSpPr>
          <p:cNvPr id="2" name="Verification 形成评价，Hooks 控制执行">
            <a:extLst>
              <a:ext uri="{FF2B5EF4-FFF2-40B4-BE49-F238E27FC236}">
                <a16:creationId xmlns:a16="http://schemas.microsoft.com/office/drawing/2014/main" id="{8566A60B-6A47-4280-8499-61E81FB93708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Verification 形成评价，Hooks 控制执行</a:t>
            </a:r>
          </a:p>
        </p:txBody>
      </p:sp>
      <p:sp>
        <p:nvSpPr>
          <p:cNvPr id="3" name="检查对象可以重叠，主要区别在评价与执行控制。">
            <a:extLst>
              <a:ext uri="{FF2B5EF4-FFF2-40B4-BE49-F238E27FC236}">
                <a16:creationId xmlns:a16="http://schemas.microsoft.com/office/drawing/2014/main" id="{E6070E8E-FD90-422C-A752-D998B810DCD4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检查对象可以重叠，主要区别在评价与执行控制。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D577C63-BBDB-4AC9-A89C-B10869B007AD}"/>
              </a:ext>
            </a:extLst>
          </p:cNvPr>
          <p:cNvGraphicFramePr/>
          <p:nvPr/>
        </p:nvGraphicFramePr>
        <p:xfrm>
          <a:off x="762000" y="2114550"/>
          <a:ext cx="10668000" cy="32385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对比维度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Verification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Hooks and Middleware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核心职责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评价是否满足要求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Correctness / Safety / Faithfulness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在执行边界落实约束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Allow / Block / Hand-off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作用对象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State、Action、推理步骤与 Output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输入、Tool Call 与协议交互等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执行边界上的数据和动作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调用与干预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按检查策略调用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Step-level / End-of-run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到达预设 Lifecycle Point 时调用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满足 Policy / 风险条件时干预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结果用途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判断、评分或诊断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支持搜索、修订与验收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放行、阻止、修改、暂停或转交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直接影响后续执行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Verification 可由 Hook 调用，同一实现可同时承担评价与">
            <a:extLst>
              <a:ext uri="{FF2B5EF4-FFF2-40B4-BE49-F238E27FC236}">
                <a16:creationId xmlns:a16="http://schemas.microsoft.com/office/drawing/2014/main" id="{45F4A836-1C63-4E16-8619-207EF8F0A012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Verification 可由 Hook 调用，同一实现可同时承担评价与控制。</a:t>
            </a:r>
          </a:p>
        </p:txBody>
      </p:sp>
      <p:sp>
        <p:nvSpPr>
          <p:cNvPr id="6" name="职责对比归纳：S001 §4.5–4.6, PDF pp.31–34、3">
            <a:extLst>
              <a:ext uri="{FF2B5EF4-FFF2-40B4-BE49-F238E27FC236}">
                <a16:creationId xmlns:a16="http://schemas.microsoft.com/office/drawing/2014/main" id="{29001369-BA0B-49D9-A4C5-3C6A1BF44E2F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职责对比归纳：S001 §4.5–4.6, PDF pp.31–34、36–37</a:t>
            </a:r>
          </a:p>
        </p:txBody>
      </p:sp>
      <p:sp>
        <p:nvSpPr>
          <p:cNvPr id="7" name="08">
            <a:extLst>
              <a:ext uri="{FF2B5EF4-FFF2-40B4-BE49-F238E27FC236}">
                <a16:creationId xmlns:a16="http://schemas.microsoft.com/office/drawing/2014/main" id="{86F38DED-A58B-4473-9E61-DA5D5A785C29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0371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基于综述的拓展思考">
            <a:extLst>
              <a:ext uri="{FF2B5EF4-FFF2-40B4-BE49-F238E27FC236}">
                <a16:creationId xmlns:a16="http://schemas.microsoft.com/office/drawing/2014/main" id="{7172D63F-3782-40F2-8852-44C96B76AD48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基于综述的拓展思考</a:t>
            </a:r>
          </a:p>
        </p:txBody>
      </p:sp>
      <p:sp>
        <p:nvSpPr>
          <p:cNvPr id="2" name="共享记录应保留结论的成立条件">
            <a:extLst>
              <a:ext uri="{FF2B5EF4-FFF2-40B4-BE49-F238E27FC236}">
                <a16:creationId xmlns:a16="http://schemas.microsoft.com/office/drawing/2014/main" id="{970B4F33-A2ED-478B-BECE-374CD6FD4200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共享记录应保留结论的成立条件</a:t>
            </a:r>
          </a:p>
        </p:txBody>
      </p:sp>
      <p:sp>
        <p:nvSpPr>
          <p:cNvPr id="3" name="示意：Branch A 解读实验，Branch B 根据共享记录撰写总结">
            <a:extLst>
              <a:ext uri="{FF2B5EF4-FFF2-40B4-BE49-F238E27FC236}">
                <a16:creationId xmlns:a16="http://schemas.microsoft.com/office/drawing/2014/main" id="{BE59D6EE-1898-4AB3-9370-A9EEC4CB81A6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示意：Branch A 解读实验，Branch B 根据共享记录撰写总结。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1FD02BEC-2ADB-40C6-A12B-B7C824DEF55D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Branch A">
            <a:extLst>
              <a:ext uri="{FF2B5EF4-FFF2-40B4-BE49-F238E27FC236}">
                <a16:creationId xmlns:a16="http://schemas.microsoft.com/office/drawing/2014/main" id="{9CC3E6B2-0D8D-4B77-9DEB-67ABEFA8A0A5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Branch A</a:t>
            </a:r>
          </a:p>
        </p:txBody>
      </p:sp>
      <p:sp>
        <p:nvSpPr>
          <p:cNvPr id="6" name="假设模型与预算一致&#10;提升暂归因于 Memory">
            <a:extLst>
              <a:ext uri="{FF2B5EF4-FFF2-40B4-BE49-F238E27FC236}">
                <a16:creationId xmlns:a16="http://schemas.microsoft.com/office/drawing/2014/main" id="{530EC73E-E616-41E9-A28A-34C0E0299505}"/>
              </a:ext>
            </a:extLst>
          </p:cNvPr>
          <p:cNvSpPr>
            <a:spLocks noGrp="1"/>
          </p:cNvSpPr>
          <p:nvPr/>
        </p:nvSpPr>
        <p:spPr>
          <a:xfrm>
            <a:off x="76200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假设模型与预算一致</a:t>
            </a:r>
          </a:p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提升暂归因于 Memory</a:t>
            </a:r>
          </a:p>
        </p:txBody>
      </p:sp>
      <p:sp>
        <p:nvSpPr>
          <p:cNvPr id="7" name="带条件的候选解释">
            <a:extLst>
              <a:ext uri="{FF2B5EF4-FFF2-40B4-BE49-F238E27FC236}">
                <a16:creationId xmlns:a16="http://schemas.microsoft.com/office/drawing/2014/main" id="{538A6DF3-BA9A-45D8-B01A-490E892AD493}"/>
              </a:ext>
            </a:extLst>
          </p:cNvPr>
          <p:cNvSpPr>
            <a:spLocks noGrp="1"/>
          </p:cNvSpPr>
          <p:nvPr/>
        </p:nvSpPr>
        <p:spPr>
          <a:xfrm>
            <a:off x="76200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带条件的候选解释</a:t>
            </a: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73AAE40D-8A34-488F-AACC-FFB0E49EA3B9}"/>
              </a:ext>
            </a:extLst>
          </p:cNvPr>
          <p:cNvSpPr>
            <a:spLocks noGrp="1"/>
          </p:cNvSpPr>
          <p:nvPr/>
        </p:nvSpPr>
        <p:spPr>
          <a:xfrm>
            <a:off x="443865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写入 Memory">
            <a:extLst>
              <a:ext uri="{FF2B5EF4-FFF2-40B4-BE49-F238E27FC236}">
                <a16:creationId xmlns:a16="http://schemas.microsoft.com/office/drawing/2014/main" id="{3B90BD9A-8719-44CF-B915-530C872B4290}"/>
              </a:ext>
            </a:extLst>
          </p:cNvPr>
          <p:cNvSpPr>
            <a:spLocks noGrp="1"/>
          </p:cNvSpPr>
          <p:nvPr/>
        </p:nvSpPr>
        <p:spPr>
          <a:xfrm>
            <a:off x="443865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写入 Memory</a:t>
            </a:r>
          </a:p>
        </p:txBody>
      </p:sp>
      <p:sp>
        <p:nvSpPr>
          <p:cNvPr id="10" name="压缩后只保留&#10;“Memory 提升性能”">
            <a:extLst>
              <a:ext uri="{FF2B5EF4-FFF2-40B4-BE49-F238E27FC236}">
                <a16:creationId xmlns:a16="http://schemas.microsoft.com/office/drawing/2014/main" id="{10B26420-BFC0-45E2-80A3-FFDF83DDFBA5}"/>
              </a:ext>
            </a:extLst>
          </p:cNvPr>
          <p:cNvSpPr>
            <a:spLocks noGrp="1"/>
          </p:cNvSpPr>
          <p:nvPr/>
        </p:nvSpPr>
        <p:spPr>
          <a:xfrm>
            <a:off x="443865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压缩后只保留</a:t>
            </a:r>
          </a:p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“Memory 提升性能”</a:t>
            </a:r>
          </a:p>
        </p:txBody>
      </p:sp>
      <p:sp>
        <p:nvSpPr>
          <p:cNvPr id="11" name="原假设与判断状态丢失">
            <a:extLst>
              <a:ext uri="{FF2B5EF4-FFF2-40B4-BE49-F238E27FC236}">
                <a16:creationId xmlns:a16="http://schemas.microsoft.com/office/drawing/2014/main" id="{8F27B670-4A19-4D2B-899F-1C8DAAC3F54A}"/>
              </a:ext>
            </a:extLst>
          </p:cNvPr>
          <p:cNvSpPr>
            <a:spLocks noGrp="1"/>
          </p:cNvSpPr>
          <p:nvPr/>
        </p:nvSpPr>
        <p:spPr>
          <a:xfrm>
            <a:off x="443865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原假设与判断状态丢失</a:t>
            </a:r>
          </a:p>
        </p:txBody>
      </p:sp>
      <p:sp>
        <p:nvSpPr>
          <p:cNvPr id="12" name="03">
            <a:extLst>
              <a:ext uri="{FF2B5EF4-FFF2-40B4-BE49-F238E27FC236}">
                <a16:creationId xmlns:a16="http://schemas.microsoft.com/office/drawing/2014/main" id="{D5BCDCCF-986B-464E-912B-57228F54D9E6}"/>
              </a:ext>
            </a:extLst>
          </p:cNvPr>
          <p:cNvSpPr>
            <a:spLocks noGrp="1"/>
          </p:cNvSpPr>
          <p:nvPr/>
        </p:nvSpPr>
        <p:spPr>
          <a:xfrm>
            <a:off x="811530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Branch B">
            <a:extLst>
              <a:ext uri="{FF2B5EF4-FFF2-40B4-BE49-F238E27FC236}">
                <a16:creationId xmlns:a16="http://schemas.microsoft.com/office/drawing/2014/main" id="{C95F0365-4F4E-4869-BE5A-D084439025D9}"/>
              </a:ext>
            </a:extLst>
          </p:cNvPr>
          <p:cNvSpPr>
            <a:spLocks noGrp="1"/>
          </p:cNvSpPr>
          <p:nvPr/>
        </p:nvSpPr>
        <p:spPr>
          <a:xfrm>
            <a:off x="811530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Branch B</a:t>
            </a:r>
          </a:p>
        </p:txBody>
      </p:sp>
      <p:sp>
        <p:nvSpPr>
          <p:cNvPr id="14" name="将记录直接写成论文结论&#10;未再核对原实验条件">
            <a:extLst>
              <a:ext uri="{FF2B5EF4-FFF2-40B4-BE49-F238E27FC236}">
                <a16:creationId xmlns:a16="http://schemas.microsoft.com/office/drawing/2014/main" id="{A334D813-DAD6-4DFE-B82E-ACF9AFD4E464}"/>
              </a:ext>
            </a:extLst>
          </p:cNvPr>
          <p:cNvSpPr>
            <a:spLocks noGrp="1"/>
          </p:cNvSpPr>
          <p:nvPr/>
        </p:nvSpPr>
        <p:spPr>
          <a:xfrm>
            <a:off x="811530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将记录直接写成论文结论</a:t>
            </a:r>
          </a:p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未再核对原实验条件</a:t>
            </a:r>
          </a:p>
        </p:txBody>
      </p:sp>
      <p:sp>
        <p:nvSpPr>
          <p:cNvPr id="15" name="候选解释被当成事实">
            <a:extLst>
              <a:ext uri="{FF2B5EF4-FFF2-40B4-BE49-F238E27FC236}">
                <a16:creationId xmlns:a16="http://schemas.microsoft.com/office/drawing/2014/main" id="{7F2ED402-7764-4A5F-92A1-D39EAE3603A3}"/>
              </a:ext>
            </a:extLst>
          </p:cNvPr>
          <p:cNvSpPr>
            <a:spLocks noGrp="1"/>
          </p:cNvSpPr>
          <p:nvPr/>
        </p:nvSpPr>
        <p:spPr>
          <a:xfrm>
            <a:off x="811530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候选解释被当成事实</a:t>
            </a:r>
          </a:p>
        </p:txBody>
      </p:sp>
      <p:sp>
        <p:nvSpPr>
          <p:cNvPr id="16" name="长任务会反复复用 Memory，局部判断的误用可能沿后续决策传播。">
            <a:extLst>
              <a:ext uri="{FF2B5EF4-FFF2-40B4-BE49-F238E27FC236}">
                <a16:creationId xmlns:a16="http://schemas.microsoft.com/office/drawing/2014/main" id="{C2895727-5FE8-4E53-83DF-29A0326A8C19}"/>
              </a:ext>
            </a:extLst>
          </p:cNvPr>
          <p:cNvSpPr>
            <a:spLocks noGrp="1"/>
          </p:cNvSpPr>
          <p:nvPr/>
        </p:nvSpPr>
        <p:spPr>
          <a:xfrm>
            <a:off x="762000" y="524827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长任务会反复复用 Memory，局部判断的误用可能沿后续决策传播。</a:t>
            </a:r>
          </a:p>
        </p:txBody>
      </p:sp>
      <p:sp>
        <p:nvSpPr>
          <p:cNvPr id="17" name="共享记录要同时保留证据、成立条件和判断状态。">
            <a:extLst>
              <a:ext uri="{FF2B5EF4-FFF2-40B4-BE49-F238E27FC236}">
                <a16:creationId xmlns:a16="http://schemas.microsoft.com/office/drawing/2014/main" id="{86A615A2-3080-485A-98F9-C89214F40B64}"/>
              </a:ext>
            </a:extLst>
          </p:cNvPr>
          <p:cNvSpPr>
            <a:spLocks noGrp="1"/>
          </p:cNvSpPr>
          <p:nvPr/>
        </p:nvSpPr>
        <p:spPr>
          <a:xfrm>
            <a:off x="762000" y="589597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共享记录要同时保留证据、成立条件和判断状态。</a:t>
            </a:r>
          </a:p>
        </p:txBody>
      </p:sp>
      <p:sp>
        <p:nvSpPr>
          <p:cNvPr id="18" name="拓展思考 · 示意情境；机制依据：S001 §4.1.3 p.22、§4">
            <a:extLst>
              <a:ext uri="{FF2B5EF4-FFF2-40B4-BE49-F238E27FC236}">
                <a16:creationId xmlns:a16="http://schemas.microsoft.com/office/drawing/2014/main" id="{CC77A249-646A-4930-99C2-A6F89A99F6A6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拓展思考 · 示意情境；机制依据：S001 §4.1.3 p.22、§4.2.2 p.26、§4.4.4 pp.30–31</a:t>
            </a:r>
          </a:p>
        </p:txBody>
      </p:sp>
      <p:sp>
        <p:nvSpPr>
          <p:cNvPr id="19" name="09">
            <a:extLst>
              <a:ext uri="{FF2B5EF4-FFF2-40B4-BE49-F238E27FC236}">
                <a16:creationId xmlns:a16="http://schemas.microsoft.com/office/drawing/2014/main" id="{750807E1-9899-4774-AA54-2A47572ECD75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0571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基于综述的拓展思考">
            <a:extLst>
              <a:ext uri="{FF2B5EF4-FFF2-40B4-BE49-F238E27FC236}">
                <a16:creationId xmlns:a16="http://schemas.microsoft.com/office/drawing/2014/main" id="{F6AE84DE-6BD0-483D-87B2-270FAC026294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基于综述的拓展思考</a:t>
            </a:r>
          </a:p>
        </p:txBody>
      </p:sp>
      <p:sp>
        <p:nvSpPr>
          <p:cNvPr id="2" name="Verification 也可能改变任务的完成状态">
            <a:extLst>
              <a:ext uri="{FF2B5EF4-FFF2-40B4-BE49-F238E27FC236}">
                <a16:creationId xmlns:a16="http://schemas.microsoft.com/office/drawing/2014/main" id="{5572F565-D5D5-43F2-BC61-2AC3992BE2D7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Verification 也可能改变任务的完成状态</a:t>
            </a:r>
          </a:p>
        </p:txBody>
      </p:sp>
      <p:sp>
        <p:nvSpPr>
          <p:cNvPr id="3" name="示意：验收要求是“检查开始前，笔记文件已保存”。">
            <a:extLst>
              <a:ext uri="{FF2B5EF4-FFF2-40B4-BE49-F238E27FC236}">
                <a16:creationId xmlns:a16="http://schemas.microsoft.com/office/drawing/2014/main" id="{35CC32B4-4C6C-417F-965A-A0C85F8E4680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示意：验收要求是“检查开始前，笔记文件已保存”。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7D1D5FA1-D001-4633-90CE-EC3DD9C4BC9C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Agent 执行结束">
            <a:extLst>
              <a:ext uri="{FF2B5EF4-FFF2-40B4-BE49-F238E27FC236}">
                <a16:creationId xmlns:a16="http://schemas.microsoft.com/office/drawing/2014/main" id="{68CF8A58-1F3E-487E-AF5B-D737CADEB0AF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Agent 执行结束</a:t>
            </a:r>
          </a:p>
        </p:txBody>
      </p:sp>
      <p:sp>
        <p:nvSpPr>
          <p:cNvPr id="6" name="草稿只在内存&#10;目标文件尚未保存">
            <a:extLst>
              <a:ext uri="{FF2B5EF4-FFF2-40B4-BE49-F238E27FC236}">
                <a16:creationId xmlns:a16="http://schemas.microsoft.com/office/drawing/2014/main" id="{BB493DB2-84BF-4C74-B1D3-009C0EC95EB5}"/>
              </a:ext>
            </a:extLst>
          </p:cNvPr>
          <p:cNvSpPr>
            <a:spLocks noGrp="1"/>
          </p:cNvSpPr>
          <p:nvPr/>
        </p:nvSpPr>
        <p:spPr>
          <a:xfrm>
            <a:off x="76200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草稿只在内存</a:t>
            </a:r>
          </a:p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目标文件尚未保存</a:t>
            </a:r>
          </a:p>
        </p:txBody>
      </p:sp>
      <p:sp>
        <p:nvSpPr>
          <p:cNvPr id="7" name="尚未满足验收要求">
            <a:extLst>
              <a:ext uri="{FF2B5EF4-FFF2-40B4-BE49-F238E27FC236}">
                <a16:creationId xmlns:a16="http://schemas.microsoft.com/office/drawing/2014/main" id="{FD360516-19D4-4BC7-B055-079391BB5547}"/>
              </a:ext>
            </a:extLst>
          </p:cNvPr>
          <p:cNvSpPr>
            <a:spLocks noGrp="1"/>
          </p:cNvSpPr>
          <p:nvPr/>
        </p:nvSpPr>
        <p:spPr>
          <a:xfrm>
            <a:off x="76200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尚未满足验收要求</a:t>
            </a: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0824AD90-6291-40B1-B572-9D95FE988ECE}"/>
              </a:ext>
            </a:extLst>
          </p:cNvPr>
          <p:cNvSpPr>
            <a:spLocks noGrp="1"/>
          </p:cNvSpPr>
          <p:nvPr/>
        </p:nvSpPr>
        <p:spPr>
          <a:xfrm>
            <a:off x="443865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Verifier 介入">
            <a:extLst>
              <a:ext uri="{FF2B5EF4-FFF2-40B4-BE49-F238E27FC236}">
                <a16:creationId xmlns:a16="http://schemas.microsoft.com/office/drawing/2014/main" id="{A377E336-2485-4D86-BEFB-8E8AB57FF159}"/>
              </a:ext>
            </a:extLst>
          </p:cNvPr>
          <p:cNvSpPr>
            <a:spLocks noGrp="1"/>
          </p:cNvSpPr>
          <p:nvPr/>
        </p:nvSpPr>
        <p:spPr>
          <a:xfrm>
            <a:off x="443865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Verifier 介入</a:t>
            </a:r>
          </a:p>
        </p:txBody>
      </p:sp>
      <p:sp>
        <p:nvSpPr>
          <p:cNvPr id="10" name="检查时先保存草稿&#10;再读取文件确认">
            <a:extLst>
              <a:ext uri="{FF2B5EF4-FFF2-40B4-BE49-F238E27FC236}">
                <a16:creationId xmlns:a16="http://schemas.microsoft.com/office/drawing/2014/main" id="{30BE434B-0AAE-4939-B832-5A52E78E7FE4}"/>
              </a:ext>
            </a:extLst>
          </p:cNvPr>
          <p:cNvSpPr>
            <a:spLocks noGrp="1"/>
          </p:cNvSpPr>
          <p:nvPr/>
        </p:nvSpPr>
        <p:spPr>
          <a:xfrm>
            <a:off x="443865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检查时先保存草稿</a:t>
            </a:r>
          </a:p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再读取文件确认</a:t>
            </a:r>
          </a:p>
        </p:txBody>
      </p:sp>
      <p:sp>
        <p:nvSpPr>
          <p:cNvPr id="11" name="检查同时补做了任务">
            <a:extLst>
              <a:ext uri="{FF2B5EF4-FFF2-40B4-BE49-F238E27FC236}">
                <a16:creationId xmlns:a16="http://schemas.microsoft.com/office/drawing/2014/main" id="{613B2E78-AE89-4CDE-9552-99927CF36B36}"/>
              </a:ext>
            </a:extLst>
          </p:cNvPr>
          <p:cNvSpPr>
            <a:spLocks noGrp="1"/>
          </p:cNvSpPr>
          <p:nvPr/>
        </p:nvSpPr>
        <p:spPr>
          <a:xfrm>
            <a:off x="443865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检查同时补做了任务</a:t>
            </a:r>
          </a:p>
        </p:txBody>
      </p:sp>
      <p:sp>
        <p:nvSpPr>
          <p:cNvPr id="12" name="03">
            <a:extLst>
              <a:ext uri="{FF2B5EF4-FFF2-40B4-BE49-F238E27FC236}">
                <a16:creationId xmlns:a16="http://schemas.microsoft.com/office/drawing/2014/main" id="{6427C89A-0B31-4152-992E-8C23715962F8}"/>
              </a:ext>
            </a:extLst>
          </p:cNvPr>
          <p:cNvSpPr>
            <a:spLocks noGrp="1"/>
          </p:cNvSpPr>
          <p:nvPr/>
        </p:nvSpPr>
        <p:spPr>
          <a:xfrm>
            <a:off x="811530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汇总结果">
            <a:extLst>
              <a:ext uri="{FF2B5EF4-FFF2-40B4-BE49-F238E27FC236}">
                <a16:creationId xmlns:a16="http://schemas.microsoft.com/office/drawing/2014/main" id="{C4835D45-CFEB-4852-84FB-B02B993A7D7D}"/>
              </a:ext>
            </a:extLst>
          </p:cNvPr>
          <p:cNvSpPr>
            <a:spLocks noGrp="1"/>
          </p:cNvSpPr>
          <p:nvPr/>
        </p:nvSpPr>
        <p:spPr>
          <a:xfrm>
            <a:off x="811530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汇总结果</a:t>
            </a:r>
          </a:p>
        </p:txBody>
      </p:sp>
      <p:sp>
        <p:nvSpPr>
          <p:cNvPr id="14" name="若只报告“任务完成”&#10;就会掩盖这次补做">
            <a:extLst>
              <a:ext uri="{FF2B5EF4-FFF2-40B4-BE49-F238E27FC236}">
                <a16:creationId xmlns:a16="http://schemas.microsoft.com/office/drawing/2014/main" id="{881E79B1-D486-4525-8834-BDF496FCC74D}"/>
              </a:ext>
            </a:extLst>
          </p:cNvPr>
          <p:cNvSpPr>
            <a:spLocks noGrp="1"/>
          </p:cNvSpPr>
          <p:nvPr/>
        </p:nvSpPr>
        <p:spPr>
          <a:xfrm>
            <a:off x="811530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若只报告“任务完成”</a:t>
            </a:r>
          </a:p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就会掩盖这次补做</a:t>
            </a:r>
          </a:p>
        </p:txBody>
      </p:sp>
      <p:sp>
        <p:nvSpPr>
          <p:cNvPr id="15" name="完成结果包含介入贡献">
            <a:extLst>
              <a:ext uri="{FF2B5EF4-FFF2-40B4-BE49-F238E27FC236}">
                <a16:creationId xmlns:a16="http://schemas.microsoft.com/office/drawing/2014/main" id="{975499DF-688D-4194-A8D5-FB715AB41781}"/>
              </a:ext>
            </a:extLst>
          </p:cNvPr>
          <p:cNvSpPr>
            <a:spLocks noGrp="1"/>
          </p:cNvSpPr>
          <p:nvPr/>
        </p:nvSpPr>
        <p:spPr>
          <a:xfrm>
            <a:off x="811530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完成结果包含介入贡献</a:t>
            </a:r>
          </a:p>
        </p:txBody>
      </p:sp>
      <p:sp>
        <p:nvSpPr>
          <p:cNvPr id="16" name="Verifier 能调用 Tool 时，验收过程也可能改变被评价的结果。">
            <a:extLst>
              <a:ext uri="{FF2B5EF4-FFF2-40B4-BE49-F238E27FC236}">
                <a16:creationId xmlns:a16="http://schemas.microsoft.com/office/drawing/2014/main" id="{39393B82-BCDD-4B54-9421-1C4BEF3D10EA}"/>
              </a:ext>
            </a:extLst>
          </p:cNvPr>
          <p:cNvSpPr>
            <a:spLocks noGrp="1"/>
          </p:cNvSpPr>
          <p:nvPr/>
        </p:nvSpPr>
        <p:spPr>
          <a:xfrm>
            <a:off x="762000" y="524827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Verifier 能调用 Tool 时，验收过程也可能改变被评价的结果。</a:t>
            </a:r>
          </a:p>
        </p:txBody>
      </p:sp>
      <p:sp>
        <p:nvSpPr>
          <p:cNvPr id="17" name="记录介入前后的达标状态，区分原执行与检查修复的贡献。">
            <a:extLst>
              <a:ext uri="{FF2B5EF4-FFF2-40B4-BE49-F238E27FC236}">
                <a16:creationId xmlns:a16="http://schemas.microsoft.com/office/drawing/2014/main" id="{A0552A5D-A9E4-4372-A166-E08DBAB46B37}"/>
              </a:ext>
            </a:extLst>
          </p:cNvPr>
          <p:cNvSpPr>
            <a:spLocks noGrp="1"/>
          </p:cNvSpPr>
          <p:nvPr/>
        </p:nvSpPr>
        <p:spPr>
          <a:xfrm>
            <a:off x="762000" y="589597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记录介入前后的达标状态，区分原执行与检查修复的贡献。</a:t>
            </a:r>
          </a:p>
        </p:txBody>
      </p:sp>
      <p:sp>
        <p:nvSpPr>
          <p:cNvPr id="18" name="拓展思考 · 示意情境；机制依据：S001 §4.6.2, PDF p.">
            <a:extLst>
              <a:ext uri="{FF2B5EF4-FFF2-40B4-BE49-F238E27FC236}">
                <a16:creationId xmlns:a16="http://schemas.microsoft.com/office/drawing/2014/main" id="{9E3784A3-10E2-4104-BB4C-CE7379BFBB8F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拓展思考 · 示意情境；机制依据：S001 §4.6.2, PDF p.36；讨论记录 §C.3</a:t>
            </a:r>
          </a:p>
        </p:txBody>
      </p:sp>
      <p:sp>
        <p:nvSpPr>
          <p:cNvPr id="19" name="10">
            <a:extLst>
              <a:ext uri="{FF2B5EF4-FFF2-40B4-BE49-F238E27FC236}">
                <a16:creationId xmlns:a16="http://schemas.microsoft.com/office/drawing/2014/main" id="{D051102E-BE3B-496B-8480-CEA11979FD12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1516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3  Model Optimization · 总览">
            <a:extLst>
              <a:ext uri="{FF2B5EF4-FFF2-40B4-BE49-F238E27FC236}">
                <a16:creationId xmlns:a16="http://schemas.microsoft.com/office/drawing/2014/main" id="{36A687A6-7FE0-42CD-AD4B-F3F2086CA40E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03  Model Optimization · 总览</a:t>
            </a:r>
          </a:p>
        </p:txBody>
      </p:sp>
      <p:sp>
        <p:nvSpPr>
          <p:cNvPr id="2" name="Model Optimization：能力怎样进入策略">
            <a:extLst>
              <a:ext uri="{FF2B5EF4-FFF2-40B4-BE49-F238E27FC236}">
                <a16:creationId xmlns:a16="http://schemas.microsoft.com/office/drawing/2014/main" id="{E8C2E345-6397-42B5-A302-67A195D34D59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Model Optimization：能力怎样进入策略</a:t>
            </a:r>
          </a:p>
        </p:txBody>
      </p:sp>
      <p:sp>
        <p:nvSpPr>
          <p:cNvPr id="3" name="按作用重组第 5 章：训练条件、能力形成与经验改进循环。">
            <a:extLst>
              <a:ext uri="{FF2B5EF4-FFF2-40B4-BE49-F238E27FC236}">
                <a16:creationId xmlns:a16="http://schemas.microsoft.com/office/drawing/2014/main" id="{5BE37FEC-8645-4341-9097-16A9FC7F8047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按作用重组第 5 章：训练条件、能力形成与经验改进循环。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0E1075B-279C-4956-97F4-E68A038538F1}"/>
              </a:ext>
            </a:extLst>
          </p:cNvPr>
          <p:cNvGraphicFramePr/>
          <p:nvPr/>
        </p:nvGraphicFramePr>
        <p:xfrm>
          <a:off x="762000" y="2114550"/>
          <a:ext cx="10668000" cy="32385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综述中的环节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核心作用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训练条件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Architectural Substrate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 and Environment Synthesis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承载长历史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提供可执行、可验证的经验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能力基础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Pre-training / Mid-training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形成推理、状态利用与感知基础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行为适配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Fine-tuning / Agentic RL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On-Policy Distillation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利用示范、回报与指导更新策略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关注实际访问的状态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经验改进循环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Self-evolution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把当前表现转成下一轮经验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可进一步调整任务与环境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这些环节可组合；章节顺序不规定每个系统的训练顺序。">
            <a:extLst>
              <a:ext uri="{FF2B5EF4-FFF2-40B4-BE49-F238E27FC236}">
                <a16:creationId xmlns:a16="http://schemas.microsoft.com/office/drawing/2014/main" id="{391FF3A8-98C5-4C12-9846-D1A2726F875C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这些环节可组合；章节顺序不规定每个系统的训练顺序。</a:t>
            </a:r>
          </a:p>
        </p:txBody>
      </p:sp>
      <p:sp>
        <p:nvSpPr>
          <p:cNvPr id="6" name="综述依据：S001 §5、Table 5、Fig.11，PDF pp.37–55；层次划分">
            <a:extLst>
              <a:ext uri="{FF2B5EF4-FFF2-40B4-BE49-F238E27FC236}">
                <a16:creationId xmlns:a16="http://schemas.microsoft.com/office/drawing/2014/main" id="{BD83021C-4A35-4C4A-929B-7AD53107A839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综述依据：S001 §5、Table 5、Fig.11，PDF pp.37–55；层次划分为本库教学归纳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B6A5471A-D689-4BD7-88A6-FE7BE8AB46D7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350" b="0">
              <a:solidFill>
                <a:srgbClr val="59516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40329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03  Model Optimization · 关系图">
            <a:extLst>
              <a:ext uri="{FF2B5EF4-FFF2-40B4-BE49-F238E27FC236}">
                <a16:creationId xmlns:a16="http://schemas.microsoft.com/office/drawing/2014/main" id="{5C11D630-5D9E-4327-A0A8-ACEC4AE38603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03  Model Optimization · 关系图</a:t>
            </a:r>
          </a:p>
        </p:txBody>
      </p:sp>
      <p:sp>
        <p:nvSpPr>
          <p:cNvPr id="2" name="训练更新与经验反馈的关系">
            <a:extLst>
              <a:ext uri="{FF2B5EF4-FFF2-40B4-BE49-F238E27FC236}">
                <a16:creationId xmlns:a16="http://schemas.microsoft.com/office/drawing/2014/main" id="{48A3BEDC-267F-48B1-8296-D349CA76191C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训练更新与经验反馈的关系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0F39AF-A676-46AE-B634-C7BE2A1043E5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10668000" cy="590550"/>
          </a:xfrm>
          <a:prstGeom prst="rect">
            <a:avLst/>
          </a:prstGeom>
          <a:solidFill>
            <a:srgbClr val="E2DAF1"/>
          </a:solidFill>
          <a:ln w="14288">
            <a:solidFill>
              <a:srgbClr val="BCAED1"/>
            </a:solidFill>
          </a:ln>
        </p:spPr>
      </p:sp>
      <p:sp>
        <p:nvSpPr>
          <p:cNvPr id="4" name="Architectural Substrate">
            <a:extLst>
              <a:ext uri="{FF2B5EF4-FFF2-40B4-BE49-F238E27FC236}">
                <a16:creationId xmlns:a16="http://schemas.microsoft.com/office/drawing/2014/main" id="{ACCE66E4-56CE-4574-8566-98DD56F9112A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Architectural Substrate</a:t>
            </a:r>
          </a:p>
        </p:txBody>
      </p:sp>
      <p:sp>
        <p:nvSpPr>
          <p:cNvPr id="5" name="支撑长历史的表示、处理与训练计算">
            <a:extLst>
              <a:ext uri="{FF2B5EF4-FFF2-40B4-BE49-F238E27FC236}">
                <a16:creationId xmlns:a16="http://schemas.microsoft.com/office/drawing/2014/main" id="{F6A5E1D4-2534-4C2C-A105-2AD48C013596}"/>
              </a:ext>
            </a:extLst>
          </p:cNvPr>
          <p:cNvSpPr>
            <a:spLocks noGrp="1"/>
          </p:cNvSpPr>
          <p:nvPr/>
        </p:nvSpPr>
        <p:spPr>
          <a:xfrm>
            <a:off x="4857750" y="1752600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支撑长历史的表示、处理与训练计算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FE80CC-5B2D-4565-9678-724BDFDE9AEE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857500" cy="1343025"/>
          </a:xfrm>
          <a:prstGeom prst="rect">
            <a:avLst/>
          </a:prstGeom>
          <a:solidFill>
            <a:srgbClr val="FFFFFF"/>
          </a:solidFill>
          <a:ln w="14288">
            <a:solidFill>
              <a:srgbClr val="6638A5"/>
            </a:solidFill>
          </a:ln>
        </p:spPr>
      </p:sp>
      <p:sp>
        <p:nvSpPr>
          <p:cNvPr id="7" name="Data &amp; Environment">
            <a:extLst>
              <a:ext uri="{FF2B5EF4-FFF2-40B4-BE49-F238E27FC236}">
                <a16:creationId xmlns:a16="http://schemas.microsoft.com/office/drawing/2014/main" id="{1454F25D-3CA2-4E47-B2D3-88DF9F7DAA84}"/>
              </a:ext>
            </a:extLst>
          </p:cNvPr>
          <p:cNvSpPr>
            <a:spLocks noGrp="1"/>
          </p:cNvSpPr>
          <p:nvPr/>
        </p:nvSpPr>
        <p:spPr>
          <a:xfrm>
            <a:off x="876300" y="29241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Data &amp; Environment</a:t>
            </a:r>
          </a:p>
        </p:txBody>
      </p:sp>
      <p:sp>
        <p:nvSpPr>
          <p:cNvPr id="8" name="任务、环境、轨迹&#10;可学经验与反馈">
            <a:extLst>
              <a:ext uri="{FF2B5EF4-FFF2-40B4-BE49-F238E27FC236}">
                <a16:creationId xmlns:a16="http://schemas.microsoft.com/office/drawing/2014/main" id="{B75F4B10-F175-46F4-846F-D9A6E0BB317B}"/>
              </a:ext>
            </a:extLst>
          </p:cNvPr>
          <p:cNvSpPr>
            <a:spLocks noGrp="1"/>
          </p:cNvSpPr>
          <p:nvPr/>
        </p:nvSpPr>
        <p:spPr>
          <a:xfrm>
            <a:off x="904875" y="33528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任务、环境、轨迹</a:t>
            </a:r>
          </a:p>
          <a:p>
            <a: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可学经验与反馈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46D2D7-6E53-4E01-B087-036BEDD4B313}"/>
              </a:ext>
            </a:extLst>
          </p:cNvPr>
          <p:cNvSpPr>
            <a:spLocks noGrp="1"/>
          </p:cNvSpPr>
          <p:nvPr/>
        </p:nvSpPr>
        <p:spPr>
          <a:xfrm>
            <a:off x="4667250" y="2781300"/>
            <a:ext cx="2857500" cy="1343025"/>
          </a:xfrm>
          <a:prstGeom prst="rect">
            <a:avLst/>
          </a:prstGeom>
          <a:solidFill>
            <a:srgbClr val="FFFFFF"/>
          </a:solidFill>
          <a:ln w="14288">
            <a:solidFill>
              <a:srgbClr val="6638A5"/>
            </a:solidFill>
          </a:ln>
        </p:spPr>
      </p:sp>
      <p:sp>
        <p:nvSpPr>
          <p:cNvPr id="10" name="学习与更新">
            <a:extLst>
              <a:ext uri="{FF2B5EF4-FFF2-40B4-BE49-F238E27FC236}">
                <a16:creationId xmlns:a16="http://schemas.microsoft.com/office/drawing/2014/main" id="{B1DD70E4-FCAA-4135-A7B6-770DD02DDA6B}"/>
              </a:ext>
            </a:extLst>
          </p:cNvPr>
          <p:cNvSpPr>
            <a:spLocks noGrp="1"/>
          </p:cNvSpPr>
          <p:nvPr/>
        </p:nvSpPr>
        <p:spPr>
          <a:xfrm>
            <a:off x="4781550" y="29241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学习与更新</a:t>
            </a:r>
          </a:p>
        </p:txBody>
      </p:sp>
      <p:sp>
        <p:nvSpPr>
          <p:cNvPr id="11" name="Pre/Mid-training&#10;SFT · RL · OPD">
            <a:extLst>
              <a:ext uri="{FF2B5EF4-FFF2-40B4-BE49-F238E27FC236}">
                <a16:creationId xmlns:a16="http://schemas.microsoft.com/office/drawing/2014/main" id="{67811A3F-AC47-4F72-9D35-8EE2D5C7AC8F}"/>
              </a:ext>
            </a:extLst>
          </p:cNvPr>
          <p:cNvSpPr>
            <a:spLocks noGrp="1"/>
          </p:cNvSpPr>
          <p:nvPr/>
        </p:nvSpPr>
        <p:spPr>
          <a:xfrm>
            <a:off x="4810125" y="33528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Pre/Mid-training</a:t>
            </a:r>
          </a:p>
          <a:p>
            <a: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SFT · RL · OPD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E2FDAE-7CE8-4033-8447-2B061FD9DA15}"/>
              </a:ext>
            </a:extLst>
          </p:cNvPr>
          <p:cNvSpPr>
            <a:spLocks noGrp="1"/>
          </p:cNvSpPr>
          <p:nvPr/>
        </p:nvSpPr>
        <p:spPr>
          <a:xfrm>
            <a:off x="8572500" y="2781300"/>
            <a:ext cx="2857500" cy="1343025"/>
          </a:xfrm>
          <a:prstGeom prst="rect">
            <a:avLst/>
          </a:prstGeom>
          <a:solidFill>
            <a:srgbClr val="29204F"/>
          </a:solidFill>
          <a:ln w="14288">
            <a:solidFill>
              <a:srgbClr val="6638A5"/>
            </a:solidFill>
          </a:ln>
        </p:spPr>
      </p:sp>
      <p:sp>
        <p:nvSpPr>
          <p:cNvPr id="13" name="Updated Policy">
            <a:extLst>
              <a:ext uri="{FF2B5EF4-FFF2-40B4-BE49-F238E27FC236}">
                <a16:creationId xmlns:a16="http://schemas.microsoft.com/office/drawing/2014/main" id="{8BDC2AD0-BDAD-48A1-9B05-30145EEC4FAA}"/>
              </a:ext>
            </a:extLst>
          </p:cNvPr>
          <p:cNvSpPr>
            <a:spLocks noGrp="1"/>
          </p:cNvSpPr>
          <p:nvPr/>
        </p:nvSpPr>
        <p:spPr>
          <a:xfrm>
            <a:off x="8686800" y="29241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Updated Policy</a:t>
            </a:r>
          </a:p>
        </p:txBody>
      </p:sp>
      <p:sp>
        <p:nvSpPr>
          <p:cNvPr id="14" name="参数或可训练模块&#10;形成新的行为策略">
            <a:extLst>
              <a:ext uri="{FF2B5EF4-FFF2-40B4-BE49-F238E27FC236}">
                <a16:creationId xmlns:a16="http://schemas.microsoft.com/office/drawing/2014/main" id="{CC34405A-8930-4966-8CAD-F24298C3B03A}"/>
              </a:ext>
            </a:extLst>
          </p:cNvPr>
          <p:cNvSpPr>
            <a:spLocks noGrp="1"/>
          </p:cNvSpPr>
          <p:nvPr/>
        </p:nvSpPr>
        <p:spPr>
          <a:xfrm>
            <a:off x="8715375" y="33528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rPr>
              <a:t>参数或可训练模块</a:t>
            </a:r>
          </a:p>
          <a:p>
            <a: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rPr>
              <a:t>形成新的行为策略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BD35429-DA22-4D12-A821-E070609C054F}"/>
              </a:ext>
            </a:extLst>
          </p:cNvPr>
          <p:cNvCxnSpPr/>
          <p:nvPr/>
        </p:nvCxnSpPr>
        <p:spPr>
          <a:xfrm>
            <a:off x="3619500" y="3438525"/>
            <a:ext cx="1047750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tailEnd type="triangle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008822EC-BE5C-46CE-871B-6055FDE67462}"/>
              </a:ext>
            </a:extLst>
          </p:cNvPr>
          <p:cNvSpPr>
            <a:spLocks noGrp="1"/>
          </p:cNvSpPr>
          <p:nvPr/>
        </p:nvSpPr>
        <p:spPr>
          <a:xfrm>
            <a:off x="3619500" y="3086100"/>
            <a:ext cx="1047750" cy="295275"/>
          </a:xfrm>
          <a:prstGeom prst="rect">
            <a:avLst/>
          </a:prstGeom>
          <a:solidFill>
            <a:srgbClr val="F1EDF8"/>
          </a:solidFill>
          <a:ln w="14288">
            <a:solidFill>
              <a:srgbClr val="F1EDF8"/>
            </a:solidFill>
          </a:ln>
        </p:spPr>
      </p:sp>
      <p:sp>
        <p:nvSpPr>
          <p:cNvPr id="17" name="经验与信号">
            <a:extLst>
              <a:ext uri="{FF2B5EF4-FFF2-40B4-BE49-F238E27FC236}">
                <a16:creationId xmlns:a16="http://schemas.microsoft.com/office/drawing/2014/main" id="{57FD15F7-8549-4BA3-B876-82261B700B96}"/>
              </a:ext>
            </a:extLst>
          </p:cNvPr>
          <p:cNvSpPr>
            <a:spLocks noGrp="1"/>
          </p:cNvSpPr>
          <p:nvPr/>
        </p:nvSpPr>
        <p:spPr>
          <a:xfrm>
            <a:off x="3619500" y="3086100"/>
            <a:ext cx="1047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经验与信号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BE02D97-AF8A-4E2E-BF59-0A1D15BE4B25}"/>
              </a:ext>
            </a:extLst>
          </p:cNvPr>
          <p:cNvCxnSpPr/>
          <p:nvPr/>
        </p:nvCxnSpPr>
        <p:spPr>
          <a:xfrm>
            <a:off x="7524750" y="3438525"/>
            <a:ext cx="1047750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9A861CF-CDC5-477F-B3A8-2E6B694919A5}"/>
              </a:ext>
            </a:extLst>
          </p:cNvPr>
          <p:cNvSpPr>
            <a:spLocks noGrp="1"/>
          </p:cNvSpPr>
          <p:nvPr/>
        </p:nvSpPr>
        <p:spPr>
          <a:xfrm>
            <a:off x="7639050" y="3086100"/>
            <a:ext cx="809625" cy="295275"/>
          </a:xfrm>
          <a:prstGeom prst="rect">
            <a:avLst/>
          </a:prstGeom>
          <a:solidFill>
            <a:srgbClr val="F1EDF8"/>
          </a:solidFill>
          <a:ln w="14288">
            <a:solidFill>
              <a:srgbClr val="F1EDF8"/>
            </a:solidFill>
          </a:ln>
        </p:spPr>
      </p:sp>
      <p:sp>
        <p:nvSpPr>
          <p:cNvPr id="20" name="更新">
            <a:extLst>
              <a:ext uri="{FF2B5EF4-FFF2-40B4-BE49-F238E27FC236}">
                <a16:creationId xmlns:a16="http://schemas.microsoft.com/office/drawing/2014/main" id="{D558144C-948A-40F2-BADA-6AFC71EB0754}"/>
              </a:ext>
            </a:extLst>
          </p:cNvPr>
          <p:cNvSpPr>
            <a:spLocks noGrp="1"/>
          </p:cNvSpPr>
          <p:nvPr/>
        </p:nvSpPr>
        <p:spPr>
          <a:xfrm>
            <a:off x="7639050" y="3086100"/>
            <a:ext cx="809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更新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7CD00A-46B8-4AEA-890B-615E9BC0F33C}"/>
              </a:ext>
            </a:extLst>
          </p:cNvPr>
          <p:cNvSpPr>
            <a:spLocks noGrp="1"/>
          </p:cNvSpPr>
          <p:nvPr/>
        </p:nvSpPr>
        <p:spPr>
          <a:xfrm>
            <a:off x="4667250" y="4619625"/>
            <a:ext cx="2857500" cy="1104900"/>
          </a:xfrm>
          <a:prstGeom prst="rect">
            <a:avLst/>
          </a:prstGeom>
          <a:solidFill>
            <a:srgbClr val="FFFFFF"/>
          </a:solidFill>
          <a:ln w="14288">
            <a:solidFill>
              <a:srgbClr val="6638A5"/>
            </a:solidFill>
          </a:ln>
        </p:spPr>
      </p:sp>
      <p:sp>
        <p:nvSpPr>
          <p:cNvPr id="22" name="经验筛选与验证">
            <a:extLst>
              <a:ext uri="{FF2B5EF4-FFF2-40B4-BE49-F238E27FC236}">
                <a16:creationId xmlns:a16="http://schemas.microsoft.com/office/drawing/2014/main" id="{310DC9E4-D08D-4FF0-936C-0CF750228347}"/>
              </a:ext>
            </a:extLst>
          </p:cNvPr>
          <p:cNvSpPr>
            <a:spLocks noGrp="1"/>
          </p:cNvSpPr>
          <p:nvPr/>
        </p:nvSpPr>
        <p:spPr>
          <a:xfrm>
            <a:off x="4781550" y="4762500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经验筛选与验证</a:t>
            </a:r>
          </a:p>
        </p:txBody>
      </p:sp>
      <p:sp>
        <p:nvSpPr>
          <p:cNvPr id="23" name="成功、失败与恢复记录">
            <a:extLst>
              <a:ext uri="{FF2B5EF4-FFF2-40B4-BE49-F238E27FC236}">
                <a16:creationId xmlns:a16="http://schemas.microsoft.com/office/drawing/2014/main" id="{5C95D3DB-CD32-45B0-B1BD-38ECC5C4DDC4}"/>
              </a:ext>
            </a:extLst>
          </p:cNvPr>
          <p:cNvSpPr>
            <a:spLocks noGrp="1"/>
          </p:cNvSpPr>
          <p:nvPr/>
        </p:nvSpPr>
        <p:spPr>
          <a:xfrm>
            <a:off x="4810125" y="5191125"/>
            <a:ext cx="2571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成功、失败与恢复记录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F55FD5-34CE-4B57-B3DC-CA2A63DC2178}"/>
              </a:ext>
            </a:extLst>
          </p:cNvPr>
          <p:cNvSpPr>
            <a:spLocks noGrp="1"/>
          </p:cNvSpPr>
          <p:nvPr/>
        </p:nvSpPr>
        <p:spPr>
          <a:xfrm>
            <a:off x="8572500" y="4619625"/>
            <a:ext cx="2857500" cy="1104900"/>
          </a:xfrm>
          <a:prstGeom prst="rect">
            <a:avLst/>
          </a:prstGeom>
          <a:solidFill>
            <a:srgbClr val="FFFFFF"/>
          </a:solidFill>
          <a:ln w="14288">
            <a:solidFill>
              <a:srgbClr val="6638A5"/>
            </a:solidFill>
          </a:ln>
        </p:spPr>
      </p:sp>
      <p:sp>
        <p:nvSpPr>
          <p:cNvPr id="25" name="策略执行">
            <a:extLst>
              <a:ext uri="{FF2B5EF4-FFF2-40B4-BE49-F238E27FC236}">
                <a16:creationId xmlns:a16="http://schemas.microsoft.com/office/drawing/2014/main" id="{84DA24D7-9376-43BF-9DA6-27EC24BFB9F2}"/>
              </a:ext>
            </a:extLst>
          </p:cNvPr>
          <p:cNvSpPr>
            <a:spLocks noGrp="1"/>
          </p:cNvSpPr>
          <p:nvPr/>
        </p:nvSpPr>
        <p:spPr>
          <a:xfrm>
            <a:off x="8686800" y="4762500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策略执行</a:t>
            </a:r>
          </a:p>
        </p:txBody>
      </p:sp>
      <p:sp>
        <p:nvSpPr>
          <p:cNvPr id="26" name="Harness + Environment">
            <a:extLst>
              <a:ext uri="{FF2B5EF4-FFF2-40B4-BE49-F238E27FC236}">
                <a16:creationId xmlns:a16="http://schemas.microsoft.com/office/drawing/2014/main" id="{2FD0E15E-A317-4D77-B436-68526CC2E855}"/>
              </a:ext>
            </a:extLst>
          </p:cNvPr>
          <p:cNvSpPr>
            <a:spLocks noGrp="1"/>
          </p:cNvSpPr>
          <p:nvPr/>
        </p:nvSpPr>
        <p:spPr>
          <a:xfrm>
            <a:off x="8715375" y="5191125"/>
            <a:ext cx="2571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Harness + Environment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74E5597-D01D-49BF-91AD-C02F4BCBEDFC}"/>
              </a:ext>
            </a:extLst>
          </p:cNvPr>
          <p:cNvCxnSpPr/>
          <p:nvPr/>
        </p:nvCxnSpPr>
        <p:spPr>
          <a:xfrm>
            <a:off x="10001250" y="4124325"/>
            <a:ext cx="0" cy="49530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tailEnd type="triangle" w="med" len="med"/>
          </a:ln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5C5D6AA-6CFA-4459-9583-3F5ADBA3C45B}"/>
              </a:ext>
            </a:extLst>
          </p:cNvPr>
          <p:cNvCxnSpPr/>
          <p:nvPr/>
        </p:nvCxnSpPr>
        <p:spPr>
          <a:xfrm>
            <a:off x="7524750" y="5172075"/>
            <a:ext cx="1047750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headEnd type="triangle" w="med" len="med"/>
          </a:ln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CC112A4C-368C-45A0-9572-81E1D17A002C}"/>
              </a:ext>
            </a:extLst>
          </p:cNvPr>
          <p:cNvSpPr>
            <a:spLocks noGrp="1"/>
          </p:cNvSpPr>
          <p:nvPr/>
        </p:nvSpPr>
        <p:spPr>
          <a:xfrm>
            <a:off x="7600950" y="4829175"/>
            <a:ext cx="904875" cy="295275"/>
          </a:xfrm>
          <a:prstGeom prst="rect">
            <a:avLst/>
          </a:prstGeom>
          <a:solidFill>
            <a:srgbClr val="F1EDF8"/>
          </a:solidFill>
          <a:ln w="14288">
            <a:solidFill>
              <a:srgbClr val="F1EDF8"/>
            </a:solidFill>
          </a:ln>
        </p:spPr>
      </p:sp>
      <p:sp>
        <p:nvSpPr>
          <p:cNvPr id="30" name="交互记录">
            <a:extLst>
              <a:ext uri="{FF2B5EF4-FFF2-40B4-BE49-F238E27FC236}">
                <a16:creationId xmlns:a16="http://schemas.microsoft.com/office/drawing/2014/main" id="{8432D1F3-26F6-4E0D-AB5D-0F50837DF67D}"/>
              </a:ext>
            </a:extLst>
          </p:cNvPr>
          <p:cNvSpPr>
            <a:spLocks noGrp="1"/>
          </p:cNvSpPr>
          <p:nvPr/>
        </p:nvSpPr>
        <p:spPr>
          <a:xfrm>
            <a:off x="7600950" y="4829175"/>
            <a:ext cx="904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交互记录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A89083C-66DD-4486-99BE-1A3C2C0B62D7}"/>
              </a:ext>
            </a:extLst>
          </p:cNvPr>
          <p:cNvCxnSpPr/>
          <p:nvPr/>
        </p:nvCxnSpPr>
        <p:spPr>
          <a:xfrm>
            <a:off x="2190750" y="5172075"/>
            <a:ext cx="2476500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371E5BE-9D7F-49F9-A67B-9DB1CFE2E282}"/>
              </a:ext>
            </a:extLst>
          </p:cNvPr>
          <p:cNvCxnSpPr/>
          <p:nvPr/>
        </p:nvCxnSpPr>
        <p:spPr>
          <a:xfrm>
            <a:off x="2190750" y="4124325"/>
            <a:ext cx="0" cy="104775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headEnd type="triangle" w="med" len="med"/>
          </a:ln>
        </p:spPr>
      </p:cxnSp>
      <p:sp>
        <p:nvSpPr>
          <p:cNvPr id="33" name="Self-evolution">
            <a:extLst>
              <a:ext uri="{FF2B5EF4-FFF2-40B4-BE49-F238E27FC236}">
                <a16:creationId xmlns:a16="http://schemas.microsoft.com/office/drawing/2014/main" id="{6A9261E1-C567-4ED7-AE59-6B9AF80A1321}"/>
              </a:ext>
            </a:extLst>
          </p:cNvPr>
          <p:cNvSpPr>
            <a:spLocks noGrp="1"/>
          </p:cNvSpPr>
          <p:nvPr/>
        </p:nvSpPr>
        <p:spPr>
          <a:xfrm>
            <a:off x="762000" y="55054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Self-evolution</a:t>
            </a:r>
          </a:p>
        </p:txBody>
      </p:sp>
      <p:sp>
        <p:nvSpPr>
          <p:cNvPr id="34" name="组织下一轮经验生产与学习">
            <a:extLst>
              <a:ext uri="{FF2B5EF4-FFF2-40B4-BE49-F238E27FC236}">
                <a16:creationId xmlns:a16="http://schemas.microsoft.com/office/drawing/2014/main" id="{19320230-F21E-41E9-AD94-C155748D4778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组织下一轮经验生产与学习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D89FCBE-3FE0-44CD-9524-D48BB69B9380}"/>
              </a:ext>
            </a:extLst>
          </p:cNvPr>
          <p:cNvSpPr>
            <a:spLocks noGrp="1"/>
          </p:cNvSpPr>
          <p:nvPr/>
        </p:nvSpPr>
        <p:spPr>
          <a:xfrm>
            <a:off x="923925" y="4810125"/>
            <a:ext cx="2533650" cy="295275"/>
          </a:xfrm>
          <a:prstGeom prst="rect">
            <a:avLst/>
          </a:prstGeom>
          <a:solidFill>
            <a:srgbClr val="F1EDF8"/>
          </a:solidFill>
          <a:ln w="14288">
            <a:solidFill>
              <a:srgbClr val="F1EDF8"/>
            </a:solidFill>
          </a:ln>
        </p:spPr>
      </p:sp>
      <p:sp>
        <p:nvSpPr>
          <p:cNvPr id="36" name="回写经验／调整任务">
            <a:extLst>
              <a:ext uri="{FF2B5EF4-FFF2-40B4-BE49-F238E27FC236}">
                <a16:creationId xmlns:a16="http://schemas.microsoft.com/office/drawing/2014/main" id="{05EBEE47-F9C3-42FB-BF87-432F9C506980}"/>
              </a:ext>
            </a:extLst>
          </p:cNvPr>
          <p:cNvSpPr>
            <a:spLocks noGrp="1"/>
          </p:cNvSpPr>
          <p:nvPr/>
        </p:nvSpPr>
        <p:spPr>
          <a:xfrm>
            <a:off x="923925" y="4810125"/>
            <a:ext cx="2533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回写经验／调整任务</a:t>
            </a:r>
          </a:p>
        </p:txBody>
      </p:sp>
      <p:sp>
        <p:nvSpPr>
          <p:cNvPr id="37" name="记录进入训练更新，才构成图示的内化循环">
            <a:extLst>
              <a:ext uri="{FF2B5EF4-FFF2-40B4-BE49-F238E27FC236}">
                <a16:creationId xmlns:a16="http://schemas.microsoft.com/office/drawing/2014/main" id="{6F043A52-0C2D-4EC6-A2F9-28DE8C0A38D3}"/>
              </a:ext>
            </a:extLst>
          </p:cNvPr>
          <p:cNvSpPr>
            <a:spLocks noGrp="1"/>
          </p:cNvSpPr>
          <p:nvPr/>
        </p:nvSpPr>
        <p:spPr>
          <a:xfrm>
            <a:off x="6048375" y="5915025"/>
            <a:ext cx="5381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记录进入训练更新，才构成图示的内化循环</a:t>
            </a:r>
          </a:p>
        </p:txBody>
      </p:sp>
      <p:sp>
        <p:nvSpPr>
          <p:cNvPr id="38" name="依据 S001 §5、Fig.11、Fig.13，PDF pp.37、39、53–55 重">
            <a:extLst>
              <a:ext uri="{FF2B5EF4-FFF2-40B4-BE49-F238E27FC236}">
                <a16:creationId xmlns:a16="http://schemas.microsoft.com/office/drawing/2014/main" id="{82B7C7B0-7182-4664-89BE-E631CE4514EF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依据 S001 §5、Fig.11、Fig.13，PDF pp.37、39、53–55 重组；箭头表示供给、更新与反馈</a:t>
            </a:r>
          </a:p>
        </p:txBody>
      </p:sp>
      <p:sp>
        <p:nvSpPr>
          <p:cNvPr id="39" name="02">
            <a:extLst>
              <a:ext uri="{FF2B5EF4-FFF2-40B4-BE49-F238E27FC236}">
                <a16:creationId xmlns:a16="http://schemas.microsoft.com/office/drawing/2014/main" id="{DADB0157-50C5-4989-A991-B3980474230E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350" b="0">
              <a:solidFill>
                <a:srgbClr val="59516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83281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3  Model Optimization · Agentic RL 总览">
            <a:extLst>
              <a:ext uri="{FF2B5EF4-FFF2-40B4-BE49-F238E27FC236}">
                <a16:creationId xmlns:a16="http://schemas.microsoft.com/office/drawing/2014/main" id="{85C63CE7-1897-4848-9A5F-D5D585B98B5C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03  Model Optimization · Agentic RL 总览</a:t>
            </a:r>
          </a:p>
        </p:txBody>
      </p:sp>
      <p:sp>
        <p:nvSpPr>
          <p:cNvPr id="2" name="Agentic RL 的四个设计维度">
            <a:extLst>
              <a:ext uri="{FF2B5EF4-FFF2-40B4-BE49-F238E27FC236}">
                <a16:creationId xmlns:a16="http://schemas.microsoft.com/office/drawing/2014/main" id="{D5462291-2A69-4A7F-BB9F-2FB93B25DA92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Agentic RL 的四个设计维度</a:t>
            </a:r>
          </a:p>
        </p:txBody>
      </p:sp>
      <p:sp>
        <p:nvSpPr>
          <p:cNvPr id="3" name="利用自身交互反馈优化策略，学习目标覆盖多轮决策及其长期后果。">
            <a:extLst>
              <a:ext uri="{FF2B5EF4-FFF2-40B4-BE49-F238E27FC236}">
                <a16:creationId xmlns:a16="http://schemas.microsoft.com/office/drawing/2014/main" id="{3DF0343E-64A3-4F44-8C54-EEE9044DAE7A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利用自身交互反馈优化策略，学习目标覆盖多轮决策及其长期后果。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86CA69-FEA5-432D-8BD3-E4A757C82918}"/>
              </a:ext>
            </a:extLst>
          </p:cNvPr>
          <p:cNvGraphicFramePr/>
          <p:nvPr/>
        </p:nvGraphicFramePr>
        <p:xfrm>
          <a:off x="762000" y="2114550"/>
          <a:ext cx="10668000" cy="33718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设计维度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回答什么问题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典型设计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Credit Assignment</a:t>
                      </a:r>
                    </a:p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信用分配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哪些决策值得强化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结果、过程与显式评价准则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Outcome / Process / Rubric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Policy Optimization</a:t>
                      </a:r>
                    </a:p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策略优化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怎样把信号转成稳定更新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控制策略漂移、细化更新单位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维持探索与轨迹多样性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Sampling Strategy</a:t>
                      </a:r>
                    </a:p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采样策略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哪些经验有机会被学到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多轮 Rollout、共享前缀的树采样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预算分配与轨迹筛选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Interaction Patterns</a:t>
                      </a:r>
                    </a:p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交互结构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把哪些决策组织成学习对象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Hierarchical / Multi-agent</a:t>
                      </a:r>
                    </a:p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Memory-state Learning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四个维度可以组合；采样、信用与更新共同受交互结构影响。">
            <a:extLst>
              <a:ext uri="{FF2B5EF4-FFF2-40B4-BE49-F238E27FC236}">
                <a16:creationId xmlns:a16="http://schemas.microsoft.com/office/drawing/2014/main" id="{B7A199AF-D497-4C99-A449-7E4AC378B36C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四个维度可以组合；采样、信用与更新共同受交互结构影响。</a:t>
            </a:r>
          </a:p>
        </p:txBody>
      </p:sp>
      <p:sp>
        <p:nvSpPr>
          <p:cNvPr id="6" name="综述框架：S001 §5.5、Fig.12，PDF pp.47–52；表述按设计">
            <a:extLst>
              <a:ext uri="{FF2B5EF4-FFF2-40B4-BE49-F238E27FC236}">
                <a16:creationId xmlns:a16="http://schemas.microsoft.com/office/drawing/2014/main" id="{5F707B1F-F46E-4C3A-B690-CFC31F29D64C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综述框架：S001 §5.5、Fig.12，PDF pp.47–52；表述按设计问题压缩</a:t>
            </a:r>
          </a:p>
        </p:txBody>
      </p:sp>
      <p:sp>
        <p:nvSpPr>
          <p:cNvPr id="7" name="03">
            <a:extLst>
              <a:ext uri="{FF2B5EF4-FFF2-40B4-BE49-F238E27FC236}">
                <a16:creationId xmlns:a16="http://schemas.microsoft.com/office/drawing/2014/main" id="{FE3F66B9-65D1-447F-862D-7E51C500684E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350" b="0">
              <a:solidFill>
                <a:srgbClr val="59516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022706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03  Model Optimization · 额外思考">
            <a:extLst>
              <a:ext uri="{FF2B5EF4-FFF2-40B4-BE49-F238E27FC236}">
                <a16:creationId xmlns:a16="http://schemas.microsoft.com/office/drawing/2014/main" id="{436191AB-D6A7-490B-9C0B-55295167EF21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03  Model Optimization · 额外思考</a:t>
            </a:r>
          </a:p>
        </p:txBody>
      </p:sp>
      <p:sp>
        <p:nvSpPr>
          <p:cNvPr id="2" name="能力内化的证据需要分层">
            <a:extLst>
              <a:ext uri="{FF2B5EF4-FFF2-40B4-BE49-F238E27FC236}">
                <a16:creationId xmlns:a16="http://schemas.microsoft.com/office/drawing/2014/main" id="{FD9E6944-6BB1-47EE-8F2E-51804D421BA1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能力内化的证据需要分层</a:t>
            </a:r>
          </a:p>
        </p:txBody>
      </p:sp>
      <p:sp>
        <p:nvSpPr>
          <p:cNvPr id="3" name="“训练后表现更好”可以对应不同的能力变化。">
            <a:extLst>
              <a:ext uri="{FF2B5EF4-FFF2-40B4-BE49-F238E27FC236}">
                <a16:creationId xmlns:a16="http://schemas.microsoft.com/office/drawing/2014/main" id="{D83E6D0B-F3FF-4850-AD9F-8EB22499B6E2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“训练后表现更好”可以对应不同的能力变化。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235E85FC-3714-4D90-A001-2FA69A7E4C53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当前配置下更可靠">
            <a:extLst>
              <a:ext uri="{FF2B5EF4-FFF2-40B4-BE49-F238E27FC236}">
                <a16:creationId xmlns:a16="http://schemas.microsoft.com/office/drawing/2014/main" id="{8EB29DDE-2910-48C0-B24B-D07AA1620B0B}"/>
              </a:ext>
            </a:extLst>
          </p:cNvPr>
          <p:cNvSpPr>
            <a:spLocks noGrp="1"/>
          </p:cNvSpPr>
          <p:nvPr/>
        </p:nvSpPr>
        <p:spPr>
          <a:xfrm>
            <a:off x="1714500" y="224790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当前配置下更可靠</a:t>
            </a:r>
          </a:p>
        </p:txBody>
      </p:sp>
      <p:sp>
        <p:nvSpPr>
          <p:cNvPr id="6" name="固定模型接口、任务与预算，看完整任务成功率。&#10;这能支持当前配置下的改进。">
            <a:extLst>
              <a:ext uri="{FF2B5EF4-FFF2-40B4-BE49-F238E27FC236}">
                <a16:creationId xmlns:a16="http://schemas.microsoft.com/office/drawing/2014/main" id="{5FBB21AC-CDB5-45A1-B46F-63746C8950FA}"/>
              </a:ext>
            </a:extLst>
          </p:cNvPr>
          <p:cNvSpPr>
            <a:spLocks noGrp="1"/>
          </p:cNvSpPr>
          <p:nvPr/>
        </p:nvSpPr>
        <p:spPr>
          <a:xfrm>
            <a:off x="1714500" y="2667000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固定模型接口、任务与预算，看完整任务成功率。</a:t>
            </a:r>
          </a:p>
          <a:p>
            <a: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这能支持当前配置下的改进。</a:t>
            </a: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3C871595-C414-4CCE-8952-90D791A0D14F}"/>
              </a:ext>
            </a:extLst>
          </p:cNvPr>
          <p:cNvSpPr>
            <a:spLocks noGrp="1"/>
          </p:cNvSpPr>
          <p:nvPr/>
        </p:nvSpPr>
        <p:spPr>
          <a:xfrm>
            <a:off x="762000" y="3362325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错误发生后仍能继续">
            <a:extLst>
              <a:ext uri="{FF2B5EF4-FFF2-40B4-BE49-F238E27FC236}">
                <a16:creationId xmlns:a16="http://schemas.microsoft.com/office/drawing/2014/main" id="{19351701-752C-4AF5-BB0D-DB8261BFDADF}"/>
              </a:ext>
            </a:extLst>
          </p:cNvPr>
          <p:cNvSpPr>
            <a:spLocks noGrp="1"/>
          </p:cNvSpPr>
          <p:nvPr/>
        </p:nvSpPr>
        <p:spPr>
          <a:xfrm>
            <a:off x="1714500" y="3362325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错误发生后仍能继续</a:t>
            </a:r>
          </a:p>
        </p:txBody>
      </p:sp>
      <p:sp>
        <p:nvSpPr>
          <p:cNvPr id="9" name="看错误前缀之后的恢复过程。&#10;总分提升还可能来自少犯错，未必来自更会恢复。">
            <a:extLst>
              <a:ext uri="{FF2B5EF4-FFF2-40B4-BE49-F238E27FC236}">
                <a16:creationId xmlns:a16="http://schemas.microsoft.com/office/drawing/2014/main" id="{59C0045B-36D8-4502-97EB-EFDBA4E645B2}"/>
              </a:ext>
            </a:extLst>
          </p:cNvPr>
          <p:cNvSpPr>
            <a:spLocks noGrp="1"/>
          </p:cNvSpPr>
          <p:nvPr/>
        </p:nvSpPr>
        <p:spPr>
          <a:xfrm>
            <a:off x="1714500" y="3781425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看错误前缀之后的恢复过程。</a:t>
            </a:r>
          </a:p>
          <a:p>
            <a: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总分提升还可能来自少犯错，未必来自更会恢复。</a:t>
            </a:r>
          </a:p>
        </p:txBody>
      </p:sp>
      <p:sp>
        <p:nvSpPr>
          <p:cNvPr id="10" name="03">
            <a:extLst>
              <a:ext uri="{FF2B5EF4-FFF2-40B4-BE49-F238E27FC236}">
                <a16:creationId xmlns:a16="http://schemas.microsoft.com/office/drawing/2014/main" id="{26D16933-ABD6-459E-B258-AF7A453AEEBF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交互条件改变后仍有效">
            <a:extLst>
              <a:ext uri="{FF2B5EF4-FFF2-40B4-BE49-F238E27FC236}">
                <a16:creationId xmlns:a16="http://schemas.microsoft.com/office/drawing/2014/main" id="{8478F20F-E5CB-4910-BAE8-6D6700E9A1D3}"/>
              </a:ext>
            </a:extLst>
          </p:cNvPr>
          <p:cNvSpPr>
            <a:spLocks noGrp="1"/>
          </p:cNvSpPr>
          <p:nvPr/>
        </p:nvSpPr>
        <p:spPr>
          <a:xfrm>
            <a:off x="1714500" y="447675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交互条件改变后仍有效</a:t>
            </a:r>
          </a:p>
        </p:txBody>
      </p:sp>
      <p:sp>
        <p:nvSpPr>
          <p:cNvPr id="12" name="分别改变题目、工具接口、环境或预算。&#10;换题成功与换接口成功，需要不同的迁移证据。">
            <a:extLst>
              <a:ext uri="{FF2B5EF4-FFF2-40B4-BE49-F238E27FC236}">
                <a16:creationId xmlns:a16="http://schemas.microsoft.com/office/drawing/2014/main" id="{046F456A-6560-4FE3-BBBD-433C6871D3E2}"/>
              </a:ext>
            </a:extLst>
          </p:cNvPr>
          <p:cNvSpPr>
            <a:spLocks noGrp="1"/>
          </p:cNvSpPr>
          <p:nvPr/>
        </p:nvSpPr>
        <p:spPr>
          <a:xfrm>
            <a:off x="1714500" y="4895850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分别改变题目、工具接口、环境或预算。</a:t>
            </a:r>
          </a:p>
          <a:p>
            <a:pPr>
              <a:def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换题成功与换接口成功，需要不同的迁移证据。</a:t>
            </a:r>
          </a:p>
        </p:txBody>
      </p:sp>
      <p:sp>
        <p:nvSpPr>
          <p:cNvPr id="13" name="讨论：什么证据足以说明，训练改善了可迁移的策略能力？">
            <a:extLst>
              <a:ext uri="{FF2B5EF4-FFF2-40B4-BE49-F238E27FC236}">
                <a16:creationId xmlns:a16="http://schemas.microsoft.com/office/drawing/2014/main" id="{B1DBD3C7-4286-4FDD-8996-5FF395879243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讨论：什么证据足以说明，训练改善了可迁移的策略能力？</a:t>
            </a:r>
          </a:p>
        </p:txBody>
      </p:sp>
      <p:sp>
        <p:nvSpPr>
          <p:cNvPr id="14" name="本库评测视角归纳；依据 S001 §5.2、§5.5–5.7、§6.6，PDF pp.40">
            <a:extLst>
              <a:ext uri="{FF2B5EF4-FFF2-40B4-BE49-F238E27FC236}">
                <a16:creationId xmlns:a16="http://schemas.microsoft.com/office/drawing/2014/main" id="{3FB81CEA-0557-4A1E-BAE2-F4C73DA2021F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本库评测视角归纳；依据 S001 §5.2、§5.5–5.7、§6.6，PDF pp.40–55、64–65</a:t>
            </a:r>
          </a:p>
        </p:txBody>
      </p:sp>
      <p:sp>
        <p:nvSpPr>
          <p:cNvPr id="15" name="04">
            <a:extLst>
              <a:ext uri="{FF2B5EF4-FFF2-40B4-BE49-F238E27FC236}">
                <a16:creationId xmlns:a16="http://schemas.microsoft.com/office/drawing/2014/main" id="{DEF34ECE-6342-442D-A8EF-39A8A052126D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1350" b="0">
              <a:solidFill>
                <a:srgbClr val="59516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954884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4  Application · 总览">
            <a:extLst>
              <a:ext uri="{FF2B5EF4-FFF2-40B4-BE49-F238E27FC236}">
                <a16:creationId xmlns:a16="http://schemas.microsoft.com/office/drawing/2014/main" id="{442C3E41-584B-4F1A-A907-ABC9B2C09DD1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04  Application · 总览</a:t>
            </a:r>
          </a:p>
        </p:txBody>
      </p:sp>
      <p:sp>
        <p:nvSpPr>
          <p:cNvPr id="2" name="Application 按观察与行动接口组织">
            <a:extLst>
              <a:ext uri="{FF2B5EF4-FFF2-40B4-BE49-F238E27FC236}">
                <a16:creationId xmlns:a16="http://schemas.microsoft.com/office/drawing/2014/main" id="{EF94264F-6A35-4919-8465-64FE24D1199B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Application 按观察与行动接口组织</a:t>
            </a:r>
          </a:p>
        </p:txBody>
      </p:sp>
      <p:sp>
        <p:nvSpPr>
          <p:cNvPr id="3" name="接口决定能看到什么、能改变什么，以及能获得什么反馈。">
            <a:extLst>
              <a:ext uri="{FF2B5EF4-FFF2-40B4-BE49-F238E27FC236}">
                <a16:creationId xmlns:a16="http://schemas.microsoft.com/office/drawing/2014/main" id="{7A59FAD0-A65D-4EE8-B0DE-2A4C333F2CF7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接口决定能看到什么、能改变什么，以及能获得什么反馈。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9D22D2F-5B23-4F35-8865-EA373EE8578E}"/>
              </a:ext>
            </a:extLst>
          </p:cNvPr>
          <p:cNvGraphicFramePr/>
          <p:nvPr/>
        </p:nvGraphicFramePr>
        <p:xfrm>
          <a:off x="762000" y="2114550"/>
          <a:ext cx="10668000" cy="32956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应用类别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接口与反馈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需要补足的能力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>
                      <a:solidFill>
                        <a:srgbClr val="BCAED1"/>
                      </a:solidFill>
                      <a:prstDash val="soli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292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Software Engineering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代码、终端、测试与运行结果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定位问题、修复与需求核验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Information Seeking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网页、检索与文档证据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补齐信息、综合证据与判断停止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Computer Use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截图、界面状态与键鼠动作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定位对象、跟踪状态与恢复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Multimodal Agents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跨时间与模态的感知流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找到关键片段、保留与对齐信息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E2D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General-purpose Agents</a:t>
                      </a:r>
                    </a:p>
                  </a:txBody>
                  <a:tcPr anchor="ctr">
                    <a:lnL w="9525">
                      <a:solidFill>
                        <a:srgbClr val="BCAED1"/>
                      </a:solidFill>
                      <a:prstDash val="soli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多个工具、权限与外部服务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920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跨接口保持目标、约束与完整交付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CAED1"/>
                      </a:solidFill>
                      <a:prstDash val="solid"/>
                    </a:lnR>
                    <a:lnT w="9525" cap="flat" cmpd="sng" algn="ctr">
                      <a:solidFill>
                        <a:srgbClr val="BCAE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CAE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类别可以重叠；反馈形式的差异不构成领域难度排名。">
            <a:extLst>
              <a:ext uri="{FF2B5EF4-FFF2-40B4-BE49-F238E27FC236}">
                <a16:creationId xmlns:a16="http://schemas.microsoft.com/office/drawing/2014/main" id="{FEB526E1-C175-4B42-94AA-3B255D5E141B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类别可以重叠；反馈形式的差异不构成领域难度排名。</a:t>
            </a:r>
          </a:p>
        </p:txBody>
      </p:sp>
      <p:sp>
        <p:nvSpPr>
          <p:cNvPr id="6" name="综述框架：S001 §6、Fig.14，PDF pp.55–57；能力表述依据正文压缩">
            <a:extLst>
              <a:ext uri="{FF2B5EF4-FFF2-40B4-BE49-F238E27FC236}">
                <a16:creationId xmlns:a16="http://schemas.microsoft.com/office/drawing/2014/main" id="{D11F4F33-53A5-4CAD-95C2-3D5A0759F56F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综述框架：S001 §6、Fig.14，PDF pp.55–57；能力表述依据正文压缩</a:t>
            </a:r>
          </a:p>
        </p:txBody>
      </p:sp>
      <p:sp>
        <p:nvSpPr>
          <p:cNvPr id="7" name="05">
            <a:extLst>
              <a:ext uri="{FF2B5EF4-FFF2-40B4-BE49-F238E27FC236}">
                <a16:creationId xmlns:a16="http://schemas.microsoft.com/office/drawing/2014/main" id="{DAD04853-3755-40D6-8353-D6D5689C913B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1350" b="0">
              <a:solidFill>
                <a:srgbClr val="59516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3386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04  Application · 关系图">
            <a:extLst>
              <a:ext uri="{FF2B5EF4-FFF2-40B4-BE49-F238E27FC236}">
                <a16:creationId xmlns:a16="http://schemas.microsoft.com/office/drawing/2014/main" id="{862414B4-9C7C-45E5-9042-D9EE828EDE26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04  Application · 关系图</a:t>
            </a:r>
          </a:p>
        </p:txBody>
      </p:sp>
      <p:sp>
        <p:nvSpPr>
          <p:cNvPr id="2" name="任务结果来自 Model、Harness 与环境配合">
            <a:extLst>
              <a:ext uri="{FF2B5EF4-FFF2-40B4-BE49-F238E27FC236}">
                <a16:creationId xmlns:a16="http://schemas.microsoft.com/office/drawing/2014/main" id="{8E7C4F73-6ACA-4A89-9DC8-EBB3E2E48D04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任务结果来自 Model、Harness 与环境配合</a:t>
            </a:r>
          </a:p>
        </p:txBody>
      </p:sp>
      <p:sp>
        <p:nvSpPr>
          <p:cNvPr id="3" name="同一套运行关系，在不同应用中接入不同的观察、动作与反馈。">
            <a:extLst>
              <a:ext uri="{FF2B5EF4-FFF2-40B4-BE49-F238E27FC236}">
                <a16:creationId xmlns:a16="http://schemas.microsoft.com/office/drawing/2014/main" id="{A049708B-4451-4D8B-BB98-7BA2A9E532CD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同一套运行关系，在不同应用中接入不同的观察、动作与反馈。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2D0DB6-ADCA-4A19-8FFA-6C582FBCDA2B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10668000" cy="619125"/>
          </a:xfrm>
          <a:prstGeom prst="rect">
            <a:avLst/>
          </a:prstGeom>
          <a:solidFill>
            <a:srgbClr val="E2DAF1"/>
          </a:solidFill>
          <a:ln w="14288">
            <a:solidFill>
              <a:srgbClr val="BCAED1"/>
            </a:solidFill>
          </a:ln>
        </p:spPr>
      </p:sp>
      <p:sp>
        <p:nvSpPr>
          <p:cNvPr id="5" name="Task / Goal">
            <a:extLst>
              <a:ext uri="{FF2B5EF4-FFF2-40B4-BE49-F238E27FC236}">
                <a16:creationId xmlns:a16="http://schemas.microsoft.com/office/drawing/2014/main" id="{B00F6237-56D4-46DC-BCED-0228BEAA2FB2}"/>
              </a:ext>
            </a:extLst>
          </p:cNvPr>
          <p:cNvSpPr>
            <a:spLocks noGrp="1"/>
          </p:cNvSpPr>
          <p:nvPr/>
        </p:nvSpPr>
        <p:spPr>
          <a:xfrm>
            <a:off x="952500" y="2343150"/>
            <a:ext cx="2190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Task / Goal</a:t>
            </a:r>
          </a:p>
        </p:txBody>
      </p:sp>
      <p:sp>
        <p:nvSpPr>
          <p:cNvPr id="6" name="目标、约束与完成条件贯穿整个任务">
            <a:extLst>
              <a:ext uri="{FF2B5EF4-FFF2-40B4-BE49-F238E27FC236}">
                <a16:creationId xmlns:a16="http://schemas.microsoft.com/office/drawing/2014/main" id="{5914C45C-8F20-48E1-AD44-1937F4FD0CF2}"/>
              </a:ext>
            </a:extLst>
          </p:cNvPr>
          <p:cNvSpPr>
            <a:spLocks noGrp="1"/>
          </p:cNvSpPr>
          <p:nvPr/>
        </p:nvSpPr>
        <p:spPr>
          <a:xfrm>
            <a:off x="3429000" y="2362200"/>
            <a:ext cx="7524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目标、约束与完成条件贯穿整个任务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0F8214-0FE8-4F8B-92B9-40157B681551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2857500" cy="1390650"/>
          </a:xfrm>
          <a:prstGeom prst="rect">
            <a:avLst/>
          </a:prstGeom>
          <a:solidFill>
            <a:srgbClr val="29204F"/>
          </a:solidFill>
          <a:ln w="14288">
            <a:solidFill>
              <a:srgbClr val="6638A5"/>
            </a:solidFill>
          </a:ln>
        </p:spPr>
      </p:sp>
      <p:sp>
        <p:nvSpPr>
          <p:cNvPr id="8" name="Model">
            <a:extLst>
              <a:ext uri="{FF2B5EF4-FFF2-40B4-BE49-F238E27FC236}">
                <a16:creationId xmlns:a16="http://schemas.microsoft.com/office/drawing/2014/main" id="{33FF1547-D599-43A8-A2ED-4D1FD183F7BE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9" name="理解输入&#10;选择行动与解释反馈">
            <a:extLst>
              <a:ext uri="{FF2B5EF4-FFF2-40B4-BE49-F238E27FC236}">
                <a16:creationId xmlns:a16="http://schemas.microsoft.com/office/drawing/2014/main" id="{8B175446-B7CB-4584-B2E7-F568675311F7}"/>
              </a:ext>
            </a:extLst>
          </p:cNvPr>
          <p:cNvSpPr>
            <a:spLocks noGrp="1"/>
          </p:cNvSpPr>
          <p:nvPr/>
        </p:nvSpPr>
        <p:spPr>
          <a:xfrm>
            <a:off x="904875" y="3810000"/>
            <a:ext cx="2571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rPr>
              <a:t>理解输入</a:t>
            </a:r>
          </a:p>
          <a:p>
            <a:pPr algn="ctr">
              <a:def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FC0E6"/>
                </a:solidFill>
                <a:latin typeface="Microsoft YaHei"/>
                <a:ea typeface="Microsoft YaHei"/>
                <a:cs typeface="Microsoft YaHei"/>
              </a:rPr>
              <a:t>选择行动与解释反馈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DE7142-6EFA-464C-856B-8E68A9CCE274}"/>
              </a:ext>
            </a:extLst>
          </p:cNvPr>
          <p:cNvSpPr>
            <a:spLocks noGrp="1"/>
          </p:cNvSpPr>
          <p:nvPr/>
        </p:nvSpPr>
        <p:spPr>
          <a:xfrm>
            <a:off x="4667250" y="3238500"/>
            <a:ext cx="2857500" cy="1390650"/>
          </a:xfrm>
          <a:prstGeom prst="rect">
            <a:avLst/>
          </a:prstGeom>
          <a:solidFill>
            <a:srgbClr val="FFFFFF"/>
          </a:solidFill>
          <a:ln w="14288">
            <a:solidFill>
              <a:srgbClr val="6638A5"/>
            </a:solidFill>
          </a:ln>
        </p:spPr>
      </p:sp>
      <p:sp>
        <p:nvSpPr>
          <p:cNvPr id="11" name="Harness">
            <a:extLst>
              <a:ext uri="{FF2B5EF4-FFF2-40B4-BE49-F238E27FC236}">
                <a16:creationId xmlns:a16="http://schemas.microsoft.com/office/drawing/2014/main" id="{6D52E22D-217F-4B01-836D-AF37DFA074A4}"/>
              </a:ext>
            </a:extLst>
          </p:cNvPr>
          <p:cNvSpPr>
            <a:spLocks noGrp="1"/>
          </p:cNvSpPr>
          <p:nvPr/>
        </p:nvSpPr>
        <p:spPr>
          <a:xfrm>
            <a:off x="4781550" y="33813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12" name="管理 Context 与工作流&#10;接入接口、执行与检查">
            <a:extLst>
              <a:ext uri="{FF2B5EF4-FFF2-40B4-BE49-F238E27FC236}">
                <a16:creationId xmlns:a16="http://schemas.microsoft.com/office/drawing/2014/main" id="{F515E13E-D20E-4EC5-AE47-6DB8E191BA1A}"/>
              </a:ext>
            </a:extLst>
          </p:cNvPr>
          <p:cNvSpPr>
            <a:spLocks noGrp="1"/>
          </p:cNvSpPr>
          <p:nvPr/>
        </p:nvSpPr>
        <p:spPr>
          <a:xfrm>
            <a:off x="4810125" y="3810000"/>
            <a:ext cx="2571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管理 Context 与工作流</a:t>
            </a:r>
          </a:p>
          <a:p>
            <a: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接入接口、执行与检查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04908E-62EE-4B7D-B6DC-6452D04FDB37}"/>
              </a:ext>
            </a:extLst>
          </p:cNvPr>
          <p:cNvSpPr>
            <a:spLocks noGrp="1"/>
          </p:cNvSpPr>
          <p:nvPr/>
        </p:nvSpPr>
        <p:spPr>
          <a:xfrm>
            <a:off x="8572500" y="3238500"/>
            <a:ext cx="2857500" cy="1390650"/>
          </a:xfrm>
          <a:prstGeom prst="rect">
            <a:avLst/>
          </a:prstGeom>
          <a:solidFill>
            <a:srgbClr val="FFFFFF"/>
          </a:solidFill>
          <a:ln w="14288">
            <a:solidFill>
              <a:srgbClr val="6638A5"/>
            </a:solidFill>
          </a:ln>
        </p:spPr>
      </p:sp>
      <p:sp>
        <p:nvSpPr>
          <p:cNvPr id="14" name="Environment">
            <a:extLst>
              <a:ext uri="{FF2B5EF4-FFF2-40B4-BE49-F238E27FC236}">
                <a16:creationId xmlns:a16="http://schemas.microsoft.com/office/drawing/2014/main" id="{41B3B8A3-D590-44F1-A248-0E7CF8B79352}"/>
              </a:ext>
            </a:extLst>
          </p:cNvPr>
          <p:cNvSpPr>
            <a:spLocks noGrp="1"/>
          </p:cNvSpPr>
          <p:nvPr/>
        </p:nvSpPr>
        <p:spPr>
          <a:xfrm>
            <a:off x="8686800" y="33813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15" name="代码／网页／GUI&#10;多模态流／外部服务">
            <a:extLst>
              <a:ext uri="{FF2B5EF4-FFF2-40B4-BE49-F238E27FC236}">
                <a16:creationId xmlns:a16="http://schemas.microsoft.com/office/drawing/2014/main" id="{A70AE7EC-A793-481C-9898-B7DA66D0C6D0}"/>
              </a:ext>
            </a:extLst>
          </p:cNvPr>
          <p:cNvSpPr>
            <a:spLocks noGrp="1"/>
          </p:cNvSpPr>
          <p:nvPr/>
        </p:nvSpPr>
        <p:spPr>
          <a:xfrm>
            <a:off x="8715375" y="3810000"/>
            <a:ext cx="2571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代码／网页／GUI</a:t>
            </a:r>
          </a:p>
          <a:p>
            <a:pPr algn="ctr">
              <a:def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多模态流／外部服务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4C45312-581A-46CF-A248-BF968F70A02F}"/>
              </a:ext>
            </a:extLst>
          </p:cNvPr>
          <p:cNvCxnSpPr/>
          <p:nvPr/>
        </p:nvCxnSpPr>
        <p:spPr>
          <a:xfrm>
            <a:off x="3619500" y="3695700"/>
            <a:ext cx="1047750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CD54E321-8B89-41E4-89F2-44C7EA42723F}"/>
              </a:ext>
            </a:extLst>
          </p:cNvPr>
          <p:cNvSpPr>
            <a:spLocks noGrp="1"/>
          </p:cNvSpPr>
          <p:nvPr/>
        </p:nvSpPr>
        <p:spPr>
          <a:xfrm>
            <a:off x="3752850" y="3362325"/>
            <a:ext cx="762000" cy="295275"/>
          </a:xfrm>
          <a:prstGeom prst="rect">
            <a:avLst/>
          </a:prstGeom>
          <a:solidFill>
            <a:srgbClr val="F1EDF8"/>
          </a:solidFill>
          <a:ln w="14288">
            <a:solidFill>
              <a:srgbClr val="F1EDF8"/>
            </a:solidFill>
          </a:ln>
        </p:spPr>
      </p:sp>
      <p:sp>
        <p:nvSpPr>
          <p:cNvPr id="18" name="Action">
            <a:extLst>
              <a:ext uri="{FF2B5EF4-FFF2-40B4-BE49-F238E27FC236}">
                <a16:creationId xmlns:a16="http://schemas.microsoft.com/office/drawing/2014/main" id="{81F75139-CFA6-42F4-8B6C-456D3F58A791}"/>
              </a:ext>
            </a:extLst>
          </p:cNvPr>
          <p:cNvSpPr>
            <a:spLocks noGrp="1"/>
          </p:cNvSpPr>
          <p:nvPr/>
        </p:nvSpPr>
        <p:spPr>
          <a:xfrm>
            <a:off x="3752850" y="3362325"/>
            <a:ext cx="762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9B8F06E-2E2D-40A5-88B6-767E468EADAB}"/>
              </a:ext>
            </a:extLst>
          </p:cNvPr>
          <p:cNvCxnSpPr/>
          <p:nvPr/>
        </p:nvCxnSpPr>
        <p:spPr>
          <a:xfrm>
            <a:off x="7524750" y="3695700"/>
            <a:ext cx="1047750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tailEnd type="triangle" w="med" len="me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644C9E04-16FD-4A03-ADE6-47DCB3AD562B}"/>
              </a:ext>
            </a:extLst>
          </p:cNvPr>
          <p:cNvSpPr>
            <a:spLocks noGrp="1"/>
          </p:cNvSpPr>
          <p:nvPr/>
        </p:nvSpPr>
        <p:spPr>
          <a:xfrm>
            <a:off x="7696200" y="3362325"/>
            <a:ext cx="666750" cy="295275"/>
          </a:xfrm>
          <a:prstGeom prst="rect">
            <a:avLst/>
          </a:prstGeom>
          <a:solidFill>
            <a:srgbClr val="F1EDF8"/>
          </a:solidFill>
          <a:ln w="14288">
            <a:solidFill>
              <a:srgbClr val="F1EDF8"/>
            </a:solidFill>
          </a:ln>
        </p:spPr>
      </p:sp>
      <p:sp>
        <p:nvSpPr>
          <p:cNvPr id="21" name="操作">
            <a:extLst>
              <a:ext uri="{FF2B5EF4-FFF2-40B4-BE49-F238E27FC236}">
                <a16:creationId xmlns:a16="http://schemas.microsoft.com/office/drawing/2014/main" id="{5D9146EC-1DD6-4C8C-A864-50AB57266686}"/>
              </a:ext>
            </a:extLst>
          </p:cNvPr>
          <p:cNvSpPr>
            <a:spLocks noGrp="1"/>
          </p:cNvSpPr>
          <p:nvPr/>
        </p:nvSpPr>
        <p:spPr>
          <a:xfrm>
            <a:off x="7696200" y="3362325"/>
            <a:ext cx="666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2A34DC5-0116-4C25-AB18-773855E46B1C}"/>
              </a:ext>
            </a:extLst>
          </p:cNvPr>
          <p:cNvCxnSpPr/>
          <p:nvPr/>
        </p:nvCxnSpPr>
        <p:spPr>
          <a:xfrm>
            <a:off x="7524750" y="4305300"/>
            <a:ext cx="1047750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headEnd type="triangle" w="med" len="me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34C58F4E-DB5D-4F6C-A153-67AFA50FD78C}"/>
              </a:ext>
            </a:extLst>
          </p:cNvPr>
          <p:cNvSpPr>
            <a:spLocks noGrp="1"/>
          </p:cNvSpPr>
          <p:nvPr/>
        </p:nvSpPr>
        <p:spPr>
          <a:xfrm>
            <a:off x="7696200" y="4362450"/>
            <a:ext cx="666750" cy="295275"/>
          </a:xfrm>
          <a:prstGeom prst="rect">
            <a:avLst/>
          </a:prstGeom>
          <a:solidFill>
            <a:srgbClr val="F1EDF8"/>
          </a:solidFill>
          <a:ln w="14288">
            <a:solidFill>
              <a:srgbClr val="F1EDF8"/>
            </a:solidFill>
          </a:ln>
        </p:spPr>
      </p:sp>
      <p:sp>
        <p:nvSpPr>
          <p:cNvPr id="24" name="反馈">
            <a:extLst>
              <a:ext uri="{FF2B5EF4-FFF2-40B4-BE49-F238E27FC236}">
                <a16:creationId xmlns:a16="http://schemas.microsoft.com/office/drawing/2014/main" id="{707233E4-03EA-4003-9C9E-3CAFDB2CBFB7}"/>
              </a:ext>
            </a:extLst>
          </p:cNvPr>
          <p:cNvSpPr>
            <a:spLocks noGrp="1"/>
          </p:cNvSpPr>
          <p:nvPr/>
        </p:nvSpPr>
        <p:spPr>
          <a:xfrm>
            <a:off x="7696200" y="4362450"/>
            <a:ext cx="666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88DD1C5-A5D2-47AD-8686-F1AA40E4619C}"/>
              </a:ext>
            </a:extLst>
          </p:cNvPr>
          <p:cNvCxnSpPr/>
          <p:nvPr/>
        </p:nvCxnSpPr>
        <p:spPr>
          <a:xfrm>
            <a:off x="3619500" y="4305300"/>
            <a:ext cx="1047750" cy="0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headEnd type="triangle" w="med" len="med"/>
          </a:ln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7154A75C-42FF-4638-AE13-0CB5D8DB9D83}"/>
              </a:ext>
            </a:extLst>
          </p:cNvPr>
          <p:cNvSpPr>
            <a:spLocks noGrp="1"/>
          </p:cNvSpPr>
          <p:nvPr/>
        </p:nvSpPr>
        <p:spPr>
          <a:xfrm>
            <a:off x="3705225" y="4362450"/>
            <a:ext cx="857250" cy="295275"/>
          </a:xfrm>
          <a:prstGeom prst="rect">
            <a:avLst/>
          </a:prstGeom>
          <a:solidFill>
            <a:srgbClr val="F1EDF8"/>
          </a:solidFill>
          <a:ln w="14288">
            <a:solidFill>
              <a:srgbClr val="F1EDF8"/>
            </a:solidFill>
          </a:ln>
        </p:spPr>
      </p:sp>
      <p:sp>
        <p:nvSpPr>
          <p:cNvPr id="27" name="Context">
            <a:extLst>
              <a:ext uri="{FF2B5EF4-FFF2-40B4-BE49-F238E27FC236}">
                <a16:creationId xmlns:a16="http://schemas.microsoft.com/office/drawing/2014/main" id="{CD124BBB-F0B8-4E39-90B5-64F1D36087E4}"/>
              </a:ext>
            </a:extLst>
          </p:cNvPr>
          <p:cNvSpPr>
            <a:spLocks noGrp="1"/>
          </p:cNvSpPr>
          <p:nvPr/>
        </p:nvSpPr>
        <p:spPr>
          <a:xfrm>
            <a:off x="3705225" y="4362450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0581905-FF5C-4FB2-A2F3-A30F185BA733}"/>
              </a:ext>
            </a:extLst>
          </p:cNvPr>
          <p:cNvCxnSpPr/>
          <p:nvPr/>
        </p:nvCxnSpPr>
        <p:spPr>
          <a:xfrm>
            <a:off x="6096000" y="4629150"/>
            <a:ext cx="0" cy="390525"/>
          </a:xfrm>
          <a:prstGeom prst="straightConnector1">
            <a:avLst/>
          </a:prstGeom>
          <a:ln w="19050">
            <a:solidFill>
              <a:srgbClr val="6638A5"/>
            </a:solidFill>
            <a:prstDash val="solid"/>
            <a:tailEnd type="triangle" w="med" len="med"/>
          </a:ln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2C6FD53E-9F8B-4F60-90E3-A4C613A606B0}"/>
              </a:ext>
            </a:extLst>
          </p:cNvPr>
          <p:cNvSpPr>
            <a:spLocks noGrp="1"/>
          </p:cNvSpPr>
          <p:nvPr/>
        </p:nvSpPr>
        <p:spPr>
          <a:xfrm>
            <a:off x="3619500" y="5019675"/>
            <a:ext cx="4953000" cy="561975"/>
          </a:xfrm>
          <a:prstGeom prst="rect">
            <a:avLst/>
          </a:prstGeom>
          <a:solidFill>
            <a:srgbClr val="E2DAF1"/>
          </a:solidFill>
          <a:ln w="14288">
            <a:solidFill>
              <a:srgbClr val="BCAED1"/>
            </a:solidFill>
          </a:ln>
        </p:spPr>
      </p:sp>
      <p:sp>
        <p:nvSpPr>
          <p:cNvPr id="30" name="状态与产物：代码、草稿、记录、已完成操作">
            <a:extLst>
              <a:ext uri="{FF2B5EF4-FFF2-40B4-BE49-F238E27FC236}">
                <a16:creationId xmlns:a16="http://schemas.microsoft.com/office/drawing/2014/main" id="{E50458E9-5A64-4653-9D60-B1BC72A2966C}"/>
              </a:ext>
            </a:extLst>
          </p:cNvPr>
          <p:cNvSpPr>
            <a:spLocks noGrp="1"/>
          </p:cNvSpPr>
          <p:nvPr/>
        </p:nvSpPr>
        <p:spPr>
          <a:xfrm>
            <a:off x="3762375" y="5162550"/>
            <a:ext cx="4667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204F"/>
                </a:solidFill>
                <a:latin typeface="Microsoft YaHei"/>
                <a:ea typeface="Microsoft YaHei"/>
                <a:cs typeface="Microsoft YaHei"/>
              </a:rPr>
              <a:t>状态与产物：代码、草稿、记录、已完成操作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F440973-E109-48C5-9E87-C77DBBD48661}"/>
              </a:ext>
            </a:extLst>
          </p:cNvPr>
          <p:cNvCxnSpPr/>
          <p:nvPr/>
        </p:nvCxnSpPr>
        <p:spPr>
          <a:xfrm>
            <a:off x="8572500" y="5295900"/>
            <a:ext cx="1428750" cy="0"/>
          </a:xfrm>
          <a:prstGeom prst="straightConnector1">
            <a:avLst/>
          </a:prstGeom>
          <a:ln w="19050">
            <a:solidFill>
              <a:srgbClr val="A35D42"/>
            </a:solidFill>
            <a:prstDash val="dash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62CD798-3D9D-4267-8EBA-A54364A12549}"/>
              </a:ext>
            </a:extLst>
          </p:cNvPr>
          <p:cNvCxnSpPr/>
          <p:nvPr/>
        </p:nvCxnSpPr>
        <p:spPr>
          <a:xfrm>
            <a:off x="10001250" y="5295900"/>
            <a:ext cx="0" cy="466725"/>
          </a:xfrm>
          <a:prstGeom prst="straightConnector1">
            <a:avLst/>
          </a:prstGeom>
          <a:ln w="19050">
            <a:solidFill>
              <a:srgbClr val="A35D42"/>
            </a:solidFill>
            <a:prstDash val="dash"/>
            <a:tailEnd type="triangle" w="med" len="med"/>
          </a:ln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4C30343F-8252-4A10-89A0-07CB3D003AEB}"/>
              </a:ext>
            </a:extLst>
          </p:cNvPr>
          <p:cNvSpPr>
            <a:spLocks noGrp="1"/>
          </p:cNvSpPr>
          <p:nvPr/>
        </p:nvSpPr>
        <p:spPr>
          <a:xfrm>
            <a:off x="8572500" y="5762625"/>
            <a:ext cx="2857500" cy="447675"/>
          </a:xfrm>
          <a:prstGeom prst="rect">
            <a:avLst/>
          </a:prstGeom>
          <a:solidFill>
            <a:srgbClr val="FFFFFF"/>
          </a:solidFill>
          <a:ln w="14288">
            <a:solidFill>
              <a:srgbClr val="A35D42"/>
            </a:solidFill>
          </a:ln>
        </p:spPr>
      </p:sp>
      <p:sp>
        <p:nvSpPr>
          <p:cNvPr id="34" name="完整任务结果评测">
            <a:extLst>
              <a:ext uri="{FF2B5EF4-FFF2-40B4-BE49-F238E27FC236}">
                <a16:creationId xmlns:a16="http://schemas.microsoft.com/office/drawing/2014/main" id="{6E1BDCD2-0509-4C35-AE51-0E693E71D920}"/>
              </a:ext>
            </a:extLst>
          </p:cNvPr>
          <p:cNvSpPr>
            <a:spLocks noGrp="1"/>
          </p:cNvSpPr>
          <p:nvPr/>
        </p:nvSpPr>
        <p:spPr>
          <a:xfrm>
            <a:off x="8715375" y="5857875"/>
            <a:ext cx="2571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35D42"/>
                </a:solidFill>
                <a:latin typeface="Microsoft YaHei"/>
                <a:ea typeface="Microsoft YaHei"/>
                <a:cs typeface="Microsoft YaHei"/>
              </a:rPr>
              <a:t>完整任务结果评测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68A02A5-FF87-4694-AC2E-96D1A334A2EA}"/>
              </a:ext>
            </a:extLst>
          </p:cNvPr>
          <p:cNvCxnSpPr/>
          <p:nvPr/>
        </p:nvCxnSpPr>
        <p:spPr>
          <a:xfrm>
            <a:off x="11430000" y="2495550"/>
            <a:ext cx="285750" cy="0"/>
          </a:xfrm>
          <a:prstGeom prst="straightConnector1">
            <a:avLst/>
          </a:prstGeom>
          <a:ln w="19050">
            <a:solidFill>
              <a:srgbClr val="A35D42"/>
            </a:solidFill>
            <a:prstDash val="dash"/>
          </a:ln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0FE655E-2512-48E2-BB90-8D651DFD7C0B}"/>
              </a:ext>
            </a:extLst>
          </p:cNvPr>
          <p:cNvCxnSpPr/>
          <p:nvPr/>
        </p:nvCxnSpPr>
        <p:spPr>
          <a:xfrm>
            <a:off x="11715750" y="2495550"/>
            <a:ext cx="0" cy="3486150"/>
          </a:xfrm>
          <a:prstGeom prst="straightConnector1">
            <a:avLst/>
          </a:prstGeom>
          <a:ln w="19050">
            <a:solidFill>
              <a:srgbClr val="A35D42"/>
            </a:solidFill>
            <a:prstDash val="dash"/>
          </a:ln>
        </p:spPr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A699BDB-E8B0-4072-925E-35F970B0EF9F}"/>
              </a:ext>
            </a:extLst>
          </p:cNvPr>
          <p:cNvCxnSpPr/>
          <p:nvPr/>
        </p:nvCxnSpPr>
        <p:spPr>
          <a:xfrm>
            <a:off x="11430000" y="5981700"/>
            <a:ext cx="285750" cy="0"/>
          </a:xfrm>
          <a:prstGeom prst="straightConnector1">
            <a:avLst/>
          </a:prstGeom>
          <a:ln w="19050">
            <a:solidFill>
              <a:srgbClr val="A35D42"/>
            </a:solidFill>
            <a:prstDash val="dash"/>
            <a:headEnd type="triangle" w="med" len="med"/>
          </a:ln>
        </p:spPr>
      </p:cxnSp>
      <p:sp>
        <p:nvSpPr>
          <p:cNvPr id="38" name="运行反馈帮助决定下一步">
            <a:extLst>
              <a:ext uri="{FF2B5EF4-FFF2-40B4-BE49-F238E27FC236}">
                <a16:creationId xmlns:a16="http://schemas.microsoft.com/office/drawing/2014/main" id="{89775F04-D229-4173-B000-B1CF39977FEB}"/>
              </a:ext>
            </a:extLst>
          </p:cNvPr>
          <p:cNvSpPr>
            <a:spLocks noGrp="1"/>
          </p:cNvSpPr>
          <p:nvPr/>
        </p:nvSpPr>
        <p:spPr>
          <a:xfrm>
            <a:off x="762000" y="5791200"/>
            <a:ext cx="5810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638A5"/>
                </a:solidFill>
                <a:latin typeface="Microsoft YaHei"/>
                <a:ea typeface="Microsoft YaHei"/>
                <a:cs typeface="Microsoft YaHei"/>
              </a:rPr>
              <a:t>运行反馈帮助决定下一步</a:t>
            </a:r>
          </a:p>
        </p:txBody>
      </p:sp>
      <p:sp>
        <p:nvSpPr>
          <p:cNvPr id="39" name="虚线：终态与任务要求进入评测">
            <a:extLst>
              <a:ext uri="{FF2B5EF4-FFF2-40B4-BE49-F238E27FC236}">
                <a16:creationId xmlns:a16="http://schemas.microsoft.com/office/drawing/2014/main" id="{E5FDC126-3C04-4957-9916-09E4C9AAFDF0}"/>
              </a:ext>
            </a:extLst>
          </p:cNvPr>
          <p:cNvSpPr>
            <a:spLocks noGrp="1"/>
          </p:cNvSpPr>
          <p:nvPr/>
        </p:nvSpPr>
        <p:spPr>
          <a:xfrm>
            <a:off x="762000" y="6134100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虚线：终态与任务要求进入评测</a:t>
            </a:r>
          </a:p>
        </p:txBody>
      </p:sp>
      <p:sp>
        <p:nvSpPr>
          <p:cNvPr id="40" name="本库机制示意；依据 S001 §6、§6.6，PDF pp.55–64；终态评测信号未必向">
            <a:extLst>
              <a:ext uri="{FF2B5EF4-FFF2-40B4-BE49-F238E27FC236}">
                <a16:creationId xmlns:a16="http://schemas.microsoft.com/office/drawing/2014/main" id="{2FDDD834-8128-4CCD-B3E1-96EB1DD3E1B3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本库机制示意；依据 S001 §6、§6.6，PDF pp.55–64；终态评测信号未必向运行中 Agent 开放</a:t>
            </a:r>
          </a:p>
        </p:txBody>
      </p:sp>
      <p:sp>
        <p:nvSpPr>
          <p:cNvPr id="41" name="06">
            <a:extLst>
              <a:ext uri="{FF2B5EF4-FFF2-40B4-BE49-F238E27FC236}">
                <a16:creationId xmlns:a16="http://schemas.microsoft.com/office/drawing/2014/main" id="{283FF30D-B609-42F4-8DC5-021A097D466F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9516C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1350" b="0">
              <a:solidFill>
                <a:srgbClr val="59516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9275794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3413</Words>
  <Application>Microsoft Office PowerPoint</Application>
  <DocSecurity>0</DocSecurity>
  <PresentationFormat>宽屏</PresentationFormat>
  <Paragraphs>398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zixuan zeng</cp:lastModifiedBy>
  <cp:revision>2</cp:revision>
  <dcterms:created xsi:type="dcterms:W3CDTF">2026-10-28T07:25:14Z</dcterms:created>
  <dcterms:modified xsi:type="dcterms:W3CDTF">2026-10-28T08:41:29Z</dcterms:modified>
</cp:coreProperties>
</file>