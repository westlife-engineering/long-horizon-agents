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6ea8be4fbd4b90" /><Relationship Type="http://schemas.openxmlformats.org/officeDocument/2006/relationships/extended-properties" Target="/docProps/app.xml" Id="Rbe1a823a40274586" /><Relationship Type="http://schemas.openxmlformats.org/officeDocument/2006/relationships/officeDocument" Target="/ppt/presentation.xml" Id="R827a2b1c76c0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7ddb0670484dcc"/>
  </p:sldMasterIdLst>
  <p:notesMasterIdLst>
    <p:notesMasterId xmlns:r="http://schemas.openxmlformats.org/officeDocument/2006/relationships" r:id="R5f0f29c0f65843ef"/>
  </p:notesMasterIdLst>
  <p:sldIdLst>
    <p:sldId xmlns:r="http://schemas.openxmlformats.org/officeDocument/2006/relationships" id="256" r:id="R484397d59ada4629"/>
    <p:sldId xmlns:r="http://schemas.openxmlformats.org/officeDocument/2006/relationships" id="257" r:id="R12f1bb3a41b94f43"/>
    <p:sldId xmlns:r="http://schemas.openxmlformats.org/officeDocument/2006/relationships" id="258" r:id="R9b5f8e2379774110"/>
    <p:sldId xmlns:r="http://schemas.openxmlformats.org/officeDocument/2006/relationships" id="259" r:id="R59492cbcb2154560"/>
    <p:sldId xmlns:r="http://schemas.openxmlformats.org/officeDocument/2006/relationships" id="260" r:id="R04ce074e0e7040cd"/>
    <p:sldId xmlns:r="http://schemas.openxmlformats.org/officeDocument/2006/relationships" id="261" r:id="Ra31807b4c29a4fe0"/>
    <p:sldId xmlns:r="http://schemas.openxmlformats.org/officeDocument/2006/relationships" id="262" r:id="Rf0b61e85bb1e4ce1"/>
    <p:sldId xmlns:r="http://schemas.openxmlformats.org/officeDocument/2006/relationships" id="263" r:id="R547275fc4e83424d"/>
    <p:sldId xmlns:r="http://schemas.openxmlformats.org/officeDocument/2006/relationships" id="264" r:id="R0e78cfcbf0c940bd"/>
    <p:sldId xmlns:r="http://schemas.openxmlformats.org/officeDocument/2006/relationships" id="265" r:id="Rc35d7251c67a4d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06e701761546ed" /><Relationship Type="http://schemas.openxmlformats.org/officeDocument/2006/relationships/slideMaster" Target="/ppt/slideMasters/slideMaster1.xml" Id="Rae7ddb0670484dcc" /><Relationship Type="http://schemas.openxmlformats.org/officeDocument/2006/relationships/notesMaster" Target="/ppt/notesMasters/notesMaster1.xml" Id="R5f0f29c0f65843ef" /><Relationship Type="http://schemas.openxmlformats.org/officeDocument/2006/relationships/presProps" Target="/ppt/presProps.xml" Id="R8272c74cd8a546cc" /><Relationship Type="http://schemas.openxmlformats.org/officeDocument/2006/relationships/tableStyles" Target="/ppt/tableStyles.xml" Id="R0639bdd8694243df" /><Relationship Type="http://schemas.openxmlformats.org/officeDocument/2006/relationships/slide" Target="/ppt/slides/slide1.xml" Id="R484397d59ada4629" /><Relationship Type="http://schemas.openxmlformats.org/officeDocument/2006/relationships/slide" Target="/ppt/slides/slide2.xml" Id="R12f1bb3a41b94f43" /><Relationship Type="http://schemas.openxmlformats.org/officeDocument/2006/relationships/slide" Target="/ppt/slides/slide3.xml" Id="R9b5f8e2379774110" /><Relationship Type="http://schemas.openxmlformats.org/officeDocument/2006/relationships/slide" Target="/ppt/slides/slide4.xml" Id="R59492cbcb2154560" /><Relationship Type="http://schemas.openxmlformats.org/officeDocument/2006/relationships/slide" Target="/ppt/slides/slide5.xml" Id="R04ce074e0e7040cd" /><Relationship Type="http://schemas.openxmlformats.org/officeDocument/2006/relationships/slide" Target="/ppt/slides/slide6.xml" Id="Ra31807b4c29a4fe0" /><Relationship Type="http://schemas.openxmlformats.org/officeDocument/2006/relationships/slide" Target="/ppt/slides/slide7.xml" Id="Rf0b61e85bb1e4ce1" /><Relationship Type="http://schemas.openxmlformats.org/officeDocument/2006/relationships/slide" Target="/ppt/slides/slide8.xml" Id="R547275fc4e83424d" /><Relationship Type="http://schemas.openxmlformats.org/officeDocument/2006/relationships/slide" Target="/ppt/slides/slide9.xml" Id="R0e78cfcbf0c940bd" /><Relationship Type="http://schemas.openxmlformats.org/officeDocument/2006/relationships/slide" Target="/ppt/slides/slide10.xml" Id="Rc35d7251c67a4d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5aff12bac84c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632ab84e642cc" /><Relationship Type="http://schemas.openxmlformats.org/officeDocument/2006/relationships/notesMaster" Target="/ppt/notesMasters/notesMaster1.xml" Id="R929467a9fe084d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a1e6d2ca7440dc" /><Relationship Type="http://schemas.openxmlformats.org/officeDocument/2006/relationships/notesMaster" Target="/ppt/notesMasters/notesMaster1.xml" Id="R5f01967d4b40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8b4e02ca154313" /><Relationship Type="http://schemas.openxmlformats.org/officeDocument/2006/relationships/notesMaster" Target="/ppt/notesMasters/notesMaster1.xml" Id="R8a63da00a31340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a4a0c772294109" /><Relationship Type="http://schemas.openxmlformats.org/officeDocument/2006/relationships/notesMaster" Target="/ppt/notesMasters/notesMaster1.xml" Id="R008f633dd0d242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b7427e6bb04254" /><Relationship Type="http://schemas.openxmlformats.org/officeDocument/2006/relationships/notesMaster" Target="/ppt/notesMasters/notesMaster1.xml" Id="R5aeff5112d8a47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cb6f4def32469d" /><Relationship Type="http://schemas.openxmlformats.org/officeDocument/2006/relationships/notesMaster" Target="/ppt/notesMasters/notesMaster1.xml" Id="R6c1c6fe0927c43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7ce7307b7e4f67" /><Relationship Type="http://schemas.openxmlformats.org/officeDocument/2006/relationships/notesMaster" Target="/ppt/notesMasters/notesMaster1.xml" Id="R187d9b86046148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fb139d0024414" /><Relationship Type="http://schemas.openxmlformats.org/officeDocument/2006/relationships/notesMaster" Target="/ppt/notesMasters/notesMaster1.xml" Id="R5251329eee044e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0c812481344c26" /><Relationship Type="http://schemas.openxmlformats.org/officeDocument/2006/relationships/notesMaster" Target="/ppt/notesMasters/notesMaster1.xml" Id="Rd8457c8505c941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958d1f0c5d4f25" /><Relationship Type="http://schemas.openxmlformats.org/officeDocument/2006/relationships/notesMaster" Target="/ppt/notesMasters/notesMaster1.xml" Id="Rcbbc3cbd7b8547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 Foundation 与 Harness，预计约 13 分钟。Foundation 约 3–4 分钟，Harness 约 10 分钟。后续补充 Model Optimization、Application 与 Frontier。主要来源为本地 raw/surveys/Towards Long-Horizon Agents.pdf（S001），SHA-256 C62DA7E66A4C3F7251ED8B450F51DF6500B2F850C7C70853779614E3D780E738。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秒。Long-Horizon 依据相互依赖的决策与持续交互定义，时长或调用次数不能单独判定。H1–H3 是本综述的操作性框架，C2 在 C1 基础上增加状态延续，C3 增加跨任务经验积累。层级判断还需说明窗口与交接条件。批处理与调试的比较是教学例子。来源：S001 §2.1 PDF pp.7、9，§2.2 pp.10–11，§2.4.1 p.13；wiki/foundations/Formalization.md。 H1–H3 与 C1–C3 的英文名称按原文 Fig.3（PDF p.10）保留。Context Window 的容量与 Handoff 条件会影响层级判断。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75 秒。沿横向流程解释 Environment State s_t、Observation o_t、Context c_t、Action a_t 与下一 Environment State s_{t+1}。Q 表示 Task Specification，History 包括 o_{0:t} 与 a_{0:t-1}；本轮 Observation 已到来，Action 尚未提出。四个公式分别对应 Observation、Context Construction、Action Selection 与 State Transition。πθ 是 Base Policy，ℋ 是 Harness，⊕ 表示 Runtime Coupling。图中的 Validation &amp; Execution 是原文式外说明的 Harness 职责，并不意味着 ℋ 只负责构造 Context。返回线表示 t 更新为 t+1 后重复该过程，直至 Termination；省略了拒绝、失败重试及并行调度。箭头是过程顺序，State Transition 仍同时依赖 s_t 与 a_t。来源：S001 §2.1 PDF p.9，Eq.1 与 Agent–Environment Loop；wiki/foundations/Formalization.md。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秒。依据综述 §2.4 的三个相邻概念组织。Long-Horizon 关注任务依赖所要求的 C1–C3 能力；Long-Running 关注执行时长与恢复，可运行很久但各步逻辑解耦。Autonomous 关注人工参与和控制程度，属于治理维度，不直接衡量任务能力；Long-Horizon Agent 可以保留 Approval Checkpoints。Self-Evolving 指经验驱动的持久系统改变，以改善未来表现，改变对象包括 Parameters、Memory、Tools、Topology，并不限于模型权重。H1 / H2 不以 Self-evolution 为必要条件，但并非所有 H1 / H2 系统都固定不变。H3 / C3 与 Self-evolution 高度重叠，综述把 Self-evolution 视为实现 C3 的一种机制，不能把它们画成互斥集合。四行描述不同维度，既不是四类互斥产品，也不是能力升级顺序。来源：S001 §2.4.1 p.13；§2.4.2 pp.13–14；§2.4.3 与 Fig.5 p.14；本节结语 p.15。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40 秒。六类机制是职责分类，不是每次运行必须依次执行的六个步骤。实际实现可能同时承担多个职责。后续讨论聚焦跨模块交接中的依据采用、约束覆盖和结果归属。来源：S001 §4 PDF p.20、Table 2 p.21；wiki/harness/Overview.md。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秒。结构按 S001 §4 总览与 Table 2（PDF pp.20–21）重绘，并参考 wiki/harness/Overview.md。上层 Orchestration 超出单个 Agent Loop，负责任务分解、角色分配、路由和协调。Loops and Workflows 决定 Model Call、Action、Observation、检查与状态更新的控制顺序，可以采用 Linear、Plan-Execute 或 Branching，不是固定流水线。Context and Memory 管理本轮 Working Context 与跨窗口、任务、Session 的 Persistent Memory。Base Policy 提出 Action。Hooks and Middleware 在预定义执行点提供检查、修改、暂停、阻止或转交，图中只示意 Action 执行前的一个位置。Tools, MCP, and Skills 接入外部能力并复用过程。Environment 返回 Observation，供后续 Context 更新。Verification 可以评估 State、Action、Output 与 Side Effects，不只在末尾验收；虚线表示检查与控制反馈关系，不是必经执行步骤。其结果进入后续继续、修订或接受结果的控制。Hooks 与 Verification 职责可由同一函数共同实现，图中的分区不表示六个独立进程。此图为综述内容的教学归纳，非原论文系统架构图。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 秒。Working Context 与 Persistent Memory 按运行时用途区分。规则文件在磁盘上是持久记录，加载后也成为本轮 Context。Fig.8 中 Discard、Compress、Select 对应正文的 Context Discard、Context Compression、Context Selection，可组合使用。Factual Memory 与 Experiential Memory 是内容分类；文本、图或代码是表示形式。Memory Operations 包括 Write、Maintain、Retrieve。Memory Retrieval 不代表记录已被正确理解或适当使用。来源：S001 §4.2、Fig.8 PDF pp.23–26；wiki/harness/memory.md。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60–70 秒。本页按职责对比，不按互斥对象分类。Verification 不仅评价最终 Output，也可检查 State、Action 的 Safety 和中间推理质量；可形成判断、评分或诊断，用于搜索选择、修订和验收。Hooks 提供执行路径上的可编程介入位置，并把 Policy 或风险判断落实为 Allow / Block / Hand-off 等控制。必须区分调用与干预：到达预设 Lifecycle Point 时可调用 Hook；是否阻止、修改或转交取决于具体条件。Pre-defined Rule-based Hooks 和 Custom User-defined Hooks 的条件来源分别是框架规则与部署者 Policy；Runtime-adaptive Hooks 可从 Uncertainty、行为变化与威胁变化等 Runtime Signals 形成触发条件，不能把所有 Hooks 都说成固定规则。Verification 的调用由 Workflow / 检查策略组织，可在 Step-level 或 End-of-run 介入，不以已经发生违规为前提。Step-level 不等于一定在动作之后，Safety Verification 可以在执行之前进行。评价对象和时点都可能重叠；同一函数可同时形成判断并执行控制。表格是对 S001 职责的归纳，不要求分成两个独立模块。综述 §4.5.3 的部分不确定性方法仅输出风险信号，因此表中 Hooks 的控制职责是系统接口层面的概括，实际仍需检查判断是否接入执行机制。来源：S001 §4.5 pp.31–34；§4.6 p.34；§4.6.2–4.6.3 pp.36–37；wiki/harness/hooks.md 与 wiki/harness/verification.md。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简短讲稿（约 45–60 秒）：</a:t>
            </a:r>
          </a:p>
          <a:p xmlns:a="http://schemas.openxmlformats.org/drawingml/2006/main">
            <a:r>
              <a:t>这一页关注的是，局部判断在共享后，会不会被当成确定事实。比如 Branch A 只是暂时把性能提升归因于 Memory，但写入 Memory 时，原来的假设被省略了。Branch B 再取回，就可能直接把它写成论文结论。长任务会反复复用这些记录，因此一次条件丢失可能影响后续多个判断。由此得到的思考是：共享记录除了保存结论，还应保留证据、成立条件，以及它是候选解释还是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补充说明与来源：</a:t>
            </a:r>
          </a:p>
          <a:p xmlns:a="http://schemas.openxmlformats.org/drawingml/2006/main">
            <a:r>
              <a:t>约 75–90 秒。核心问题：一个 Branch 的候选解释经过 Memory 写入和检索后，会不会被另一执行者当成已确认事实？本页把讨论记录 C.1 的文献整理情境具体化：Branch A 在模型与预算一致的假设下，暂将性能提升解释为 Memory 的作用；压缩后的共享记录只保留“Memory 提升性能”；Branch B 写总结时省略了原假设，并把候选解释当作论文结论。该情境是为讲解构造的示意，不对应任何实际论文实验，模型与预算一致也不是完成因果归因的充分条件。讨论价值在于 Long-Horizon Tasks 的后续步骤会反复取回并使用记录，条件遗漏可能随多次复用传播。思考落点：记录不仅要保存结论，还要保存支持它的证据、成立条件和当前判断状态；取回时区分参考候选解释与采用已确认事实。及时共享可靠观察仍有价值，不主张所有 Branch 隔离或等全部结束再共享。来源：组会/2026-10-28-Harness/讨论记录.md C.1、E；S001 §4.1.3 p.22、§4.2.2 p.26、§4.4.4 pp.30–31。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简短讲稿（约 40–50 秒）：</a:t>
            </a:r>
          </a:p>
          <a:p xmlns:a="http://schemas.openxmlformats.org/drawingml/2006/main">
            <a:r>
              <a:t>这一页关注的是，Verifier 可能在检查过程中补做任务。比如 Agent 只写出了草稿，没有保存；Verifier 检查时先保存，再确认文件存在。如果最后只记录“任务完成”，就容易把检查时补做的部分也算到原 Agent 身上。主动检查和修复本身有价值，但评价时应区分原执行的结果和介入后的结果，只记录会改变达标状态的动作。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补充说明与来源：本页来自讨论记录 C.3 的保存情境，是基于综述的拓展思考，不是论文报告的实验。S001 §4.6.2 PDF p.36 说明 Agentic Verifiers 能推理、调用 Tool，并主动探查 Environment。保存动作改变了“指定文件已保存”这一验收要求的达标状态，介入后的文件存在不能反推介入前已完成。若系统明确授权检查并修复，可以报告整体完成，但应保留补做贡献；无须禁止 Verifier 行动，也不必追踪不影响任务判定的焦点或访问记录变化。该情境只讨论保存要求，不证明文件内容正确或整项任务完成。来源：组会/2026-10-28-Harness/讨论记录.md C.3；S001 §4.6.2 p.36。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2ab08805148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b7f96922b47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31c17daaf45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3aac4a01a4c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eb6dfb232f44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eb97ae99f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9E3B7B-8101-4530-A1E8-BC44710C97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BCF2E5-F78D-4049-99DD-C58915638D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744BAC-ECF3-46B6-8CF1-D77DBFBA39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6D55E5-8CA7-4BCC-ADAC-229A1F3CB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4DC87E-DA8C-410B-85F3-FBEEBD142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3817D-4595-46C4-A8F1-3E17E9F0FF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7744CB-3821-42B2-8796-D7A7269AF0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4BE97E-0344-4B8A-A23E-EE424CA571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665BC3-12B1-4BAA-A252-C3C1953E2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45E26B-7D8F-4FF7-B649-FC90BC258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c0da85f09b48a0" /><Relationship Type="http://schemas.openxmlformats.org/officeDocument/2006/relationships/slideLayout" Target="/ppt/slideLayouts/slideLayout1.xml" Id="R26ac7339570c489c" /><Relationship Type="http://schemas.openxmlformats.org/officeDocument/2006/relationships/slideLayout" Target="/ppt/slideLayouts/slideLayout2.xml" Id="Re04b19c50ba54122" /><Relationship Type="http://schemas.openxmlformats.org/officeDocument/2006/relationships/slideLayout" Target="/ppt/slideLayouts/slideLayout3.xml" Id="Ra892c5d415714beb" /><Relationship Type="http://schemas.openxmlformats.org/officeDocument/2006/relationships/slideLayout" Target="/ppt/slideLayouts/slideLayout4.xml" Id="R7b0cef3f3d534415" /><Relationship Type="http://schemas.openxmlformats.org/officeDocument/2006/relationships/slideLayout" Target="/ppt/slideLayouts/slideLayout5.xml" Id="Rd3ce1d5ec8ad4ed4" /><Relationship Type="http://schemas.openxmlformats.org/officeDocument/2006/relationships/slideLayout" Target="/ppt/slideLayouts/slideLayout6.xml" Id="R2dbd512ff915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ac7339570c489c"/>
    <p:sldLayoutId xmlns:r="http://schemas.openxmlformats.org/officeDocument/2006/relationships" id="2147483650" r:id="Re04b19c50ba54122"/>
    <p:sldLayoutId xmlns:r="http://schemas.openxmlformats.org/officeDocument/2006/relationships" id="2147483651" r:id="Ra892c5d415714beb"/>
    <p:sldLayoutId xmlns:r="http://schemas.openxmlformats.org/officeDocument/2006/relationships" id="2147483652" r:id="R7b0cef3f3d534415"/>
    <p:sldLayoutId xmlns:r="http://schemas.openxmlformats.org/officeDocument/2006/relationships" id="2147483653" r:id="Rd3ce1d5ec8ad4ed4"/>
    <p:sldLayoutId xmlns:r="http://schemas.openxmlformats.org/officeDocument/2006/relationships" id="2147483654" r:id="R2dbd512ff915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da7df2f1a745cb" /><Relationship Type="http://schemas.openxmlformats.org/officeDocument/2006/relationships/notesSlide" Target="/ppt/notesSlides/notesSlide1.xml" Id="Rb50244b4b7bd41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c0209f8c84266" /><Relationship Type="http://schemas.openxmlformats.org/officeDocument/2006/relationships/notesSlide" Target="/ppt/notesSlides/notesSlide2.xml" Id="Rd5c254b1e02d40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5d3b6b20741c9" /><Relationship Type="http://schemas.openxmlformats.org/officeDocument/2006/relationships/image" Target="/ppt/media/image.png" Id="R63d1c916f60947f2" /><Relationship Type="http://schemas.openxmlformats.org/officeDocument/2006/relationships/image" Target="/ppt/media/image2.png" Id="R60f5350997f44156" /><Relationship Type="http://schemas.openxmlformats.org/officeDocument/2006/relationships/image" Target="/ppt/media/image3.png" Id="R35539a11429c421b" /><Relationship Type="http://schemas.openxmlformats.org/officeDocument/2006/relationships/image" Target="/ppt/media/image4.png" Id="Rb50a3bd31c4f45cc" /><Relationship Type="http://schemas.openxmlformats.org/officeDocument/2006/relationships/image" Target="/ppt/media/image5.png" Id="Rb8204cadea4d47b6" /><Relationship Type="http://schemas.openxmlformats.org/officeDocument/2006/relationships/notesSlide" Target="/ppt/notesSlides/notesSlide3.xml" Id="R3f3f3ed2b59f40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75796e91d446d" /><Relationship Type="http://schemas.openxmlformats.org/officeDocument/2006/relationships/notesSlide" Target="/ppt/notesSlides/notesSlide4.xml" Id="R550ce044d13a4d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daf90a65bb4d1a" /><Relationship Type="http://schemas.openxmlformats.org/officeDocument/2006/relationships/notesSlide" Target="/ppt/notesSlides/notesSlide5.xml" Id="Rf8d63d305f3c4c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e9278e3ab429a" /><Relationship Type="http://schemas.openxmlformats.org/officeDocument/2006/relationships/notesSlide" Target="/ppt/notesSlides/notesSlide6.xml" Id="Rebaf0c6689e2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3c8c0644540bb" /><Relationship Type="http://schemas.openxmlformats.org/officeDocument/2006/relationships/notesSlide" Target="/ppt/notesSlides/notesSlide7.xml" Id="R99f46c4c2edf45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ecffd48e2473c" /><Relationship Type="http://schemas.openxmlformats.org/officeDocument/2006/relationships/notesSlide" Target="/ppt/notesSlides/notesSlide8.xml" Id="Rb7338f8913a34d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68a98b37040c0" /><Relationship Type="http://schemas.openxmlformats.org/officeDocument/2006/relationships/notesSlide" Target="/ppt/notesSlides/notesSlide9.xml" Id="Rb284265bde6e4d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fd6e65b8a42bd" /><Relationship Type="http://schemas.openxmlformats.org/officeDocument/2006/relationships/notesSlide" Target="/ppt/notesSlides/notesSlide10.xml" Id="Rfbe6fc3d326841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F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第一次组会 · 综述阅读与讨论">
            <a:extLst xmlns:a="http://schemas.openxmlformats.org/drawingml/2006/main">
              <a:ext uri="{FF2B5EF4-FFF2-40B4-BE49-F238E27FC236}">
                <a16:creationId xmlns:a16="http://schemas.microsoft.com/office/drawing/2014/main" id="{5E950632-F60D-4D69-AB51-6C3ED95B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DDAD6"/>
                </a:solidFill>
                <a:latin typeface="Microsoft YaHei"/>
                <a:ea typeface="Microsoft YaHei"/>
                <a:cs typeface="Microsoft YaHei"/>
              </a:rPr>
              <a:t>第一次组会 · 综述阅读与讨论</a:t>
            </a:r>
          </a:p>
        </p:txBody>
      </p:sp>
      <p:sp>
        <p:nvSpPr>
          <p:cNvPr id="2" name="Long-Horizon&#10;Agents">
            <a:extLst xmlns:a="http://schemas.openxmlformats.org/drawingml/2006/main">
              <a:ext uri="{FF2B5EF4-FFF2-40B4-BE49-F238E27FC236}">
                <a16:creationId xmlns:a16="http://schemas.microsoft.com/office/drawing/2014/main" id="{979440D8-115C-4A43-BD28-A2C91B77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382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Long-Horizon</a:t>
            </a:r>
          </a:p>
          <a:p xmlns:a="http://schemas.openxmlformats.org/drawingml/2006/main"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Agents</a:t>
            </a:r>
          </a:p>
        </p:txBody>
      </p:sp>
      <p:sp>
        <p:nvSpPr>
          <p:cNvPr id="3" name="Foundation 与 Harness">
            <a:extLst xmlns:a="http://schemas.openxmlformats.org/drawingml/2006/main">
              <a:ext uri="{FF2B5EF4-FFF2-40B4-BE49-F238E27FC236}">
                <a16:creationId xmlns:a16="http://schemas.microsoft.com/office/drawing/2014/main" id="{268052BC-4ED0-4904-B7D2-06CF54C8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A8DBD1"/>
                </a:solidFill>
                <a:latin typeface="Microsoft YaHei"/>
                <a:ea typeface="Microsoft YaHei"/>
                <a:cs typeface="Microsoft YaHei"/>
              </a:rPr>
              <a:t>Foundation 与 Harness</a:t>
            </a:r>
          </a:p>
        </p:txBody>
      </p:sp>
      <p:sp>
        <p:nvSpPr>
          <p:cNvPr id="4" name="Long-Horizon Tasks 的决策依赖与运行机制">
            <a:extLst xmlns:a="http://schemas.openxmlformats.org/drawingml/2006/main">
              <a:ext uri="{FF2B5EF4-FFF2-40B4-BE49-F238E27FC236}">
                <a16:creationId xmlns:a16="http://schemas.microsoft.com/office/drawing/2014/main" id="{327FA7C3-9596-45F5-AFDA-EEB4E22F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2ECEB"/>
                </a:solidFill>
                <a:latin typeface="Microsoft YaHei"/>
                <a:ea typeface="Microsoft YaHei"/>
                <a:cs typeface="Microsoft YaHei"/>
              </a:rPr>
              <a:t>Long-Horizon Tasks 的决策依赖与运行机制</a:t>
            </a:r>
          </a:p>
        </p:txBody>
      </p:sp>
      <p:sp>
        <p:nvSpPr>
          <p:cNvPr id="5" name="基于 Towards Long-Horizon Agents: A Su">
            <a:extLst xmlns:a="http://schemas.openxmlformats.org/drawingml/2006/main">
              <a:ext uri="{FF2B5EF4-FFF2-40B4-BE49-F238E27FC236}">
                <a16:creationId xmlns:a16="http://schemas.microsoft.com/office/drawing/2014/main" id="{E82E8708-F6AA-444E-BF86-DB3FCAB0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64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3C4CC"/>
                </a:solidFill>
                <a:latin typeface="Microsoft YaHei"/>
                <a:ea typeface="Microsoft YaHei"/>
                <a:cs typeface="Microsoft YaHei"/>
              </a:rPr>
              <a:t>基于 Towards Long-Horizon Agents: A Survey（S001）</a:t>
            </a:r>
          </a:p>
        </p:txBody>
      </p:sp>
    </p:spTree>
    <p:extLst>
      <p:ext uri="{BB962C8B-B14F-4D97-AF65-F5344CB8AC3E}">
        <p14:creationId xmlns:p14="http://schemas.microsoft.com/office/powerpoint/2010/main" val="932454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  Foundation · 概念">
            <a:extLst xmlns:a="http://schemas.openxmlformats.org/drawingml/2006/main">
              <a:ext uri="{FF2B5EF4-FFF2-40B4-BE49-F238E27FC236}">
                <a16:creationId xmlns:a16="http://schemas.microsoft.com/office/drawing/2014/main" id="{48EE118A-F006-4C25-9792-0601AD03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Long-Horizon Tasks 具有持续的决策依赖">
            <a:extLst xmlns:a="http://schemas.openxmlformats.org/drawingml/2006/main">
              <a:ext uri="{FF2B5EF4-FFF2-40B4-BE49-F238E27FC236}">
                <a16:creationId xmlns:a16="http://schemas.microsoft.com/office/drawing/2014/main" id="{210F11A5-1921-4E1C-BB78-5B35D7B4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Long-Horizon Tasks 具有持续的决策依赖</a:t>
            </a:r>
          </a:p>
        </p:txBody>
      </p:sp>
      <p:sp>
        <p:nvSpPr>
          <p:cNvPr id="3" name="前序决策影响后续行动，环境反馈可能要求修订计划。">
            <a:extLst xmlns:a="http://schemas.openxmlformats.org/drawingml/2006/main">
              <a:ext uri="{FF2B5EF4-FFF2-40B4-BE49-F238E27FC236}">
                <a16:creationId xmlns:a16="http://schemas.microsoft.com/office/drawing/2014/main" id="{B02B701B-DC93-4A72-B2A7-DE12CED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前序决策影响后续行动，环境反馈可能要求修订计划。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C8317-DC95-4257-A965-D3EFE3C058C2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0668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333750"/>
                <a:gridCol w="4191000"/>
              </a:tblGrid>
              <a:tr h="51435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 Level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新增要求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</a:tr>
              <a:tr h="84455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 Intra-Context Tasks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 Context 内持续交互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 Intra-Context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Interactive Reasoning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455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 Cross-Context Tasks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Context / Session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保存约束与进度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  Cross-Context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and Memory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  <a:tr h="84455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 Cross-Task Streams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后续任务利用已有经验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  Cross-Task</a:t>
                      </a:r>
                    </a:p>
                    <a:p>
                      <a:r>
                        <a:rPr sz="1800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Experience Accumulation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独立批处理主要增加工作量；诊断、修改与测试则形成相互依赖的决策。">
            <a:extLst xmlns:a="http://schemas.openxmlformats.org/drawingml/2006/main">
              <a:ext uri="{FF2B5EF4-FFF2-40B4-BE49-F238E27FC236}">
                <a16:creationId xmlns:a16="http://schemas.microsoft.com/office/drawing/2014/main" id="{372BCFB1-BAA8-4347-9A31-22FA300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独立批处理主要增加工作量；诊断、修改与测试则形成相互依赖的决策。</a:t>
            </a:r>
          </a:p>
        </p:txBody>
      </p:sp>
      <p:sp>
        <p:nvSpPr>
          <p:cNvPr id="6" name="综述框架：S001 §2.1–2.2，PDF pp.7、9–11；批处理">
            <a:extLst xmlns:a="http://schemas.openxmlformats.org/drawingml/2006/main">
              <a:ext uri="{FF2B5EF4-FFF2-40B4-BE49-F238E27FC236}">
                <a16:creationId xmlns:a16="http://schemas.microsoft.com/office/drawing/2014/main" id="{9983F270-B6CC-4C98-8D82-F943203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综述框架：S001 §2.1–2.2，PDF pp.7、9–11；批处理辨析：§2.4.1，p.13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3695819B-CA7C-4139-A644-F5299A86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0500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01  Foundation · 概念">
            <a:extLst xmlns:a="http://schemas.openxmlformats.org/drawingml/2006/main">
              <a:ext uri="{FF2B5EF4-FFF2-40B4-BE49-F238E27FC236}">
                <a16:creationId xmlns:a16="http://schemas.microsoft.com/office/drawing/2014/main" id="{ED6E9BCE-6C61-4240-8B5B-ACF6E9F4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Agent–Environment Loop">
            <a:extLst xmlns:a="http://schemas.openxmlformats.org/drawingml/2006/main">
              <a:ext uri="{FF2B5EF4-FFF2-40B4-BE49-F238E27FC236}">
                <a16:creationId xmlns:a16="http://schemas.microsoft.com/office/drawing/2014/main" id="{4F4E5CEB-7BE8-470F-A10C-598A1ED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Agent–Environment Loop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7FAAF-A3DF-4E0B-93F5-3DFE1CF97B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1c916f60947f2"/>
          <a:stretch xmlns:a="http://schemas.openxmlformats.org/drawingml/2006/main"/>
        </p:blipFill>
        <p:spPr>
          <a:xfrm xmlns:a="http://schemas.openxmlformats.org/drawingml/2006/main">
            <a:off x="1067363" y="1476375"/>
            <a:ext cx="2342024" cy="409575"/>
          </a:xfrm>
          <a:prstGeom xmlns:a="http://schemas.openxmlformats.org/drawingml/2006/main" prst="rect">
            <a:avLst/>
          </a:prstGeom>
        </p:spPr>
      </p:pic>
      <p:sp>
        <p:nvSpPr>
          <p:cNvPr id="4" name="Environment sₜ">
            <a:extLst xmlns:a="http://schemas.openxmlformats.org/drawingml/2006/main">
              <a:ext uri="{FF2B5EF4-FFF2-40B4-BE49-F238E27FC236}">
                <a16:creationId xmlns:a16="http://schemas.microsoft.com/office/drawing/2014/main" id="{614B2717-0D30-4B79-AF89-A7924067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7D5"/>
            </a:solidFill>
          </a:ln>
        </p:spPr>
      </p:sp>
      <p:sp>
        <p:nvSpPr>
          <p:cNvPr id="5" name="Environment">
            <a:extLst xmlns:a="http://schemas.openxmlformats.org/drawingml/2006/main">
              <a:ext uri="{FF2B5EF4-FFF2-40B4-BE49-F238E27FC236}">
                <a16:creationId xmlns:a16="http://schemas.microsoft.com/office/drawing/2014/main" id="{4CF0CA87-983F-47A1-B66F-FD2EFCFA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6" name="sₜ">
            <a:extLst xmlns:a="http://schemas.openxmlformats.org/drawingml/2006/main">
              <a:ext uri="{FF2B5EF4-FFF2-40B4-BE49-F238E27FC236}">
                <a16:creationId xmlns:a16="http://schemas.microsoft.com/office/drawing/2014/main" id="{8C3EF15F-B665-43D7-83B9-87C99BE6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sₜ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C8342-455A-4F0F-AEAE-BE067273A575}"/>
              </a:ext>
            </a:extLst>
          </p:cNvPr>
          <p:cNvCxnSpPr/>
          <p:nvPr/>
        </p:nvCxnSpPr>
        <p:spPr>
          <a:xfrm xmlns:a="http://schemas.openxmlformats.org/drawingml/2006/main">
            <a:off x="2667000" y="32194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tailEnd type="triangle" w="med" len="med"/>
          </a:ln>
        </p:spPr>
      </p:cxnSp>
      <p:sp>
        <p:nvSpPr>
          <p:cNvPr id="8" name="Observation oₜ">
            <a:extLst xmlns:a="http://schemas.openxmlformats.org/drawingml/2006/main">
              <a:ext uri="{FF2B5EF4-FFF2-40B4-BE49-F238E27FC236}">
                <a16:creationId xmlns:a16="http://schemas.microsoft.com/office/drawing/2014/main" id="{246C723B-3E04-48C7-81E7-6D4AA363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622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7D5"/>
            </a:solidFill>
          </a:ln>
        </p:spPr>
      </p:sp>
      <p:sp>
        <p:nvSpPr>
          <p:cNvPr id="9" name="Observation">
            <a:extLst xmlns:a="http://schemas.openxmlformats.org/drawingml/2006/main">
              <a:ext uri="{FF2B5EF4-FFF2-40B4-BE49-F238E27FC236}">
                <a16:creationId xmlns:a16="http://schemas.microsoft.com/office/drawing/2014/main" id="{C84529C5-F3F0-4AFA-BB2F-BF67763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10" name="oₜ">
            <a:extLst xmlns:a="http://schemas.openxmlformats.org/drawingml/2006/main">
              <a:ext uri="{FF2B5EF4-FFF2-40B4-BE49-F238E27FC236}">
                <a16:creationId xmlns:a16="http://schemas.microsoft.com/office/drawing/2014/main" id="{4CF3729F-D21D-4E77-8DE5-FDFC7128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289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oₜ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34165-9549-4DB1-A0D7-4078335E1DE8}"/>
              </a:ext>
            </a:extLst>
          </p:cNvPr>
          <p:cNvCxnSpPr/>
          <p:nvPr/>
        </p:nvCxnSpPr>
        <p:spPr>
          <a:xfrm xmlns:a="http://schemas.openxmlformats.org/drawingml/2006/main">
            <a:off x="4857750" y="32194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tailEnd type="triangle" w="med" len="med"/>
          </a:ln>
        </p:spPr>
      </p:cxnSp>
      <p:sp>
        <p:nvSpPr>
          <p:cNvPr id="12" name="Harness cₜ">
            <a:extLst xmlns:a="http://schemas.openxmlformats.org/drawingml/2006/main">
              <a:ext uri="{FF2B5EF4-FFF2-40B4-BE49-F238E27FC236}">
                <a16:creationId xmlns:a16="http://schemas.microsoft.com/office/drawing/2014/main" id="{0C2148AA-1913-4E63-B292-6084AEA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14288">
            <a:solidFill>
              <a:srgbClr val="146D71"/>
            </a:solidFill>
          </a:ln>
        </p:spPr>
      </p:sp>
      <p:sp>
        <p:nvSpPr>
          <p:cNvPr id="13" name="Harness">
            <a:extLst xmlns:a="http://schemas.openxmlformats.org/drawingml/2006/main">
              <a:ext uri="{FF2B5EF4-FFF2-40B4-BE49-F238E27FC236}">
                <a16:creationId xmlns:a16="http://schemas.microsoft.com/office/drawing/2014/main" id="{5722BC1A-3FCC-454F-93B7-578C574B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4" name="cₜ">
            <a:extLst xmlns:a="http://schemas.openxmlformats.org/drawingml/2006/main">
              <a:ext uri="{FF2B5EF4-FFF2-40B4-BE49-F238E27FC236}">
                <a16:creationId xmlns:a16="http://schemas.microsoft.com/office/drawing/2014/main" id="{394C5A90-BF72-4BFD-8AE2-E6B18CEA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289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cₜ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D4DAD-6C17-4F19-B73F-E42293443464}"/>
              </a:ext>
            </a:extLst>
          </p:cNvPr>
          <p:cNvCxnSpPr/>
          <p:nvPr/>
        </p:nvCxnSpPr>
        <p:spPr>
          <a:xfrm xmlns:a="http://schemas.openxmlformats.org/drawingml/2006/main">
            <a:off x="7048500" y="32194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tailEnd type="triangle" w="med" len="med"/>
          </a:ln>
        </p:spPr>
      </p:cxnSp>
      <p:sp>
        <p:nvSpPr>
          <p:cNvPr id="16" name="Base Policy aₜ">
            <a:extLst xmlns:a="http://schemas.openxmlformats.org/drawingml/2006/main">
              <a:ext uri="{FF2B5EF4-FFF2-40B4-BE49-F238E27FC236}">
                <a16:creationId xmlns:a16="http://schemas.microsoft.com/office/drawing/2014/main" id="{FC5143F0-3856-4252-9560-AA659F3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7D5"/>
            </a:solidFill>
          </a:ln>
        </p:spPr>
      </p:sp>
      <p:sp>
        <p:nvSpPr>
          <p:cNvPr id="17" name="Base Policy">
            <a:extLst xmlns:a="http://schemas.openxmlformats.org/drawingml/2006/main">
              <a:ext uri="{FF2B5EF4-FFF2-40B4-BE49-F238E27FC236}">
                <a16:creationId xmlns:a16="http://schemas.microsoft.com/office/drawing/2014/main" id="{AB0796C4-1B9B-4641-8C6D-53EFE3B3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aₜ">
            <a:extLst xmlns:a="http://schemas.openxmlformats.org/drawingml/2006/main">
              <a:ext uri="{FF2B5EF4-FFF2-40B4-BE49-F238E27FC236}">
                <a16:creationId xmlns:a16="http://schemas.microsoft.com/office/drawing/2014/main" id="{414C1459-1AB4-4B83-AF7F-9BA4E545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289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aₜ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874D3-E574-466F-B26D-AFFCB2BEFD12}"/>
              </a:ext>
            </a:extLst>
          </p:cNvPr>
          <p:cNvCxnSpPr/>
          <p:nvPr/>
        </p:nvCxnSpPr>
        <p:spPr>
          <a:xfrm xmlns:a="http://schemas.openxmlformats.org/drawingml/2006/main">
            <a:off x="9239250" y="32194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tailEnd type="triangle" w="med" len="med"/>
          </a:ln>
        </p:spPr>
      </p:cxnSp>
      <p:sp>
        <p:nvSpPr>
          <p:cNvPr id="20" name="Environment sₜ₊₁">
            <a:extLst xmlns:a="http://schemas.openxmlformats.org/drawingml/2006/main">
              <a:ext uri="{FF2B5EF4-FFF2-40B4-BE49-F238E27FC236}">
                <a16:creationId xmlns:a16="http://schemas.microsoft.com/office/drawing/2014/main" id="{D012BDC0-044D-4056-BE69-AD50DFFC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CD7D5"/>
            </a:solidFill>
          </a:ln>
        </p:spPr>
      </p:sp>
      <p:sp>
        <p:nvSpPr>
          <p:cNvPr id="21" name="Environment">
            <a:extLst xmlns:a="http://schemas.openxmlformats.org/drawingml/2006/main">
              <a:ext uri="{FF2B5EF4-FFF2-40B4-BE49-F238E27FC236}">
                <a16:creationId xmlns:a16="http://schemas.microsoft.com/office/drawing/2014/main" id="{2FA646B5-78ED-41CF-97E3-84DE714D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765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22" name="sₜ₊₁">
            <a:extLst xmlns:a="http://schemas.openxmlformats.org/drawingml/2006/main">
              <a:ext uri="{FF2B5EF4-FFF2-40B4-BE49-F238E27FC236}">
                <a16:creationId xmlns:a16="http://schemas.microsoft.com/office/drawing/2014/main" id="{977E69DA-6251-4A11-AF64-B5F18ED9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289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sₜ₊₁</a:t>
            </a:r>
          </a:p>
        </p:txBody>
      </p:sp>
      <p:sp>
        <p:nvSpPr>
          <p:cNvPr id="23" name="Task Specification Q + History">
            <a:extLst xmlns:a="http://schemas.openxmlformats.org/drawingml/2006/main">
              <a:ext uri="{FF2B5EF4-FFF2-40B4-BE49-F238E27FC236}">
                <a16:creationId xmlns:a16="http://schemas.microsoft.com/office/drawing/2014/main" id="{5CACEDC9-A7FA-4D34-AA1A-32BC79D4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669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Task Specification Q + History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FEC5A0-2BA1-4A4D-BF50-864977CC2538}"/>
              </a:ext>
            </a:extLst>
          </p:cNvPr>
          <p:cNvCxnSpPr/>
          <p:nvPr/>
        </p:nvCxnSpPr>
        <p:spPr>
          <a:xfrm xmlns:a="http://schemas.openxmlformats.org/drawingml/2006/main">
            <a:off x="6096000" y="24003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tailEnd type="triangle" w="med" len="med"/>
          </a:ln>
        </p:spPr>
      </p:cxnSp>
      <p:sp>
        <p:nvSpPr>
          <p:cNvPr id="25" name="Context">
            <a:extLst xmlns:a="http://schemas.openxmlformats.org/drawingml/2006/main">
              <a:ext uri="{FF2B5EF4-FFF2-40B4-BE49-F238E27FC236}">
                <a16:creationId xmlns:a16="http://schemas.microsoft.com/office/drawing/2014/main" id="{475AC000-1B57-47FC-8AED-1F072638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433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6" name="Action">
            <a:extLst xmlns:a="http://schemas.openxmlformats.org/drawingml/2006/main">
              <a:ext uri="{FF2B5EF4-FFF2-40B4-BE49-F238E27FC236}">
                <a16:creationId xmlns:a16="http://schemas.microsoft.com/office/drawing/2014/main" id="{7C837111-4586-44E7-A8E8-EFFC5C3A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433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27" name="Harness: Validation &amp; Execution">
            <a:extLst xmlns:a="http://schemas.openxmlformats.org/drawingml/2006/main">
              <a:ext uri="{FF2B5EF4-FFF2-40B4-BE49-F238E27FC236}">
                <a16:creationId xmlns:a16="http://schemas.microsoft.com/office/drawing/2014/main" id="{16554857-FC30-4462-A983-691BD59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33625"/>
            <a:ext cx="3590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Harness: Validation &amp; Execution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B1545D-DFA8-4231-9F0B-F949E1AE00BC}"/>
              </a:ext>
            </a:extLst>
          </p:cNvPr>
          <p:cNvCxnSpPr/>
          <p:nvPr/>
        </p:nvCxnSpPr>
        <p:spPr>
          <a:xfrm xmlns:a="http://schemas.openxmlformats.org/drawingml/2006/main">
            <a:off x="10477500" y="367665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3F0F5-4662-44DD-B78F-3A7F96B1E669}"/>
              </a:ext>
            </a:extLst>
          </p:cNvPr>
          <p:cNvCxnSpPr/>
          <p:nvPr/>
        </p:nvCxnSpPr>
        <p:spPr>
          <a:xfrm xmlns:a="http://schemas.openxmlformats.org/drawingml/2006/main">
            <a:off x="1714500" y="4267200"/>
            <a:ext cx="876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E8860-C7CA-4921-9D79-6DEC8D04C59A}"/>
              </a:ext>
            </a:extLst>
          </p:cNvPr>
          <p:cNvCxnSpPr/>
          <p:nvPr/>
        </p:nvCxnSpPr>
        <p:spPr>
          <a:xfrm xmlns:a="http://schemas.openxmlformats.org/drawingml/2006/main">
            <a:off x="1714500" y="367665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head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CEFFD-949B-40B7-B918-F83C8139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05275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7"/>
          </a:solidFill>
          <a:ln xmlns:a="http://schemas.openxmlformats.org/drawingml/2006/main" w="0">
            <a:noFill/>
          </a:ln>
        </p:spPr>
      </p:sp>
      <p:sp>
        <p:nvSpPr>
          <p:cNvPr id="32" name="t ← t + 1">
            <a:extLst xmlns:a="http://schemas.openxmlformats.org/drawingml/2006/main">
              <a:ext uri="{FF2B5EF4-FFF2-40B4-BE49-F238E27FC236}">
                <a16:creationId xmlns:a16="http://schemas.microsoft.com/office/drawing/2014/main" id="{E3DA07F5-5012-4A48-B569-41C23A69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05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t ← t + 1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B40B95-D127-4F8B-ABFE-E5E2FD878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5350997f44156"/>
          <a:stretch xmlns:a="http://schemas.openxmlformats.org/drawingml/2006/main"/>
        </p:blipFill>
        <p:spPr>
          <a:xfrm xmlns:a="http://schemas.openxmlformats.org/drawingml/2006/main">
            <a:off x="1841615" y="4695825"/>
            <a:ext cx="1841269" cy="457200"/>
          </a:xfrm>
          <a:prstGeom xmlns:a="http://schemas.openxmlformats.org/drawingml/2006/main" prst="rect">
            <a:avLst/>
          </a:prstGeom>
        </p:spPr>
      </p:pic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72849-92B1-43C0-9AAA-AA8E20522A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39a11429c421b"/>
          <a:stretch xmlns:a="http://schemas.openxmlformats.org/drawingml/2006/main"/>
        </p:blipFill>
        <p:spPr>
          <a:xfrm xmlns:a="http://schemas.openxmlformats.org/drawingml/2006/main">
            <a:off x="7029623" y="4695825"/>
            <a:ext cx="3562004" cy="457200"/>
          </a:xfrm>
          <a:prstGeom xmlns:a="http://schemas.openxmlformats.org/drawingml/2006/main" prst="rect">
            <a:avLst/>
          </a:prstGeom>
        </p:spPr>
      </p:pic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8AABB-A1A7-4DB6-99E4-4CC7DA1834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a3bd31c4f45cc"/>
          <a:stretch xmlns:a="http://schemas.openxmlformats.org/drawingml/2006/main"/>
        </p:blipFill>
        <p:spPr>
          <a:xfrm xmlns:a="http://schemas.openxmlformats.org/drawingml/2006/main">
            <a:off x="1764723" y="5467350"/>
            <a:ext cx="1995055" cy="457200"/>
          </a:xfrm>
          <a:prstGeom xmlns:a="http://schemas.openxmlformats.org/drawingml/2006/main" prst="rect">
            <a:avLst/>
          </a:prstGeom>
        </p:spPr>
      </p:pic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515F8B-6881-478C-9E42-E879A5DDC6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04cadea4d47b6"/>
          <a:stretch xmlns:a="http://schemas.openxmlformats.org/drawingml/2006/main"/>
        </p:blipFill>
        <p:spPr>
          <a:xfrm xmlns:a="http://schemas.openxmlformats.org/drawingml/2006/main">
            <a:off x="7436947" y="5467350"/>
            <a:ext cx="2747356" cy="457200"/>
          </a:xfrm>
          <a:prstGeom xmlns:a="http://schemas.openxmlformats.org/drawingml/2006/main" prst="rect">
            <a:avLst/>
          </a:prstGeom>
        </p:spPr>
      </p:pic>
      <p:sp>
        <p:nvSpPr>
          <p:cNvPr id="37" name="S001 §2.1, Eq.1 与 Agent–Environment ">
            <a:extLst xmlns:a="http://schemas.openxmlformats.org/drawingml/2006/main">
              <a:ext uri="{FF2B5EF4-FFF2-40B4-BE49-F238E27FC236}">
                <a16:creationId xmlns:a16="http://schemas.microsoft.com/office/drawing/2014/main" id="{708E9955-1861-4233-A484-8309CD7A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S001 §2.1, Eq.1 与 Agent–Environment Loop, PDF p.9；依据 Formalization.md 重绘的简化示意</a:t>
            </a:r>
          </a:p>
        </p:txBody>
      </p:sp>
      <p:sp>
        <p:nvSpPr>
          <p:cNvPr id="38" name="03">
            <a:extLst xmlns:a="http://schemas.openxmlformats.org/drawingml/2006/main">
              <a:ext uri="{FF2B5EF4-FFF2-40B4-BE49-F238E27FC236}">
                <a16:creationId xmlns:a16="http://schemas.microsoft.com/office/drawing/2014/main" id="{91BD0D48-0482-40C1-B2C6-A87FC0B3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5248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  Foundation · 概念辨析">
            <a:extLst xmlns:a="http://schemas.openxmlformats.org/drawingml/2006/main">
              <a:ext uri="{FF2B5EF4-FFF2-40B4-BE49-F238E27FC236}">
                <a16:creationId xmlns:a16="http://schemas.microsoft.com/office/drawing/2014/main" id="{A745E84B-93A9-4A9C-AE7A-D0EB208D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  Foundation · 概念辨析</a:t>
            </a:r>
          </a:p>
        </p:txBody>
      </p:sp>
      <p:sp>
        <p:nvSpPr>
          <p:cNvPr id="2" name="Long-Horizon 与相邻概念描述不同维度">
            <a:extLst xmlns:a="http://schemas.openxmlformats.org/drawingml/2006/main">
              <a:ext uri="{FF2B5EF4-FFF2-40B4-BE49-F238E27FC236}">
                <a16:creationId xmlns:a16="http://schemas.microsoft.com/office/drawing/2014/main" id="{1EFF0F89-395E-4A4E-9B32-0B92C2A4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Long-Horizon 与相邻概念描述不同维度</a:t>
            </a:r>
          </a:p>
        </p:txBody>
      </p:sp>
      <p:sp>
        <p:nvSpPr>
          <p:cNvPr id="3" name="同一 Agent 可以同时具有这些性质。">
            <a:extLst xmlns:a="http://schemas.openxmlformats.org/drawingml/2006/main">
              <a:ext uri="{FF2B5EF4-FFF2-40B4-BE49-F238E27FC236}">
                <a16:creationId xmlns:a16="http://schemas.microsoft.com/office/drawing/2014/main" id="{475261BF-072C-47CD-90B4-F0A442E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同一 Agent 可以同时具有这些性质。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295A8-9C0D-49B7-A5B3-78799C9EBD5C}"/>
              </a:ext>
            </a:extLst>
          </p:cNvPr>
          <p:cNvGraphicFramePr/>
          <p:nvPr/>
        </p:nvGraphicFramePr>
        <p:xfrm>
          <a:off xmlns:a="http://schemas.openxmlformats.org/drawingml/2006/main" x="762000" y="2114550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476500"/>
                <a:gridCol w="5191125"/>
              </a:tblGrid>
              <a:tr h="51435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主要维度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关键区别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相互依赖决策的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持续推进能力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通过交互维持推理，并按需延续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Memory、积累跨任务经验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Long-Running 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执行时长与持续运行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可运行数天，但各步骤仍相互独立；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长时间运行不等于复杂的决策依赖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Autonomous 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人工参与与控制程度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 可保留人工审批；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 Autonomy 也可能只完成短任务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Self-Evolving 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经验驱动的持久改变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旨在改善后续表现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/ H2 不要求持久自我改变；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/ C3 与 Self-evolution 高度重叠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</a:tbl>
          </a:graphicData>
        </a:graphic>
      </p:graphicFrame>
      <p:sp>
        <p:nvSpPr>
          <p:cNvPr id="5" name="三个相邻概念都不能单独说明系统能否完成 Long-Horizon Tas">
            <a:extLst xmlns:a="http://schemas.openxmlformats.org/drawingml/2006/main">
              <a:ext uri="{FF2B5EF4-FFF2-40B4-BE49-F238E27FC236}">
                <a16:creationId xmlns:a16="http://schemas.microsoft.com/office/drawing/2014/main" id="{7A9B5DC0-2AD7-47EA-B074-5B82DA9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三个相邻概念都不能单独说明系统能否完成 Long-Horizon Tasks。</a:t>
            </a:r>
          </a:p>
        </p:txBody>
      </p:sp>
      <p:sp>
        <p:nvSpPr>
          <p:cNvPr id="6" name="综述概念辨析：S001 §2.4.1–2.4.3, Fig.5, PDF">
            <a:extLst xmlns:a="http://schemas.openxmlformats.org/drawingml/2006/main">
              <a:ext uri="{FF2B5EF4-FFF2-40B4-BE49-F238E27FC236}">
                <a16:creationId xmlns:a16="http://schemas.microsoft.com/office/drawing/2014/main" id="{A7D7C720-2AA3-4594-B9F0-96F64D21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综述概念辨析：S001 §2.4.1–2.4.3, Fig.5, PDF pp.13–15</a:t>
            </a:r>
          </a:p>
        </p:txBody>
      </p:sp>
      <p:sp>
        <p:nvSpPr>
          <p:cNvPr id="7" name="04">
            <a:extLst xmlns:a="http://schemas.openxmlformats.org/drawingml/2006/main">
              <a:ext uri="{FF2B5EF4-FFF2-40B4-BE49-F238E27FC236}">
                <a16:creationId xmlns:a16="http://schemas.microsoft.com/office/drawing/2014/main" id="{EA3F47D1-E8A5-40EA-A051-4557144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0698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2  Harness · 总览">
            <a:extLst xmlns:a="http://schemas.openxmlformats.org/drawingml/2006/main">
              <a:ext uri="{FF2B5EF4-FFF2-40B4-BE49-F238E27FC236}">
                <a16:creationId xmlns:a16="http://schemas.microsoft.com/office/drawing/2014/main" id="{103296DE-7A4C-4034-9C38-6D67B25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总览</a:t>
            </a:r>
          </a:p>
        </p:txBody>
      </p:sp>
      <p:sp>
        <p:nvSpPr>
          <p:cNvPr id="2" name="Harness 由六类运行机制组成">
            <a:extLst xmlns:a="http://schemas.openxmlformats.org/drawingml/2006/main">
              <a:ext uri="{FF2B5EF4-FFF2-40B4-BE49-F238E27FC236}">
                <a16:creationId xmlns:a16="http://schemas.microsoft.com/office/drawing/2014/main" id="{E8710DB5-9099-4B1D-A4C3-C86F5805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 由六类运行机制组成</a:t>
            </a:r>
          </a:p>
        </p:txBody>
      </p:sp>
      <p:sp>
        <p:nvSpPr>
          <p:cNvPr id="3" name="六类机制分别组织执行、管理状态，并约束和评估行动。">
            <a:extLst xmlns:a="http://schemas.openxmlformats.org/drawingml/2006/main">
              <a:ext uri="{FF2B5EF4-FFF2-40B4-BE49-F238E27FC236}">
                <a16:creationId xmlns:a16="http://schemas.microsoft.com/office/drawing/2014/main" id="{1AE0A58E-6FC5-4E4E-A283-26DAF45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六类机制分别组织执行、管理状态，并约束和评估行动。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D9A65-3DF2-44A1-9472-95D202927FF4}"/>
              </a:ext>
            </a:extLst>
          </p:cNvPr>
          <p:cNvGraphicFramePr/>
          <p:nvPr/>
        </p:nvGraphicFramePr>
        <p:xfrm>
          <a:off xmlns:a="http://schemas.openxmlformats.org/drawingml/2006/main" x="762000" y="2000250"/>
          <a:ext xmlns:a="http://schemas.openxmlformats.org/drawingml/2006/main" cx="106680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333750"/>
                <a:gridCol w="4238625"/>
              </a:tblGrid>
              <a:tr h="51435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</a:tr>
              <a:tr h="4778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Loops and Workflows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组织执行过程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Trajectory、显式计划、候选比较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78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and Memory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管理决策所需状态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Working Context / Persistent Memory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  <a:tr h="4778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Tools, MCP, and Skills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接入外部能力并复用过程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Function Calling、组合与复用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78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Orchestration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分配工作并协调交接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角色、通信与结果聚合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  <a:tr h="4778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落实执行约束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放行、阻止或转交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78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评估行为与结果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688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</a:tbl>
          </a:graphicData>
        </a:graphic>
      </p:graphicFrame>
      <p:sp>
        <p:nvSpPr>
          <p:cNvPr id="5" name="模块交接涉及记录的采用、动作的约束和结果的确认。">
            <a:extLst xmlns:a="http://schemas.openxmlformats.org/drawingml/2006/main">
              <a:ext uri="{FF2B5EF4-FFF2-40B4-BE49-F238E27FC236}">
                <a16:creationId xmlns:a16="http://schemas.microsoft.com/office/drawing/2014/main" id="{6B2C0E5C-CD5C-4EA7-AE9F-6778D78A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模块交接涉及记录的采用、动作的约束和结果的确认。</a:t>
            </a:r>
          </a:p>
        </p:txBody>
      </p:sp>
      <p:sp>
        <p:nvSpPr>
          <p:cNvPr id="6" name="综述分类：S001 §4、Table 2，PDF pp.20–21；交接">
            <a:extLst xmlns:a="http://schemas.openxmlformats.org/drawingml/2006/main">
              <a:ext uri="{FF2B5EF4-FFF2-40B4-BE49-F238E27FC236}">
                <a16:creationId xmlns:a16="http://schemas.microsoft.com/office/drawing/2014/main" id="{0FB8B7E3-326F-463F-83CC-26227B67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综述分类：S001 §4、Table 2，PDF pp.20–21；交接视角为讨论归纳</a:t>
            </a:r>
          </a:p>
        </p:txBody>
      </p:sp>
      <p:sp>
        <p:nvSpPr>
          <p:cNvPr id="7" name="05">
            <a:extLst xmlns:a="http://schemas.openxmlformats.org/drawingml/2006/main">
              <a:ext uri="{FF2B5EF4-FFF2-40B4-BE49-F238E27FC236}">
                <a16:creationId xmlns:a16="http://schemas.microsoft.com/office/drawing/2014/main" id="{828BC034-7297-4BD5-ADEB-5DF52454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89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02  Harness · 运行结构">
            <a:extLst xmlns:a="http://schemas.openxmlformats.org/drawingml/2006/main">
              <a:ext uri="{FF2B5EF4-FFF2-40B4-BE49-F238E27FC236}">
                <a16:creationId xmlns:a16="http://schemas.microsoft.com/office/drawing/2014/main" id="{0A2199DF-DCAC-4ADE-9843-78AAFE7B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运行结构</a:t>
            </a:r>
          </a:p>
        </p:txBody>
      </p:sp>
      <p:sp>
        <p:nvSpPr>
          <p:cNvPr id="2" name="Harness 围绕 Agent Loop 组织执行">
            <a:extLst xmlns:a="http://schemas.openxmlformats.org/drawingml/2006/main">
              <a:ext uri="{FF2B5EF4-FFF2-40B4-BE49-F238E27FC236}">
                <a16:creationId xmlns:a16="http://schemas.microsoft.com/office/drawing/2014/main" id="{5F96DF67-9FB7-4C72-B18E-4C283AAF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Harness 围绕 Agent Loop 组织执行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6D360-5B1B-4E16-A544-AD099733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7858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9525">
            <a:solidFill>
              <a:srgbClr val="CCD7D5"/>
            </a:solidFill>
          </a:ln>
        </p:spPr>
      </p:sp>
      <p:sp>
        <p:nvSpPr>
          <p:cNvPr id="4" name="Orchestration">
            <a:extLst xmlns:a="http://schemas.openxmlformats.org/drawingml/2006/main">
              <a:ext uri="{FF2B5EF4-FFF2-40B4-BE49-F238E27FC236}">
                <a16:creationId xmlns:a16="http://schemas.microsoft.com/office/drawing/2014/main" id="{7AE72026-318F-42DB-8984-3634D2D1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240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Orchestration</a:t>
            </a:r>
          </a:p>
        </p:txBody>
      </p:sp>
      <p:sp>
        <p:nvSpPr>
          <p:cNvPr id="5" name="分解任务 · 分配角色 · 协调交接">
            <a:extLst xmlns:a="http://schemas.openxmlformats.org/drawingml/2006/main">
              <a:ext uri="{FF2B5EF4-FFF2-40B4-BE49-F238E27FC236}">
                <a16:creationId xmlns:a16="http://schemas.microsoft.com/office/drawing/2014/main" id="{E7550F55-B088-4FCF-B1C6-6F7C061A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811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分解任务 · 分配角色 · 协调交接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9DD01-0AFC-47E7-BB0F-028B285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62100"/>
            <a:ext cx="2000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D5"/>
            </a:solidFill>
          </a:ln>
        </p:spPr>
      </p:sp>
      <p:sp>
        <p:nvSpPr>
          <p:cNvPr id="7" name="其他 Agent Loops">
            <a:extLst xmlns:a="http://schemas.openxmlformats.org/drawingml/2006/main">
              <a:ext uri="{FF2B5EF4-FFF2-40B4-BE49-F238E27FC236}">
                <a16:creationId xmlns:a16="http://schemas.microsoft.com/office/drawing/2014/main" id="{30CACD62-F641-462B-8715-3F8C3C91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71650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其他 Agent Loops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58838-84FC-4FC0-8CCC-2620E0535585}"/>
              </a:ext>
            </a:extLst>
          </p:cNvPr>
          <p:cNvCxnSpPr/>
          <p:nvPr/>
        </p:nvCxnSpPr>
        <p:spPr>
          <a:xfrm xmlns:a="http://schemas.openxmlformats.org/drawingml/2006/main">
            <a:off x="8620125" y="18859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FC50C-9CF6-4ACD-AA99-1A247F0DE327}"/>
              </a:ext>
            </a:extLst>
          </p:cNvPr>
          <p:cNvCxnSpPr/>
          <p:nvPr/>
        </p:nvCxnSpPr>
        <p:spPr>
          <a:xfrm xmlns:a="http://schemas.openxmlformats.org/drawingml/2006/main">
            <a:off x="4667250" y="221932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10" name="Loops and Workflows">
            <a:extLst xmlns:a="http://schemas.openxmlformats.org/drawingml/2006/main">
              <a:ext uri="{FF2B5EF4-FFF2-40B4-BE49-F238E27FC236}">
                <a16:creationId xmlns:a16="http://schemas.microsoft.com/office/drawing/2014/main" id="{1DC7B010-84BD-474F-8275-103A19E2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Loops and Workflows</a:t>
            </a:r>
          </a:p>
        </p:txBody>
      </p:sp>
      <p:sp>
        <p:nvSpPr>
          <p:cNvPr id="11" name="安排调用、计划与分支">
            <a:extLst xmlns:a="http://schemas.openxmlformats.org/drawingml/2006/main">
              <a:ext uri="{FF2B5EF4-FFF2-40B4-BE49-F238E27FC236}">
                <a16:creationId xmlns:a16="http://schemas.microsoft.com/office/drawing/2014/main" id="{AFA56EA4-F987-440E-B777-4949215E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安排调用、计划与分支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7AD39-5554-489E-B168-C7C3EC612067}"/>
              </a:ext>
            </a:extLst>
          </p:cNvPr>
          <p:cNvCxnSpPr/>
          <p:nvPr/>
        </p:nvCxnSpPr>
        <p:spPr>
          <a:xfrm xmlns:a="http://schemas.openxmlformats.org/drawingml/2006/main">
            <a:off x="762000" y="30289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</a:ln>
        </p:spPr>
      </p:cxnSp>
      <p:sp>
        <p:nvSpPr>
          <p:cNvPr id="13" name="Context and Memory">
            <a:extLst xmlns:a="http://schemas.openxmlformats.org/drawingml/2006/main">
              <a:ext uri="{FF2B5EF4-FFF2-40B4-BE49-F238E27FC236}">
                <a16:creationId xmlns:a16="http://schemas.microsoft.com/office/drawing/2014/main" id="{EDAC29E0-FCCD-410F-8F2C-606A1875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524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6D71"/>
            </a:solidFill>
          </a:ln>
        </p:spPr>
      </p:sp>
      <p:sp>
        <p:nvSpPr>
          <p:cNvPr id="14" name="Context and Memory">
            <a:extLst xmlns:a="http://schemas.openxmlformats.org/drawingml/2006/main">
              <a:ext uri="{FF2B5EF4-FFF2-40B4-BE49-F238E27FC236}">
                <a16:creationId xmlns:a16="http://schemas.microsoft.com/office/drawing/2014/main" id="{055DF6ED-3EC7-48EA-BF05-048ACC4C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371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Context and Memory</a:t>
            </a:r>
          </a:p>
        </p:txBody>
      </p:sp>
      <p:sp>
        <p:nvSpPr>
          <p:cNvPr id="15" name="Working Context&#10;Persistent Memory">
            <a:extLst xmlns:a="http://schemas.openxmlformats.org/drawingml/2006/main">
              <a:ext uri="{FF2B5EF4-FFF2-40B4-BE49-F238E27FC236}">
                <a16:creationId xmlns:a16="http://schemas.microsoft.com/office/drawing/2014/main" id="{3BE7383D-EFEC-40CF-B8E8-BA98F98A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2371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  <a:p xmlns:a="http://schemas.openxmlformats.org/drawingml/2006/main"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16" name="Base Policy">
            <a:extLst xmlns:a="http://schemas.openxmlformats.org/drawingml/2006/main">
              <a:ext uri="{FF2B5EF4-FFF2-40B4-BE49-F238E27FC236}">
                <a16:creationId xmlns:a16="http://schemas.microsoft.com/office/drawing/2014/main" id="{A5635913-3C26-41D7-BBCB-ECCF4084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147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F43"/>
          </a:solidFill>
          <a:ln xmlns:a="http://schemas.openxmlformats.org/drawingml/2006/main" w="14288">
            <a:solidFill>
              <a:srgbClr val="182F43"/>
            </a:solidFill>
          </a:ln>
        </p:spPr>
      </p:sp>
      <p:sp>
        <p:nvSpPr>
          <p:cNvPr id="17" name="Base Policy">
            <a:extLst xmlns:a="http://schemas.openxmlformats.org/drawingml/2006/main">
              <a:ext uri="{FF2B5EF4-FFF2-40B4-BE49-F238E27FC236}">
                <a16:creationId xmlns:a16="http://schemas.microsoft.com/office/drawing/2014/main" id="{F277D54D-9DA5-4261-BBDF-933D48DA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29000"/>
            <a:ext cx="1466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提出 Action">
            <a:extLst xmlns:a="http://schemas.openxmlformats.org/drawingml/2006/main">
              <a:ext uri="{FF2B5EF4-FFF2-40B4-BE49-F238E27FC236}">
                <a16:creationId xmlns:a16="http://schemas.microsoft.com/office/drawing/2014/main" id="{B47263FD-32D2-467B-9044-86BD632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00475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DE1E1"/>
                </a:solidFill>
                <a:latin typeface="Microsoft YaHei"/>
                <a:ea typeface="Microsoft YaHei"/>
                <a:cs typeface="Microsoft YaHei"/>
              </a:rPr>
              <a:t>提出 Action</a:t>
            </a:r>
          </a:p>
        </p:txBody>
      </p:sp>
      <p:sp>
        <p:nvSpPr>
          <p:cNvPr id="19" name="Hooks and Middleware">
            <a:extLst xmlns:a="http://schemas.openxmlformats.org/drawingml/2006/main">
              <a:ext uri="{FF2B5EF4-FFF2-40B4-BE49-F238E27FC236}">
                <a16:creationId xmlns:a16="http://schemas.microsoft.com/office/drawing/2014/main" id="{486E8959-ED72-4D7C-B2E6-7537DF62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14700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6D71"/>
            </a:solidFill>
          </a:ln>
        </p:spPr>
      </p:sp>
      <p:sp>
        <p:nvSpPr>
          <p:cNvPr id="20" name="Hooks and Middleware">
            <a:extLst xmlns:a="http://schemas.openxmlformats.org/drawingml/2006/main">
              <a:ext uri="{FF2B5EF4-FFF2-40B4-BE49-F238E27FC236}">
                <a16:creationId xmlns:a16="http://schemas.microsoft.com/office/drawing/2014/main" id="{BA474DA9-56E5-4C28-AE81-376CBA8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29000"/>
            <a:ext cx="2514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Hooks and Middleware</a:t>
            </a:r>
          </a:p>
        </p:txBody>
      </p:sp>
      <p:sp>
        <p:nvSpPr>
          <p:cNvPr id="21" name="检查 · 阻止 · 修改 · 转交">
            <a:extLst xmlns:a="http://schemas.openxmlformats.org/drawingml/2006/main">
              <a:ext uri="{FF2B5EF4-FFF2-40B4-BE49-F238E27FC236}">
                <a16:creationId xmlns:a16="http://schemas.microsoft.com/office/drawing/2014/main" id="{D1EB4C71-D26C-4522-9114-0B05307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00475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检查 · 阻止 · 修改 · 转交</a:t>
            </a:r>
          </a:p>
        </p:txBody>
      </p:sp>
      <p:sp>
        <p:nvSpPr>
          <p:cNvPr id="22" name="Tools, MCP, and Skills">
            <a:extLst xmlns:a="http://schemas.openxmlformats.org/drawingml/2006/main">
              <a:ext uri="{FF2B5EF4-FFF2-40B4-BE49-F238E27FC236}">
                <a16:creationId xmlns:a16="http://schemas.microsoft.com/office/drawing/2014/main" id="{E48C4446-C52F-4AFC-AD4C-8B0E7235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14700"/>
            <a:ext cx="2428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6D71"/>
            </a:solidFill>
          </a:ln>
        </p:spPr>
      </p:sp>
      <p:sp>
        <p:nvSpPr>
          <p:cNvPr id="23" name="Tools, MCP, and Skills">
            <a:extLst xmlns:a="http://schemas.openxmlformats.org/drawingml/2006/main">
              <a:ext uri="{FF2B5EF4-FFF2-40B4-BE49-F238E27FC236}">
                <a16:creationId xmlns:a16="http://schemas.microsoft.com/office/drawing/2014/main" id="{51A28B82-70C3-4188-A473-61AC6BDF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29000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Tools, MCP, and Skills</a:t>
            </a:r>
          </a:p>
        </p:txBody>
      </p:sp>
      <p:sp>
        <p:nvSpPr>
          <p:cNvPr id="24" name="接入能力 · 复用过程">
            <a:extLst xmlns:a="http://schemas.openxmlformats.org/drawingml/2006/main">
              <a:ext uri="{FF2B5EF4-FFF2-40B4-BE49-F238E27FC236}">
                <a16:creationId xmlns:a16="http://schemas.microsoft.com/office/drawing/2014/main" id="{10F7A732-124C-4529-9723-655CC2AA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00475"/>
            <a:ext cx="2276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接入能力 · 复用过程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28FAD-995D-4791-BEBB-B333615F3199}"/>
              </a:ext>
            </a:extLst>
          </p:cNvPr>
          <p:cNvCxnSpPr/>
          <p:nvPr/>
        </p:nvCxnSpPr>
        <p:spPr>
          <a:xfrm xmlns:a="http://schemas.openxmlformats.org/drawingml/2006/main">
            <a:off x="3286125" y="37909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4DC8F-DA36-4A6D-8916-E2D224C38DF3}"/>
              </a:ext>
            </a:extLst>
          </p:cNvPr>
          <p:cNvCxnSpPr/>
          <p:nvPr/>
        </p:nvCxnSpPr>
        <p:spPr>
          <a:xfrm xmlns:a="http://schemas.openxmlformats.org/drawingml/2006/main">
            <a:off x="5381625" y="37909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81409B-D6E2-4056-BA46-29F149631B6E}"/>
              </a:ext>
            </a:extLst>
          </p:cNvPr>
          <p:cNvCxnSpPr/>
          <p:nvPr/>
        </p:nvCxnSpPr>
        <p:spPr>
          <a:xfrm xmlns:a="http://schemas.openxmlformats.org/drawingml/2006/main">
            <a:off x="8524875" y="37909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A2FD6D-97B2-4ED6-9A75-ACEA661B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10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F"/>
          </a:solidFill>
          <a:ln xmlns:a="http://schemas.openxmlformats.org/drawingml/2006/main" w="9525">
            <a:solidFill>
              <a:srgbClr val="CCD7D5"/>
            </a:solidFill>
          </a:ln>
        </p:spPr>
      </p:sp>
      <p:sp>
        <p:nvSpPr>
          <p:cNvPr id="29" name="Environment">
            <a:extLst xmlns:a="http://schemas.openxmlformats.org/drawingml/2006/main">
              <a:ext uri="{FF2B5EF4-FFF2-40B4-BE49-F238E27FC236}">
                <a16:creationId xmlns:a16="http://schemas.microsoft.com/office/drawing/2014/main" id="{27DC1E34-D349-4C76-AE4B-4BA17583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7244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8F933-E692-46EE-9B6F-AA4A890AABAA}"/>
              </a:ext>
            </a:extLst>
          </p:cNvPr>
          <p:cNvCxnSpPr/>
          <p:nvPr/>
        </p:nvCxnSpPr>
        <p:spPr>
          <a:xfrm xmlns:a="http://schemas.openxmlformats.org/drawingml/2006/main">
            <a:off x="10382250" y="4267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93FB3-7F83-4071-9EAD-1353119315A3}"/>
              </a:ext>
            </a:extLst>
          </p:cNvPr>
          <p:cNvCxnSpPr/>
          <p:nvPr/>
        </p:nvCxnSpPr>
        <p:spPr>
          <a:xfrm xmlns:a="http://schemas.openxmlformats.org/drawingml/2006/main">
            <a:off x="2028825" y="4867275"/>
            <a:ext cx="7305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4C6783-4854-4157-B2F0-2713DFAE4203}"/>
              </a:ext>
            </a:extLst>
          </p:cNvPr>
          <p:cNvCxnSpPr/>
          <p:nvPr/>
        </p:nvCxnSpPr>
        <p:spPr>
          <a:xfrm xmlns:a="http://schemas.openxmlformats.org/drawingml/2006/main">
            <a:off x="2028825" y="426720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6D71"/>
            </a:solidFill>
            <a:prstDash val="solid"/>
            <a:headEnd type="triangl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9E157-9B1B-4108-AE25-4FC3AE9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24955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7"/>
          </a:solidFill>
          <a:ln xmlns:a="http://schemas.openxmlformats.org/drawingml/2006/main" w="0">
            <a:noFill/>
          </a:ln>
        </p:spPr>
      </p:sp>
      <p:sp>
        <p:nvSpPr>
          <p:cNvPr id="34" name="Observation / Feedback">
            <a:extLst xmlns:a="http://schemas.openxmlformats.org/drawingml/2006/main">
              <a:ext uri="{FF2B5EF4-FFF2-40B4-BE49-F238E27FC236}">
                <a16:creationId xmlns:a16="http://schemas.microsoft.com/office/drawing/2014/main" id="{2AB9FC18-1E95-4FE9-B965-11E4C3BF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24400"/>
            <a:ext cx="2400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Observation / Feedback</a:t>
            </a:r>
          </a:p>
        </p:txBody>
      </p:sp>
      <p:sp>
        <p:nvSpPr>
          <p:cNvPr id="35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099BC862-9BEC-45B0-919A-FB5D971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81625"/>
            <a:ext cx="4095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46D71"/>
            </a:solidFill>
          </a:ln>
        </p:spPr>
      </p:sp>
      <p:sp>
        <p:nvSpPr>
          <p:cNvPr id="36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5FFA37C8-696A-44EF-B83F-64161A27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959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37" name="评价 State / Action / Output">
            <a:extLst xmlns:a="http://schemas.openxmlformats.org/drawingml/2006/main">
              <a:ext uri="{FF2B5EF4-FFF2-40B4-BE49-F238E27FC236}">
                <a16:creationId xmlns:a16="http://schemas.microsoft.com/office/drawing/2014/main" id="{780164D5-3FBD-4525-BBEF-748359F9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67400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评价 State / Action / Output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A78703-F7B7-42B5-AA46-42D4B0D6DECD}"/>
              </a:ext>
            </a:extLst>
          </p:cNvPr>
          <p:cNvCxnSpPr/>
          <p:nvPr/>
        </p:nvCxnSpPr>
        <p:spPr>
          <a:xfrm xmlns:a="http://schemas.openxmlformats.org/drawingml/2006/main">
            <a:off x="7191375" y="4267200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6439"/>
            </a:solidFill>
            <a:prstDash val="dash"/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56DEB-AFB0-46B2-BDCA-D8F8FCDC10F7}"/>
              </a:ext>
            </a:extLst>
          </p:cNvPr>
          <p:cNvCxnSpPr/>
          <p:nvPr/>
        </p:nvCxnSpPr>
        <p:spPr>
          <a:xfrm xmlns:a="http://schemas.openxmlformats.org/drawingml/2006/main">
            <a:off x="10382250" y="51244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6439"/>
            </a:solidFill>
            <a:prstDash val="dash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9AE18-C7BC-4AFB-B4A8-F3E1EE71FD7A}"/>
              </a:ext>
            </a:extLst>
          </p:cNvPr>
          <p:cNvCxnSpPr/>
          <p:nvPr/>
        </p:nvCxnSpPr>
        <p:spPr>
          <a:xfrm xmlns:a="http://schemas.openxmlformats.org/drawingml/2006/main">
            <a:off x="8382000" y="57721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6439"/>
            </a:solidFill>
            <a:prstDash val="dash"/>
            <a:headEnd type="triangl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C95ED-DF08-4966-8AD2-4C985F43C627}"/>
              </a:ext>
            </a:extLst>
          </p:cNvPr>
          <p:cNvCxnSpPr/>
          <p:nvPr/>
        </p:nvCxnSpPr>
        <p:spPr>
          <a:xfrm xmlns:a="http://schemas.openxmlformats.org/drawingml/2006/main">
            <a:off x="3524250" y="57721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6439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6C5CF8-C46F-4DBF-9627-853FB9DE47CD}"/>
              </a:ext>
            </a:extLst>
          </p:cNvPr>
          <p:cNvCxnSpPr/>
          <p:nvPr/>
        </p:nvCxnSpPr>
        <p:spPr>
          <a:xfrm xmlns:a="http://schemas.openxmlformats.org/drawingml/2006/main">
            <a:off x="3524250" y="3028950"/>
            <a:ext cx="0" cy="2743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6439"/>
            </a:solidFill>
            <a:prstDash val="dash"/>
            <a:headEnd type="triangle" w="med" len="med"/>
          </a:ln>
        </p:spPr>
      </p:cxnSp>
      <p:sp>
        <p:nvSpPr>
          <p:cNvPr id="43" name="继续 / 修订 / 接受">
            <a:extLst xmlns:a="http://schemas.openxmlformats.org/drawingml/2006/main">
              <a:ext uri="{FF2B5EF4-FFF2-40B4-BE49-F238E27FC236}">
                <a16:creationId xmlns:a16="http://schemas.microsoft.com/office/drawing/2014/main" id="{67581932-E3E3-46CE-AD5E-955947D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57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46439"/>
                </a:solidFill>
                <a:latin typeface="Microsoft YaHei"/>
                <a:ea typeface="Microsoft YaHei"/>
                <a:cs typeface="Microsoft YaHei"/>
              </a:rPr>
              <a:t>继续 / 修订 / 接受</a:t>
            </a:r>
          </a:p>
        </p:txBody>
      </p:sp>
      <p:sp>
        <p:nvSpPr>
          <p:cNvPr id="44" name="虚线：评价与控制反馈">
            <a:extLst xmlns:a="http://schemas.openxmlformats.org/drawingml/2006/main">
              <a:ext uri="{FF2B5EF4-FFF2-40B4-BE49-F238E27FC236}">
                <a16:creationId xmlns:a16="http://schemas.microsoft.com/office/drawing/2014/main" id="{7F9D1F39-2C18-4550-AD18-042EF630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15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虚线：评价与控制反馈</a:t>
            </a:r>
          </a:p>
        </p:txBody>
      </p:sp>
      <p:sp>
        <p:nvSpPr>
          <p:cNvPr id="45" name="依据 S001 §4, Table 2, PDF pp.20–21 重绘">
            <a:extLst xmlns:a="http://schemas.openxmlformats.org/drawingml/2006/main">
              <a:ext uri="{FF2B5EF4-FFF2-40B4-BE49-F238E27FC236}">
                <a16:creationId xmlns:a16="http://schemas.microsoft.com/office/drawing/2014/main" id="{DFA62844-D0BC-4607-92C6-43C862C6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依据 S001 §4, Table 2, PDF pp.20–21 重绘；连线表示简化职责关系，不限定实现顺序</a:t>
            </a:r>
          </a:p>
        </p:txBody>
      </p:sp>
      <p:sp>
        <p:nvSpPr>
          <p:cNvPr id="46" name="06">
            <a:extLst xmlns:a="http://schemas.openxmlformats.org/drawingml/2006/main">
              <a:ext uri="{FF2B5EF4-FFF2-40B4-BE49-F238E27FC236}">
                <a16:creationId xmlns:a16="http://schemas.microsoft.com/office/drawing/2014/main" id="{6913B179-3C0B-4903-9018-16D2DF4C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4027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2  Harness · Context and Memory">
            <a:extLst xmlns:a="http://schemas.openxmlformats.org/drawingml/2006/main">
              <a:ext uri="{FF2B5EF4-FFF2-40B4-BE49-F238E27FC236}">
                <a16:creationId xmlns:a16="http://schemas.microsoft.com/office/drawing/2014/main" id="{77C97C4E-51D7-4386-93EC-F990D038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Context and Memory</a:t>
            </a:r>
          </a:p>
        </p:txBody>
      </p:sp>
      <p:sp>
        <p:nvSpPr>
          <p:cNvPr id="2" name="Context 与 Memory 共同管理决策依据">
            <a:extLst xmlns:a="http://schemas.openxmlformats.org/drawingml/2006/main">
              <a:ext uri="{FF2B5EF4-FFF2-40B4-BE49-F238E27FC236}">
                <a16:creationId xmlns:a16="http://schemas.microsoft.com/office/drawing/2014/main" id="{34009DD5-357F-4000-B4D5-4DCEAF1E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Context 与 Memory 共同管理决策依据</a:t>
            </a:r>
          </a:p>
        </p:txBody>
      </p:sp>
      <p:sp>
        <p:nvSpPr>
          <p:cNvPr id="3" name="Working Context 包含本轮可见信息，Persistent ">
            <a:extLst xmlns:a="http://schemas.openxmlformats.org/drawingml/2006/main">
              <a:ext uri="{FF2B5EF4-FFF2-40B4-BE49-F238E27FC236}">
                <a16:creationId xmlns:a16="http://schemas.microsoft.com/office/drawing/2014/main" id="{8AA31D6D-3620-49FC-B507-012524D7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Working Context 包含本轮可见信息，Persistent Memory 保存跨窗口或任务的记录。</a:t>
            </a:r>
          </a:p>
        </p:txBody>
      </p:sp>
      <p:sp>
        <p:nvSpPr>
          <p:cNvPr id="4" name="Working Context">
            <a:extLst xmlns:a="http://schemas.openxmlformats.org/drawingml/2006/main">
              <a:ext uri="{FF2B5EF4-FFF2-40B4-BE49-F238E27FC236}">
                <a16:creationId xmlns:a16="http://schemas.microsoft.com/office/drawing/2014/main" id="{67939B9A-A0DB-4616-B0E2-C49B465B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</p:txBody>
      </p:sp>
      <p:sp>
        <p:nvSpPr>
          <p:cNvPr id="5" name="本轮模型可见的信息">
            <a:extLst xmlns:a="http://schemas.openxmlformats.org/drawingml/2006/main">
              <a:ext uri="{FF2B5EF4-FFF2-40B4-BE49-F238E27FC236}">
                <a16:creationId xmlns:a16="http://schemas.microsoft.com/office/drawing/2014/main" id="{BDD72BE5-F376-49CF-9434-21045565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本轮模型可见的信息</a:t>
            </a:r>
          </a:p>
        </p:txBody>
      </p:sp>
      <p:sp>
        <p:nvSpPr>
          <p:cNvPr id="6" name="Discard：移除低价值或过时内容&#10;Compress：保留约束、进度与">
            <a:extLst xmlns:a="http://schemas.openxmlformats.org/drawingml/2006/main">
              <a:ext uri="{FF2B5EF4-FFF2-40B4-BE49-F238E27FC236}">
                <a16:creationId xmlns:a16="http://schemas.microsoft.com/office/drawing/2014/main" id="{15E31972-B0BE-4666-BBE9-176C6F3F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5048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Discard：移除低价值或过时内容</a:t>
            </a:r>
          </a:p>
          <a:p xmlns:a="http://schemas.openxmlformats.org/drawingml/2006/main"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Compress：保留约束、进度与失败线索</a:t>
            </a:r>
          </a:p>
          <a:p xmlns:a="http://schemas.openxmlformats.org/drawingml/2006/main"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Select：按需取回相关记录</a:t>
            </a:r>
          </a:p>
        </p:txBody>
      </p:sp>
      <p:sp>
        <p:nvSpPr>
          <p:cNvPr id="7" name="Persistent Memory">
            <a:extLst xmlns:a="http://schemas.openxmlformats.org/drawingml/2006/main">
              <a:ext uri="{FF2B5EF4-FFF2-40B4-BE49-F238E27FC236}">
                <a16:creationId xmlns:a16="http://schemas.microsoft.com/office/drawing/2014/main" id="{495410AE-FD1D-427B-9B5E-BDE0907C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8" name="跨 Context Window / Task 保留记录">
            <a:extLst xmlns:a="http://schemas.openxmlformats.org/drawingml/2006/main">
              <a:ext uri="{FF2B5EF4-FFF2-40B4-BE49-F238E27FC236}">
                <a16:creationId xmlns:a16="http://schemas.microsoft.com/office/drawing/2014/main" id="{F92E33EA-F93B-495E-8B5A-9E1D65F1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146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跨 Context Window / Task 保留记录</a:t>
            </a:r>
          </a:p>
        </p:txBody>
      </p:sp>
      <p:sp>
        <p:nvSpPr>
          <p:cNvPr id="9" name="Factual Memory：事实、规则&#10;Experiential Me">
            <a:extLst xmlns:a="http://schemas.openxmlformats.org/drawingml/2006/main">
              <a:ext uri="{FF2B5EF4-FFF2-40B4-BE49-F238E27FC236}">
                <a16:creationId xmlns:a16="http://schemas.microsoft.com/office/drawing/2014/main" id="{4596B5F2-8604-40DA-AAF9-43322B44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048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Factual Memory：事实、规则</a:t>
            </a:r>
          </a:p>
          <a:p xmlns:a="http://schemas.openxmlformats.org/drawingml/2006/main"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Experiential Memory：案例、教训</a:t>
            </a:r>
          </a:p>
          <a:p xmlns:a="http://schemas.openxmlformats.org/drawingml/2006/main">
            <a:pPr>
              <a:def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Write / Maintain / Retrieve</a:t>
            </a:r>
          </a:p>
        </p:txBody>
      </p:sp>
      <p:sp>
        <p:nvSpPr>
          <p:cNvPr id="10" name="Memory Retrieval 还需考虑记录的有效期与适用条件。">
            <a:extLst xmlns:a="http://schemas.openxmlformats.org/drawingml/2006/main">
              <a:ext uri="{FF2B5EF4-FFF2-40B4-BE49-F238E27FC236}">
                <a16:creationId xmlns:a16="http://schemas.microsoft.com/office/drawing/2014/main" id="{CFC7F37F-F85B-4CF8-85D6-E56D4D50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Memory Retrieval 还需考虑记录的有效期与适用条件。</a:t>
            </a:r>
          </a:p>
        </p:txBody>
      </p:sp>
      <p:sp>
        <p:nvSpPr>
          <p:cNvPr id="11" name="概念：S001 §4.2、Fig.8，PDF pp.23–26；接受条件">
            <a:extLst xmlns:a="http://schemas.openxmlformats.org/drawingml/2006/main">
              <a:ext uri="{FF2B5EF4-FFF2-40B4-BE49-F238E27FC236}">
                <a16:creationId xmlns:a16="http://schemas.microsoft.com/office/drawing/2014/main" id="{41B89921-AA98-4ED0-B838-98DE38C4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概念：S001 §4.2、Fig.8，PDF pp.23–26；接受条件是跨节讨论归纳</a:t>
            </a:r>
          </a:p>
        </p:txBody>
      </p:sp>
      <p:sp>
        <p:nvSpPr>
          <p:cNvPr id="12" name="07">
            <a:extLst xmlns:a="http://schemas.openxmlformats.org/drawingml/2006/main">
              <a:ext uri="{FF2B5EF4-FFF2-40B4-BE49-F238E27FC236}">
                <a16:creationId xmlns:a16="http://schemas.microsoft.com/office/drawing/2014/main" id="{48B9FB7E-22EC-49D7-A068-6AA5E113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78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2  Harness · Verification / Hooks a">
            <a:extLst xmlns:a="http://schemas.openxmlformats.org/drawingml/2006/main">
              <a:ext uri="{FF2B5EF4-FFF2-40B4-BE49-F238E27FC236}">
                <a16:creationId xmlns:a16="http://schemas.microsoft.com/office/drawing/2014/main" id="{0A07B4C6-CABA-4C8B-A24D-1C361162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  Harness · Verification / Hooks and Middleware</a:t>
            </a:r>
          </a:p>
        </p:txBody>
      </p:sp>
      <p:sp>
        <p:nvSpPr>
          <p:cNvPr id="2" name="Verification 形成评价，Hooks 控制执行">
            <a:extLst xmlns:a="http://schemas.openxmlformats.org/drawingml/2006/main">
              <a:ext uri="{FF2B5EF4-FFF2-40B4-BE49-F238E27FC236}">
                <a16:creationId xmlns:a16="http://schemas.microsoft.com/office/drawing/2014/main" id="{8566A60B-6A47-4280-8499-61E81FB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Verification 形成评价，Hooks 控制执行</a:t>
            </a:r>
          </a:p>
        </p:txBody>
      </p:sp>
      <p:sp>
        <p:nvSpPr>
          <p:cNvPr id="3" name="检查对象可以重叠，主要区别在评价与执行控制。">
            <a:extLst xmlns:a="http://schemas.openxmlformats.org/drawingml/2006/main">
              <a:ext uri="{FF2B5EF4-FFF2-40B4-BE49-F238E27FC236}">
                <a16:creationId xmlns:a16="http://schemas.microsoft.com/office/drawing/2014/main" id="{E6070E8E-FD90-422C-A752-D998B810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检查对象可以重叠，主要区别在评价与执行控制。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77C63-BBDB-4AC9-A89C-B10869B007AD}"/>
              </a:ext>
            </a:extLst>
          </p:cNvPr>
          <p:cNvGraphicFramePr/>
          <p:nvPr/>
        </p:nvGraphicFramePr>
        <p:xfrm>
          <a:off xmlns:a="http://schemas.openxmlformats.org/drawingml/2006/main" x="762000" y="2114550"/>
          <a:ext xmlns:a="http://schemas.openxmlformats.org/drawingml/2006/main" cx="10668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476750"/>
              </a:tblGrid>
              <a:tr h="514350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T w="9525">
                      <a:solidFill>
                        <a:srgbClr val="CCD7D5"/>
                      </a:solidFill>
                      <a:prstDash val="solid"/>
                    </a:lnT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182F43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核心职责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评价是否满足要求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在执行边界落实约束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Allow / Block / Hand-off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State、Action、推理步骤与 Output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输入、Tool Call 与协议交互等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执行边界上的数据和动作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调用与干预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按检查策略调用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Step-level / End-of-run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到达预设 Lifecycle Point 时调用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 Policy / 风险条件时干预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结果用途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7D5"/>
                      </a:solidFill>
                      <a:prstDash val="solid"/>
                    </a:lnL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判断、评分或诊断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支持搜索、修订与验收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  <a:tc>
                  <a:txBody>
                    <a:bodyPr wrap="square" lIns="15240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放行、阻止、修改、暂停或转交</a:t>
                      </a:r>
                    </a:p>
                    <a:p>
                      <a:r>
                        <a:rPr sz="1725" b="0">
                          <a:solidFill>
                            <a:srgbClr val="182F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直接影响后续执行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7D5"/>
                      </a:solidFill>
                      <a:prstDash val="solid"/>
                    </a:lnR>
                    <a:lnB w="9525">
                      <a:solidFill>
                        <a:srgbClr val="CCD7D5"/>
                      </a:solidFill>
                      <a:prstDash val="solid"/>
                    </a:lnB>
                    <a:solidFill>
                      <a:srgbClr val="EAF1EF"/>
                    </a:solidFill>
                  </a:tcPr>
                </a:tc>
              </a:tr>
            </a:tbl>
          </a:graphicData>
        </a:graphic>
      </p:graphicFrame>
      <p:sp>
        <p:nvSpPr>
          <p:cNvPr id="5" name="Verification 可由 Hook 调用，同一实现可同时承担评价与">
            <a:extLst xmlns:a="http://schemas.openxmlformats.org/drawingml/2006/main">
              <a:ext uri="{FF2B5EF4-FFF2-40B4-BE49-F238E27FC236}">
                <a16:creationId xmlns:a16="http://schemas.microsoft.com/office/drawing/2014/main" id="{45F4A836-1C63-4E16-8619-207EF8F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Verification 可由 Hook 调用，同一实现可同时承担评价与控制。</a:t>
            </a:r>
          </a:p>
        </p:txBody>
      </p:sp>
      <p:sp>
        <p:nvSpPr>
          <p:cNvPr id="6" name="职责对比归纳：S001 §4.5–4.6, PDF pp.31–34、3">
            <a:extLst xmlns:a="http://schemas.openxmlformats.org/drawingml/2006/main">
              <a:ext uri="{FF2B5EF4-FFF2-40B4-BE49-F238E27FC236}">
                <a16:creationId xmlns:a16="http://schemas.microsoft.com/office/drawing/2014/main" id="{29001369-BA0B-49D9-A4C5-3C6A1BF4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职责对比归纳：S001 §4.5–4.6, PDF pp.31–34、36–37</a:t>
            </a:r>
          </a:p>
        </p:txBody>
      </p:sp>
      <p:sp>
        <p:nvSpPr>
          <p:cNvPr id="7" name="08">
            <a:extLst xmlns:a="http://schemas.openxmlformats.org/drawingml/2006/main">
              <a:ext uri="{FF2B5EF4-FFF2-40B4-BE49-F238E27FC236}">
                <a16:creationId xmlns:a16="http://schemas.microsoft.com/office/drawing/2014/main" id="{86F38DED-A58B-4473-9E61-DA5D5A78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0371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基于综述的拓展思考">
            <a:extLst xmlns:a="http://schemas.openxmlformats.org/drawingml/2006/main">
              <a:ext uri="{FF2B5EF4-FFF2-40B4-BE49-F238E27FC236}">
                <a16:creationId xmlns:a16="http://schemas.microsoft.com/office/drawing/2014/main" id="{7172D63F-3782-40F2-8852-44C96B76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共享记录应保留结论的成立条件">
            <a:extLst xmlns:a="http://schemas.openxmlformats.org/drawingml/2006/main">
              <a:ext uri="{FF2B5EF4-FFF2-40B4-BE49-F238E27FC236}">
                <a16:creationId xmlns:a16="http://schemas.microsoft.com/office/drawing/2014/main" id="{970B4F33-A2ED-478B-BECE-374CD6FD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共享记录应保留结论的成立条件</a:t>
            </a:r>
          </a:p>
        </p:txBody>
      </p:sp>
      <p:sp>
        <p:nvSpPr>
          <p:cNvPr id="3" name="示意：Branch A 解读实验，Branch B 根据共享记录撰写总结">
            <a:extLst xmlns:a="http://schemas.openxmlformats.org/drawingml/2006/main">
              <a:ext uri="{FF2B5EF4-FFF2-40B4-BE49-F238E27FC236}">
                <a16:creationId xmlns:a16="http://schemas.microsoft.com/office/drawing/2014/main" id="{BE59D6EE-1898-4AB3-9370-A9EEC4CB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示意：Branch A 解读实验，Branch B 根据共享记录撰写总结。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FD02BEC-2ADB-40C6-A12B-B7C824DE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Branch A">
            <a:extLst xmlns:a="http://schemas.openxmlformats.org/drawingml/2006/main">
              <a:ext uri="{FF2B5EF4-FFF2-40B4-BE49-F238E27FC236}">
                <a16:creationId xmlns:a16="http://schemas.microsoft.com/office/drawing/2014/main" id="{9CC3E6B2-0D8D-4B77-9DEB-67ABEFA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Branch A</a:t>
            </a:r>
          </a:p>
        </p:txBody>
      </p:sp>
      <p:sp>
        <p:nvSpPr>
          <p:cNvPr id="6" name="假设模型与预算一致&#10;提升暂归因于 Memory">
            <a:extLst xmlns:a="http://schemas.openxmlformats.org/drawingml/2006/main">
              <a:ext uri="{FF2B5EF4-FFF2-40B4-BE49-F238E27FC236}">
                <a16:creationId xmlns:a16="http://schemas.microsoft.com/office/drawing/2014/main" id="{530EC73E-E616-41E9-A28A-34C0E029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假设模型与预算一致</a:t>
            </a:r>
          </a:p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提升暂归因于 Memory</a:t>
            </a:r>
          </a:p>
        </p:txBody>
      </p:sp>
      <p:sp>
        <p:nvSpPr>
          <p:cNvPr id="7" name="带条件的候选解释">
            <a:extLst xmlns:a="http://schemas.openxmlformats.org/drawingml/2006/main">
              <a:ext uri="{FF2B5EF4-FFF2-40B4-BE49-F238E27FC236}">
                <a16:creationId xmlns:a16="http://schemas.microsoft.com/office/drawing/2014/main" id="{538A6DF3-BA9A-45D8-B01A-490E892A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带条件的候选解释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73AAE40D-8A34-488F-AACC-FFB0E49E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写入 Memory">
            <a:extLst xmlns:a="http://schemas.openxmlformats.org/drawingml/2006/main">
              <a:ext uri="{FF2B5EF4-FFF2-40B4-BE49-F238E27FC236}">
                <a16:creationId xmlns:a16="http://schemas.microsoft.com/office/drawing/2014/main" id="{3B90BD9A-8719-44CF-B915-530C872B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写入 Memory</a:t>
            </a:r>
          </a:p>
        </p:txBody>
      </p:sp>
      <p:sp>
        <p:nvSpPr>
          <p:cNvPr id="10" name="压缩后只保留&#10;“Memory 提升性能”">
            <a:extLst xmlns:a="http://schemas.openxmlformats.org/drawingml/2006/main">
              <a:ext uri="{FF2B5EF4-FFF2-40B4-BE49-F238E27FC236}">
                <a16:creationId xmlns:a16="http://schemas.microsoft.com/office/drawing/2014/main" id="{10B26420-BFC0-45E2-80A3-FFDF83DD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052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压缩后只保留</a:t>
            </a:r>
          </a:p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“Memory 提升性能”</a:t>
            </a:r>
          </a:p>
        </p:txBody>
      </p:sp>
      <p:sp>
        <p:nvSpPr>
          <p:cNvPr id="11" name="原假设与判断状态丢失">
            <a:extLst xmlns:a="http://schemas.openxmlformats.org/drawingml/2006/main">
              <a:ext uri="{FF2B5EF4-FFF2-40B4-BE49-F238E27FC236}">
                <a16:creationId xmlns:a16="http://schemas.microsoft.com/office/drawing/2014/main" id="{8F27B670-4A19-4D2B-899F-1C8DAAC3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57725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原假设与判断状态丢失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D5BCDCCF-986B-464E-912B-57228F54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Branch B">
            <a:extLst xmlns:a="http://schemas.openxmlformats.org/drawingml/2006/main">
              <a:ext uri="{FF2B5EF4-FFF2-40B4-BE49-F238E27FC236}">
                <a16:creationId xmlns:a16="http://schemas.microsoft.com/office/drawing/2014/main" id="{C95F0365-4F4E-4869-BE5A-D0844390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Branch B</a:t>
            </a:r>
          </a:p>
        </p:txBody>
      </p:sp>
      <p:sp>
        <p:nvSpPr>
          <p:cNvPr id="14" name="将记录直接写成论文结论&#10;未再核对原实验条件">
            <a:extLst xmlns:a="http://schemas.openxmlformats.org/drawingml/2006/main">
              <a:ext uri="{FF2B5EF4-FFF2-40B4-BE49-F238E27FC236}">
                <a16:creationId xmlns:a16="http://schemas.microsoft.com/office/drawing/2014/main" id="{A334D813-DAD6-4DFE-B82E-ACF9AFD4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将记录直接写成论文结论</a:t>
            </a:r>
          </a:p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未再核对原实验条件</a:t>
            </a:r>
          </a:p>
        </p:txBody>
      </p:sp>
      <p:sp>
        <p:nvSpPr>
          <p:cNvPr id="15" name="候选解释被当成事实">
            <a:extLst xmlns:a="http://schemas.openxmlformats.org/drawingml/2006/main">
              <a:ext uri="{FF2B5EF4-FFF2-40B4-BE49-F238E27FC236}">
                <a16:creationId xmlns:a16="http://schemas.microsoft.com/office/drawing/2014/main" id="{7F2ED402-7764-4A5F-92A1-D39EAE36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57725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候选解释被当成事实</a:t>
            </a:r>
          </a:p>
        </p:txBody>
      </p:sp>
      <p:sp>
        <p:nvSpPr>
          <p:cNvPr id="16" name="长任务会反复复用 Memory，局部判断的误用可能沿后续决策传播。">
            <a:extLst xmlns:a="http://schemas.openxmlformats.org/drawingml/2006/main">
              <a:ext uri="{FF2B5EF4-FFF2-40B4-BE49-F238E27FC236}">
                <a16:creationId xmlns:a16="http://schemas.microsoft.com/office/drawing/2014/main" id="{C2895727-5FE8-4E53-83DF-29A0326A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长任务会反复复用 Memory，局部判断的误用可能沿后续决策传播。</a:t>
            </a:r>
          </a:p>
        </p:txBody>
      </p:sp>
      <p:sp>
        <p:nvSpPr>
          <p:cNvPr id="17" name="共享记录要同时保留证据、成立条件和判断状态。">
            <a:extLst xmlns:a="http://schemas.openxmlformats.org/drawingml/2006/main">
              <a:ext uri="{FF2B5EF4-FFF2-40B4-BE49-F238E27FC236}">
                <a16:creationId xmlns:a16="http://schemas.microsoft.com/office/drawing/2014/main" id="{86A615A2-3080-485A-98F9-C89214F4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共享记录要同时保留证据、成立条件和判断状态。</a:t>
            </a:r>
          </a:p>
        </p:txBody>
      </p:sp>
      <p:sp>
        <p:nvSpPr>
          <p:cNvPr id="18" name="拓展思考 · 示意情境；机制依据：S001 §4.1.3 p.22、§4">
            <a:extLst xmlns:a="http://schemas.openxmlformats.org/drawingml/2006/main">
              <a:ext uri="{FF2B5EF4-FFF2-40B4-BE49-F238E27FC236}">
                <a16:creationId xmlns:a16="http://schemas.microsoft.com/office/drawing/2014/main" id="{CC77A249-646A-4930-99C2-A6F89A99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§4.1.3 p.22、§4.2.2 p.26、§4.4.4 pp.30–31</a:t>
            </a:r>
          </a:p>
        </p:txBody>
      </p:sp>
      <p:sp>
        <p:nvSpPr>
          <p:cNvPr id="19" name="09">
            <a:extLst xmlns:a="http://schemas.openxmlformats.org/drawingml/2006/main">
              <a:ext uri="{FF2B5EF4-FFF2-40B4-BE49-F238E27FC236}">
                <a16:creationId xmlns:a16="http://schemas.microsoft.com/office/drawing/2014/main" id="{750807E1-9899-4774-AA54-2A47572E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5710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基于综述的拓展思考">
            <a:extLst xmlns:a="http://schemas.openxmlformats.org/drawingml/2006/main">
              <a:ext uri="{FF2B5EF4-FFF2-40B4-BE49-F238E27FC236}">
                <a16:creationId xmlns:a16="http://schemas.microsoft.com/office/drawing/2014/main" id="{F6AE84DE-6BD0-483D-87B2-270FAC0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Verification 也可能改变任务的完成状态">
            <a:extLst xmlns:a="http://schemas.openxmlformats.org/drawingml/2006/main">
              <a:ext uri="{FF2B5EF4-FFF2-40B4-BE49-F238E27FC236}">
                <a16:creationId xmlns:a16="http://schemas.microsoft.com/office/drawing/2014/main" id="{5572F565-D5D5-43F2-BC61-2AC3992B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Verification 也可能改变任务的完成状态</a:t>
            </a:r>
          </a:p>
        </p:txBody>
      </p:sp>
      <p:sp>
        <p:nvSpPr>
          <p:cNvPr id="3" name="示意：验收要求是“检查开始前，笔记文件已保存”。">
            <a:extLst xmlns:a="http://schemas.openxmlformats.org/drawingml/2006/main">
              <a:ext uri="{FF2B5EF4-FFF2-40B4-BE49-F238E27FC236}">
                <a16:creationId xmlns:a16="http://schemas.microsoft.com/office/drawing/2014/main" id="{35CC32B4-4C6C-417F-965A-A0C85F8E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335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示意：验收要求是“检查开始前，笔记文件已保存”。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D1D5FA1-D001-4633-90CE-EC3DD9C4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gent 执行结束">
            <a:extLst xmlns:a="http://schemas.openxmlformats.org/drawingml/2006/main">
              <a:ext uri="{FF2B5EF4-FFF2-40B4-BE49-F238E27FC236}">
                <a16:creationId xmlns:a16="http://schemas.microsoft.com/office/drawing/2014/main" id="{68CF8A58-1F3E-487E-AF5B-D737CAD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Agent 执行结束</a:t>
            </a:r>
          </a:p>
        </p:txBody>
      </p:sp>
      <p:sp>
        <p:nvSpPr>
          <p:cNvPr id="6" name="草稿只在内存&#10;目标文件尚未保存">
            <a:extLst xmlns:a="http://schemas.openxmlformats.org/drawingml/2006/main">
              <a:ext uri="{FF2B5EF4-FFF2-40B4-BE49-F238E27FC236}">
                <a16:creationId xmlns:a16="http://schemas.microsoft.com/office/drawing/2014/main" id="{BB493DB2-84BF-4C74-B1D3-009C0EC9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草稿只在内存</a:t>
            </a:r>
          </a:p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目标文件尚未保存</a:t>
            </a:r>
          </a:p>
        </p:txBody>
      </p:sp>
      <p:sp>
        <p:nvSpPr>
          <p:cNvPr id="7" name="尚未满足验收要求">
            <a:extLst xmlns:a="http://schemas.openxmlformats.org/drawingml/2006/main">
              <a:ext uri="{FF2B5EF4-FFF2-40B4-BE49-F238E27FC236}">
                <a16:creationId xmlns:a16="http://schemas.microsoft.com/office/drawing/2014/main" id="{FD360516-19D4-4BC7-B055-079391B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尚未满足验收要求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0824AD90-6291-40B1-B572-9D95FE98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Verifier 介入">
            <a:extLst xmlns:a="http://schemas.openxmlformats.org/drawingml/2006/main">
              <a:ext uri="{FF2B5EF4-FFF2-40B4-BE49-F238E27FC236}">
                <a16:creationId xmlns:a16="http://schemas.microsoft.com/office/drawing/2014/main" id="{A377E336-2485-4D86-BEFB-8E8AB57F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Verifier 介入</a:t>
            </a:r>
          </a:p>
        </p:txBody>
      </p:sp>
      <p:sp>
        <p:nvSpPr>
          <p:cNvPr id="10" name="检查时先保存草稿&#10;再读取文件确认">
            <a:extLst xmlns:a="http://schemas.openxmlformats.org/drawingml/2006/main">
              <a:ext uri="{FF2B5EF4-FFF2-40B4-BE49-F238E27FC236}">
                <a16:creationId xmlns:a16="http://schemas.microsoft.com/office/drawing/2014/main" id="{30BE434B-0AAE-4939-B832-5A52E78E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052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检查时先保存草稿</a:t>
            </a:r>
          </a:p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再读取文件确认</a:t>
            </a:r>
          </a:p>
        </p:txBody>
      </p:sp>
      <p:sp>
        <p:nvSpPr>
          <p:cNvPr id="11" name="检查同时补做了任务">
            <a:extLst xmlns:a="http://schemas.openxmlformats.org/drawingml/2006/main">
              <a:ext uri="{FF2B5EF4-FFF2-40B4-BE49-F238E27FC236}">
                <a16:creationId xmlns:a16="http://schemas.microsoft.com/office/drawing/2014/main" id="{613B2E78-AE89-4CDE-9552-99927CF3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57725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检查同时补做了任务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6427C89A-0B31-4152-992E-8C237159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汇总结果">
            <a:extLst xmlns:a="http://schemas.openxmlformats.org/drawingml/2006/main">
              <a:ext uri="{FF2B5EF4-FFF2-40B4-BE49-F238E27FC236}">
                <a16:creationId xmlns:a16="http://schemas.microsoft.com/office/drawing/2014/main" id="{C4835D45-CFEB-4852-84FB-B02B993A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2F43"/>
                </a:solidFill>
                <a:latin typeface="Microsoft YaHei"/>
                <a:ea typeface="Microsoft YaHei"/>
                <a:cs typeface="Microsoft YaHei"/>
              </a:rPr>
              <a:t>汇总结果</a:t>
            </a:r>
          </a:p>
        </p:txBody>
      </p:sp>
      <p:sp>
        <p:nvSpPr>
          <p:cNvPr id="14" name="若只报告“任务完成”&#10;就会掩盖这次补做">
            <a:extLst xmlns:a="http://schemas.openxmlformats.org/drawingml/2006/main">
              <a:ext uri="{FF2B5EF4-FFF2-40B4-BE49-F238E27FC236}">
                <a16:creationId xmlns:a16="http://schemas.microsoft.com/office/drawing/2014/main" id="{881E79B1-D486-4525-8834-BDF496FC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052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若只报告“任务完成”</a:t>
            </a:r>
          </a:p>
          <a:p xmlns:a="http://schemas.openxmlformats.org/drawingml/2006/main">
            <a:pPr>
              <a:def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就会掩盖这次补做</a:t>
            </a:r>
          </a:p>
        </p:txBody>
      </p:sp>
      <p:sp>
        <p:nvSpPr>
          <p:cNvPr id="15" name="完成结果包含介入贡献">
            <a:extLst xmlns:a="http://schemas.openxmlformats.org/drawingml/2006/main">
              <a:ext uri="{FF2B5EF4-FFF2-40B4-BE49-F238E27FC236}">
                <a16:creationId xmlns:a16="http://schemas.microsoft.com/office/drawing/2014/main" id="{975499DF-688D-4194-A8D5-FB715AB4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57725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完成结果包含介入贡献</a:t>
            </a:r>
          </a:p>
        </p:txBody>
      </p:sp>
      <p:sp>
        <p:nvSpPr>
          <p:cNvPr id="16" name="Verifier 能调用 Tool 时，验收过程也可能改变被评价的结果。">
            <a:extLst xmlns:a="http://schemas.openxmlformats.org/drawingml/2006/main">
              <a:ext uri="{FF2B5EF4-FFF2-40B4-BE49-F238E27FC236}">
                <a16:creationId xmlns:a16="http://schemas.microsoft.com/office/drawing/2014/main" id="{39393B82-BCDD-4B54-9421-1C4BEF3D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6D71"/>
                </a:solidFill>
                <a:latin typeface="Microsoft YaHei"/>
                <a:ea typeface="Microsoft YaHei"/>
                <a:cs typeface="Microsoft YaHei"/>
              </a:rPr>
              <a:t>Verifier 能调用 Tool 时，验收过程也可能改变被评价的结果。</a:t>
            </a:r>
          </a:p>
        </p:txBody>
      </p:sp>
      <p:sp>
        <p:nvSpPr>
          <p:cNvPr id="17" name="记录介入前后的达标状态，区分原执行与检查修复的贡献。">
            <a:extLst xmlns:a="http://schemas.openxmlformats.org/drawingml/2006/main">
              <a:ext uri="{FF2B5EF4-FFF2-40B4-BE49-F238E27FC236}">
                <a16:creationId xmlns:a16="http://schemas.microsoft.com/office/drawing/2014/main" id="{A0552A5D-A9E4-4372-A166-E08DBAB4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记录介入前后的达标状态，区分原执行与检查修复的贡献。</a:t>
            </a:r>
          </a:p>
        </p:txBody>
      </p:sp>
      <p:sp>
        <p:nvSpPr>
          <p:cNvPr id="18" name="拓展思考 · 示意情境；机制依据：S001 §4.6.2, PDF p.">
            <a:extLst xmlns:a="http://schemas.openxmlformats.org/drawingml/2006/main">
              <a:ext uri="{FF2B5EF4-FFF2-40B4-BE49-F238E27FC236}">
                <a16:creationId xmlns:a16="http://schemas.microsoft.com/office/drawing/2014/main" id="{9E3784A3-10E2-4104-BB4C-CE7379B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§4.6.2, PDF p.36；讨论记录 §C.3</a:t>
            </a:r>
          </a:p>
        </p:txBody>
      </p:sp>
      <p:sp>
        <p:nvSpPr>
          <p:cNvPr id="19" name="10">
            <a:extLst xmlns:a="http://schemas.openxmlformats.org/drawingml/2006/main">
              <a:ext uri="{FF2B5EF4-FFF2-40B4-BE49-F238E27FC236}">
                <a16:creationId xmlns:a16="http://schemas.microsoft.com/office/drawing/2014/main" id="{D051102E-BE3B-496B-8480-CEA11979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6391275"/>
            <a:ext cx="42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465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516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2026-10-28T07:25:14.3580000Z</dcterms:created>
  <dcterms:modified xsi:type="dcterms:W3CDTF">2026-10-28T07:25:14.3580000Z</dcterms:modified>
</coreProperties>
</file>