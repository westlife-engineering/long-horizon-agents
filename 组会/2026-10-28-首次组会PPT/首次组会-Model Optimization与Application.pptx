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约60秒。承接Harness：外部运行机制帮助完成任务，Model Optimization讨论这些行为怎样进入参数或可训练模块。表格将本库三层关系中的能力形成拆成基础与适配两行，便于呈现；它不是作者提出的新分类。架构和数据/环境是支撑条件，Self-evolution是跨轮组织，不能把七节当作七种同层级算法。SFT、RL、OPD可配合，OPD强调在当前学生相关状态上提供监督，不能概括为RL仅有稀疏奖励、OPD指导总是正确。</a:t>
            </a:r>
          </a:p>
          <a:p>
            <a:r>
              <a:t>来源：raw/surveys/Towards Long-Horizon Agents.pdf，S001，§5总述p.37，Table5 p.38，Fig.11 p.39，§5.3–5.7 pp.43–55。PDF页码与本文印刷页码一致。SHA-256 C62DA7E66A4C3F7251ED8B450F51DF6500B2F850C7C70853779614E3D780E738。</a:t>
            </a:r>
          </a:p>
          <a:p>
            <a:r>
              <a:t>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约75秒。本图是本库教学示意，不是作者原图，不是一次任务执行中依次训练所有阶段。Architectural Substrate支撑长历史表示与计算。Data and Environment Synthesis提供任务、交互条件和训练经验；学习阶段用这些经验及相应信号更新策略。更新后的策略在Harness与Environment支持下执行，产生成功、失败和恢复轨迹。只有这些记录经选择和验证，再进入学习，才构成图示的参数学习循环。Self-evolution组织跨轮经验生产，也可调整任务/环境，图中回写路径是简化表达。记录Memory可改变后续输入，但不自动意味着参数更新；外部工具也不会因训练而消失。</a:t>
            </a:r>
          </a:p>
          <a:p>
            <a:r>
              <a:t>来源：S001 raw/surveys/Towards Long-Horizon Agents.pdf，§5 p.37、Fig.11 p.39、§5.6 pp.52–53、§5.7与Fig.13 pp.53–55。知识入口：wiki/optimization/Overview.md。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约75秒。先用本表定位Agentic RL，再进入下一页的学习信号与训练状态讨论。综述把RL目标从单次回答扩展到多轮交互轨迹，利用自身交互反馈优化策略；这不要求所有方法都只用最新轨迹，也不要求此前必经SFT。</a:t>
            </a:r>
          </a:p>
          <a:p>
            <a:r>
              <a:t>Credit Assignment关心如何把结果与过程反馈对应到决策。Outcome/Process区分评价对象，Rubric表达显式标准，三者可交叉，并非三个互斥奖励算法。终局反馈也可训练早期动作，不预设每步都必须有奖励。Policy Optimization把信用信号转成参数更新，综述讨论Clipping-based、Turn-level、Entropy-based，对应稳定性、优化粒度和探索。Sampling Strategy决定实际生成/保留哪些经验，包括Trajectory-level Rollout、Tree-structured Sampling、Budget-aware and Pruning。Interaction Patterns组织可优化的决策，包含Hierarchical、Multi-agent及Memory-state Learning；运行时写Memory本身不等于更新参数。</a:t>
            </a:r>
          </a:p>
          <a:p>
            <a:r>
              <a:t>四行是可组合设计维度，不是固定顺序或四种互斥算法。用共享前缀或局部比较取得信号，不自动提供单个动作的因果贡献。下一页因此分别追问局部信用的作用和错误状态是否最终进入更新。</a:t>
            </a:r>
          </a:p>
          <a:p>
            <a:r>
              <a:t>原始来源：raw/surveys/Towards Long-Horizon Agents.pdf，S001 §5.5与Fig.12 p.47；§5.5.1 pp.48–50；§5.5.2 p.50；§5.5.3 pp.50–51；§5.5.4 pp.51–52。页码从PDF第一页计。知识入口：wiki/optimization/reinforcement-learning.md。表格为综述框架的压缩表达，不代表逐项核验其全部引用或复现实验。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讲述方案</a:t>
            </a:r>
          </a:p>
          <a:p>
            <a:endParaRPr lang="zh-CN" altLang="en-US"/>
          </a:p>
          <a:p>
            <a:r>
              <a:rPr lang="zh-CN" altLang="en-US"/>
              <a:t>上一页概括了 </a:t>
            </a:r>
            <a:r>
              <a:rPr lang="en-US" altLang="zh-CN"/>
              <a:t>Agentic RL </a:t>
            </a:r>
            <a:r>
              <a:rPr lang="zh-CN" altLang="en-US"/>
              <a:t>怎样采样、分配信用并更新策略。这一页进一步看，训练后分数提高，究竟说明学到了什么。
可以用代码修复来理解。第一，在同样的接口和预算下，修复成功率更高，说明当前配置下更可靠。第二，还要区分是更少犯错，还是犯错以后更会恢复。比如更少改错文件，与改错后能发现、撤回并继续修复，是两种不同的改善，最终成功率本身不能把它们分开。第三，是换条件以后还剩多少能力：换一道题、换一个工具接口，或者缩短交互预算，检验的并不是同一种迁移。
所以这页想保留的判断是，当前成功、错误后的恢复和跨条件迁移需要分别举证。讨论点是：什么证据足以支持“训练学到了可迁移的策略”，而不只是在当前配置下做得更好？</a:t>
            </a:r>
          </a:p>
          <a:p>
            <a:endParaRPr lang="zh-CN" altLang="en-US"/>
          </a:p>
          <a:p>
            <a:r>
              <a:rPr lang="zh-CN" altLang="en-US"/>
              <a:t>原讲解与证据定位</a:t>
            </a:r>
          </a:p>
          <a:p>
            <a:r>
              <a:rPr lang="zh-CN" altLang="en-US"/>
              <a:t>约</a:t>
            </a:r>
            <a:r>
              <a:rPr lang="en-US" altLang="zh-CN"/>
              <a:t>75</a:t>
            </a:r>
            <a:r>
              <a:rPr lang="zh-CN" altLang="en-US"/>
              <a:t>秒。三层是讨论维度，不是能力等级定义，也不是已设计或已运行的实验。当前成功率、错误后的恢复、改变条件后的迁移回答不同问题。训练学会使用当前工具可以是一种能力内化，无需把工具全部移除；但要声称能力更通用，需要改变条件后的证据。外部流程负担是否减少，也应单独计量。可以进一步讨论：若成功率提高同时消耗更多交互，研究收益究竟体现在哪里？最终完成率、成本、覆盖、恢复和迁移应按问题选择，而不只看一个总分。</a:t>
            </a:r>
          </a:p>
          <a:p>
            <a:r>
              <a:rPr lang="zh-CN" altLang="en-US"/>
              <a:t>来源：</a:t>
            </a:r>
            <a:r>
              <a:rPr lang="en-US" altLang="zh-CN"/>
              <a:t>raw/surveys/Towards Long-Horizon Agents.pdf</a:t>
            </a:r>
            <a:r>
              <a:rPr lang="zh-CN" altLang="en-US"/>
              <a:t>，</a:t>
            </a:r>
            <a:r>
              <a:rPr lang="en-US" altLang="zh-CN"/>
              <a:t>§5.2 pp.40–43</a:t>
            </a:r>
            <a:r>
              <a:rPr lang="zh-CN" altLang="en-US"/>
              <a:t>，</a:t>
            </a:r>
            <a:r>
              <a:rPr lang="en-US" altLang="zh-CN"/>
              <a:t>§5.5–5.7 pp.47–55</a:t>
            </a:r>
            <a:r>
              <a:rPr lang="zh-CN" altLang="en-US"/>
              <a:t>，</a:t>
            </a:r>
            <a:r>
              <a:rPr lang="en-US" altLang="zh-CN"/>
              <a:t>§6.6 pp.64–65</a:t>
            </a:r>
            <a:r>
              <a:rPr lang="zh-CN" altLang="en-US"/>
              <a:t>。结合上一页原文机制形成归纳，未将这些判断表述为综述统一实验结论。知识入口：</a:t>
            </a:r>
            <a:r>
              <a:rPr lang="en-US" altLang="zh-CN"/>
              <a:t>wiki/optimization/Questions.md</a:t>
            </a:r>
            <a:r>
              <a:rPr lang="zh-CN" altLang="en-US"/>
              <a:t>、</a:t>
            </a:r>
            <a:r>
              <a:rPr lang="en-US" altLang="zh-CN"/>
              <a:t>wiki/optimization/Overview.md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约60秒。综述第6节按Agent与Environment的接口组织，而非按整体难度。Software Engineering常有可执行反馈，但测试通过不保证覆盖真实需求。Information Seeking获得的是证据，通常没有直接执行判定器。Computer Use状态部分可见。Multimodal信息跨时间与模态分散。General-purpose可在单个工作流组合多个接口，不是和其他四类完全互斥。此页覆盖综述五类全景，后面的原论文例子仅限本次定向核读范围，不能以长视频案例代表全部Multimodal，以跨应用数字任务代表所有General-purpose任务。</a:t>
            </a:r>
          </a:p>
          <a:p>
            <a:r>
              <a:t>来源：raw/surveys/Towards Long-Horizon Agents.pdf，§6 pp.55–56，Fig.14 p.57，§6.1–6.5 pp.56–64。知识入口：wiki/applications/Overview.md。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跨应用教学归纳，表达运行和结果归因，不是作者原图或组件贡献比例。模型根据当前输入做判断并提出动作；Harness管理输入、接口与执行；Environment接受操作并返回观察/反馈。持久产物和运行记录帮助后续决策，但是否正确仍需检查。图中终态评测从任务要求和实际结果取证，与运行中可得到的反馈区别开来；例如隐藏测试或benchmark的终态评分脚本不一定提供给Agent。不同系统可把某些决策放在固定规则中，模型并非唯一控制者。横向框代表职责，不规定必须有三个物理独立软件模块。</a:t>
            </a:r>
          </a:p>
          <a:p>
            <a:r>
              <a:t>来源：raw/surveys/Towards Long-Horizon Agents.pdf，§6 pp.55–56、Fig.14 p.57、§6.6 pp.64–65。知识入口：wiki/applications/Overview.md、wiki/applications/success-mechanisms.md。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讲述方案</a:t>
            </a:r>
          </a:p>
          <a:p>
            <a:endParaRPr lang="zh-CN" altLang="en-US"/>
          </a:p>
          <a:p>
            <a:r>
              <a:rPr lang="zh-CN" altLang="en-US"/>
              <a:t>前面按接口介绍了应用。这一页换一个角度，看这些系统的成效具体来自哪里。
第一，是把信息和操作整理成模型真正能用的形式。比如 </a:t>
            </a:r>
            <a:r>
              <a:rPr lang="en-US"/>
              <a:t>VideoSeek </a:t>
            </a:r>
            <a:r>
              <a:rPr lang="zh-CN" altLang="en-US"/>
              <a:t>选择的视频帧，交给基础模型后也能改善回答，说明“看到了什么”本身就很重要；</a:t>
            </a:r>
            <a:r>
              <a:rPr lang="en-US"/>
              <a:t>SWE-agent </a:t>
            </a:r>
            <a:r>
              <a:rPr lang="zh-CN" altLang="en-US"/>
              <a:t>的接口消融也说明，搜索和编辑怎样设计会影响结果。但这些证据不能把所有收益都归给推理能力。
第二，是让反馈参与结果选择。</a:t>
            </a:r>
            <a:r>
              <a:rPr lang="en-US"/>
              <a:t>Agentless </a:t>
            </a:r>
            <a:r>
              <a:rPr lang="zh-CN" altLang="en-US"/>
              <a:t>用固定的定位、修复和测试选择流程，也能取得成效。因此，有效反馈不一定依赖模型自由规划每一步；这也不意味着固定流程在所有任务上都更好。
第三，是完整交付。</a:t>
            </a:r>
            <a:r>
              <a:rPr lang="en-US"/>
              <a:t>Toolathlon </a:t>
            </a:r>
            <a:r>
              <a:rPr lang="zh-CN" altLang="en-US"/>
              <a:t>有个案例，</a:t>
            </a:r>
            <a:r>
              <a:rPr lang="en-US"/>
              <a:t>Agent </a:t>
            </a:r>
            <a:r>
              <a:rPr lang="zh-CN" altLang="en-US"/>
              <a:t>已经选对 </a:t>
            </a:r>
            <a:r>
              <a:rPr lang="en-US"/>
              <a:t>checkpoint，</a:t>
            </a:r>
            <a:r>
              <a:rPr lang="zh-CN" altLang="en-US"/>
              <a:t>却漏传 </a:t>
            </a:r>
            <a:r>
              <a:rPr lang="en-US"/>
              <a:t>README </a:t>
            </a:r>
            <a:r>
              <a:rPr lang="zh-CN" altLang="en-US"/>
              <a:t>依赖的图片，整个任务仍然失败。这个例子说明，局部答案正确之后，还要检查目标有没有漏项、产物依赖是否齐全。
因此，面对一个具体任务，可以先问：现在缺的是关键信息、对已有信息的判断、有效反馈，还是完整的完成条件？这比直接把失败全部归给模型或 </a:t>
            </a:r>
            <a:r>
              <a:rPr lang="en-US"/>
              <a:t>Harness，</a:t>
            </a:r>
            <a:r>
              <a:rPr lang="zh-CN" altLang="en-US"/>
              <a:t>更有助于确定下一步该查什么。</a:t>
            </a:r>
          </a:p>
          <a:p>
            <a:endParaRPr lang="zh-CN" altLang="en-US"/>
          </a:p>
          <a:p>
            <a:r>
              <a:rPr lang="zh-CN" altLang="en-US"/>
              <a:t>原讲解与证据定位</a:t>
            </a:r>
          </a:p>
          <a:p>
            <a:r>
              <a:rPr lang="zh-CN" altLang="en-US"/>
              <a:t>约</a:t>
            </a:r>
            <a:r>
              <a:rPr lang="en-US" altLang="zh-CN"/>
              <a:t>100</a:t>
            </a:r>
            <a:r>
              <a:rPr lang="zh-CN" altLang="en-US"/>
              <a:t>秒。第一点分别有接口干预和证据集合对照，不能把它们合成一个统一实验。</a:t>
            </a:r>
            <a:r>
              <a:rPr lang="en-US"/>
              <a:t>SWE-agent</a:t>
            </a:r>
            <a:r>
              <a:rPr lang="zh-CN" altLang="en-US"/>
              <a:t>的</a:t>
            </a:r>
            <a:r>
              <a:rPr lang="en-US"/>
              <a:t>Table3</a:t>
            </a:r>
            <a:r>
              <a:rPr lang="zh-CN" altLang="en-US"/>
              <a:t>比较了编辑、搜索、文件窗口与上下文设计。</a:t>
            </a:r>
            <a:r>
              <a:rPr lang="en-US"/>
              <a:t>VideoSeek Table5</a:t>
            </a:r>
            <a:r>
              <a:rPr lang="zh-CN" altLang="en-US"/>
              <a:t>把所选帧交给</a:t>
            </a:r>
            <a:r>
              <a:rPr lang="en-US"/>
              <a:t>GPT-5，</a:t>
            </a:r>
            <a:r>
              <a:rPr lang="zh-CN" altLang="en-US"/>
              <a:t>支持所选信息更有用；其与完整</a:t>
            </a:r>
            <a:r>
              <a:rPr lang="en-US"/>
              <a:t>Agent</a:t>
            </a:r>
            <a:r>
              <a:rPr lang="zh-CN" altLang="en-US"/>
              <a:t>的差距仍混合多轮交互、推理和信息组织，不能全部归为纯推理。第二点是对自由规划必要性的反例：</a:t>
            </a:r>
            <a:r>
              <a:rPr lang="en-US"/>
              <a:t>Agentless</a:t>
            </a:r>
            <a:r>
              <a:rPr lang="zh-CN" altLang="en-US"/>
              <a:t>采用固定定位</a:t>
            </a:r>
            <a:r>
              <a:rPr lang="en-US" altLang="zh-CN"/>
              <a:t>/</a:t>
            </a:r>
            <a:r>
              <a:rPr lang="zh-CN" altLang="en-US"/>
              <a:t>修复</a:t>
            </a:r>
            <a:r>
              <a:rPr lang="en-US" altLang="zh-CN"/>
              <a:t>/</a:t>
            </a:r>
            <a:r>
              <a:rPr lang="zh-CN" altLang="en-US"/>
              <a:t>验证流程，</a:t>
            </a:r>
            <a:r>
              <a:rPr lang="en-US"/>
              <a:t>Table4</a:t>
            </a:r>
            <a:r>
              <a:rPr lang="zh-CN" altLang="en-US"/>
              <a:t>在候选补丁上加测试筛选获得收益。不能推出固定流程总优于动态决策。第三点是单个失败案例，不表示整类任务的主导失败率。</a:t>
            </a:r>
            <a:r>
              <a:rPr lang="en-US"/>
              <a:t>Toolathlon App.E.2</a:t>
            </a:r>
            <a:r>
              <a:rPr lang="zh-CN" altLang="en-US"/>
              <a:t>中模型找到正确</a:t>
            </a:r>
            <a:r>
              <a:rPr lang="en-US"/>
              <a:t>checkpoint，</a:t>
            </a:r>
            <a:r>
              <a:rPr lang="zh-CN" altLang="en-US"/>
              <a:t>仍因漏传</a:t>
            </a:r>
            <a:r>
              <a:rPr lang="en-US"/>
              <a:t>README</a:t>
            </a:r>
            <a:r>
              <a:rPr lang="zh-CN" altLang="en-US"/>
              <a:t>所需图片失败。</a:t>
            </a:r>
          </a:p>
          <a:p>
            <a:r>
              <a:rPr lang="zh-CN" altLang="en-US"/>
              <a:t>来源：</a:t>
            </a:r>
            <a:r>
              <a:rPr lang="en-US"/>
              <a:t>raw/papers/harness/tools/SWE-agent.pdf §5.1、Tables1/3 p.6；raw/papers/harness/tools/VideoSeek.pdf App.A.3/Table5 p.12；raw/papers/harness/workflows/Agentless.pdf §3 p.6、§5.2.3/Table4 p.14；raw/papers/harness/tools/Toolathlon.pdf App.E.2 p.18。</a:t>
            </a:r>
            <a:r>
              <a:rPr lang="zh-CN" altLang="en-US"/>
              <a:t>均为作者报告，未复现。知识入口：</a:t>
            </a:r>
            <a:r>
              <a:rPr lang="en-US"/>
              <a:t>wiki/applications/success-mechanisms.md。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D0B35D3-2B3E-40A7-8A1F-DF8C4368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2999343-1BEA-470B-9594-2A3F91FBA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8E825FD-CD14-4F03-AF83-84412541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62AA4D-B2A8-40A6-8EA3-FB6A8804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E62F0AB-E451-4200-B678-89D52310B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50EBC30-6D40-4DCF-BF50-AB0C2525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D380D66-E94B-4BAA-813B-82E4CFEEC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1075E74-03A1-4175-A0DC-FA4D922D42E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B396E49-1459-4EA2-B1B4-F7C5C60C4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3465-89D3-46A5-BAF0-EEE344C3C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总览">
            <a:extLst>
              <a:ext uri="{FF2B5EF4-FFF2-40B4-BE49-F238E27FC236}">
                <a16:creationId xmlns:a16="http://schemas.microsoft.com/office/drawing/2014/main" id="{36A687A6-7FE0-42CD-AD4B-F3F2086CA40E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总览</a:t>
            </a:r>
          </a:p>
        </p:txBody>
      </p:sp>
      <p:sp>
        <p:nvSpPr>
          <p:cNvPr id="2" name="Model Optimization：能力怎样进入策略">
            <a:extLst>
              <a:ext uri="{FF2B5EF4-FFF2-40B4-BE49-F238E27FC236}">
                <a16:creationId xmlns:a16="http://schemas.microsoft.com/office/drawing/2014/main" id="{E8C2E345-6397-42B5-A302-67A195D34D5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Model Optimization：能力怎样进入策略</a:t>
            </a:r>
          </a:p>
        </p:txBody>
      </p:sp>
      <p:sp>
        <p:nvSpPr>
          <p:cNvPr id="3" name="按作用重组第 5 章：训练条件、能力形成与经验改进循环。">
            <a:extLst>
              <a:ext uri="{FF2B5EF4-FFF2-40B4-BE49-F238E27FC236}">
                <a16:creationId xmlns:a16="http://schemas.microsoft.com/office/drawing/2014/main" id="{5BE37FEC-8645-4341-9097-16A9FC7F804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按作用重组第 5 章：训练条件、能力形成与经验改进循环。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E1075B-279C-4956-97F4-E68A038538F1}"/>
              </a:ext>
            </a:extLst>
          </p:cNvPr>
          <p:cNvGraphicFramePr/>
          <p:nvPr/>
        </p:nvGraphicFramePr>
        <p:xfrm>
          <a:off x="762000" y="2114550"/>
          <a:ext cx="10668000" cy="32385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综述中的环节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核心作用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训练条件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Architectural Substrate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 and Environment Synthesis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承载长历史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提供可执行、可验证的经验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能力基础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Pre-training / Mid-training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形成推理、状态利用与感知基础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行为适配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Fine-tuning / Agentic RL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On-Policy Distillation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利用示范、回报与指导更新策略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关注实际访问的状态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经验改进循环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把当前表现转成下一轮经验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可进一步调整任务与环境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这些环节可组合；章节顺序不规定每个系统的训练顺序。">
            <a:extLst>
              <a:ext uri="{FF2B5EF4-FFF2-40B4-BE49-F238E27FC236}">
                <a16:creationId xmlns:a16="http://schemas.microsoft.com/office/drawing/2014/main" id="{391FF3A8-98C5-4C12-9846-D1A2726F875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这些环节可组合；章节顺序不规定每个系统的训练顺序。</a:t>
            </a:r>
          </a:p>
        </p:txBody>
      </p:sp>
      <p:sp>
        <p:nvSpPr>
          <p:cNvPr id="6" name="综述依据：S001 §5、Table 5、Fig.11，PDF pp.37–55；层次划分">
            <a:extLst>
              <a:ext uri="{FF2B5EF4-FFF2-40B4-BE49-F238E27FC236}">
                <a16:creationId xmlns:a16="http://schemas.microsoft.com/office/drawing/2014/main" id="{BD83021C-4A35-4C4A-929B-7AD53107A839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综述依据：S001 §5、Table 5、Fig.11，PDF pp.37–55；层次划分为本库教学归纳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B6A5471A-D689-4BD7-88A6-FE7BE8AB46D7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9148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03  Model Optimization · 关系图">
            <a:extLst>
              <a:ext uri="{FF2B5EF4-FFF2-40B4-BE49-F238E27FC236}">
                <a16:creationId xmlns:a16="http://schemas.microsoft.com/office/drawing/2014/main" id="{5C11D630-5D9E-4327-A0A8-ACEC4AE38603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关系图</a:t>
            </a:r>
          </a:p>
        </p:txBody>
      </p:sp>
      <p:sp>
        <p:nvSpPr>
          <p:cNvPr id="2" name="训练更新与经验反馈的关系">
            <a:extLst>
              <a:ext uri="{FF2B5EF4-FFF2-40B4-BE49-F238E27FC236}">
                <a16:creationId xmlns:a16="http://schemas.microsoft.com/office/drawing/2014/main" id="{48A3BEDC-267F-48B1-8296-D349CA76191C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训练更新与经验反馈的关系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0F39AF-A676-46AE-B634-C7BE2A1043E5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668000" cy="590550"/>
          </a:xfrm>
          <a:prstGeom prst="rect">
            <a:avLst/>
          </a:prstGeom>
          <a:solidFill>
            <a:srgbClr val="EAF1EF"/>
          </a:solidFill>
          <a:ln w="14288">
            <a:solidFill>
              <a:srgbClr val="CCD7D5"/>
            </a:solidFill>
          </a:ln>
        </p:spPr>
      </p:sp>
      <p:sp>
        <p:nvSpPr>
          <p:cNvPr id="4" name="Architectural Substrate">
            <a:extLst>
              <a:ext uri="{FF2B5EF4-FFF2-40B4-BE49-F238E27FC236}">
                <a16:creationId xmlns:a16="http://schemas.microsoft.com/office/drawing/2014/main" id="{ACCE66E4-56CE-4574-8566-98DD56F9112A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Architectural Substrate</a:t>
            </a:r>
          </a:p>
        </p:txBody>
      </p:sp>
      <p:sp>
        <p:nvSpPr>
          <p:cNvPr id="5" name="支撑长历史的表示、处理与训练计算">
            <a:extLst>
              <a:ext uri="{FF2B5EF4-FFF2-40B4-BE49-F238E27FC236}">
                <a16:creationId xmlns:a16="http://schemas.microsoft.com/office/drawing/2014/main" id="{F6A5E1D4-2534-4C2C-A105-2AD48C013596}"/>
              </a:ext>
            </a:extLst>
          </p:cNvPr>
          <p:cNvSpPr>
            <a:spLocks noGrp="1"/>
          </p:cNvSpPr>
          <p:nvPr/>
        </p:nvSpPr>
        <p:spPr>
          <a:xfrm>
            <a:off x="4857750" y="17526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支撑长历史的表示、处理与训练计算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FE80CC-5B2D-4565-9678-724BDFDE9AEE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7" name="Data &amp; Environment">
            <a:extLst>
              <a:ext uri="{FF2B5EF4-FFF2-40B4-BE49-F238E27FC236}">
                <a16:creationId xmlns:a16="http://schemas.microsoft.com/office/drawing/2014/main" id="{1454F25D-3CA2-4E47-B2D3-88DF9F7DAA84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Data &amp; Environment</a:t>
            </a:r>
          </a:p>
        </p:txBody>
      </p:sp>
      <p:sp>
        <p:nvSpPr>
          <p:cNvPr id="8" name="任务、环境、轨迹&#10;可学经验与反馈">
            <a:extLst>
              <a:ext uri="{FF2B5EF4-FFF2-40B4-BE49-F238E27FC236}">
                <a16:creationId xmlns:a16="http://schemas.microsoft.com/office/drawing/2014/main" id="{B75F4B10-F175-46F4-846F-D9A6E0BB317B}"/>
              </a:ext>
            </a:extLst>
          </p:cNvPr>
          <p:cNvSpPr>
            <a:spLocks noGrp="1"/>
          </p:cNvSpPr>
          <p:nvPr/>
        </p:nvSpPr>
        <p:spPr>
          <a:xfrm>
            <a:off x="9048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任务、环境、轨迹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可学经验与反馈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46D2D7-6E53-4E01-B087-036BEDD4B313}"/>
              </a:ext>
            </a:extLst>
          </p:cNvPr>
          <p:cNvSpPr>
            <a:spLocks noGrp="1"/>
          </p:cNvSpPr>
          <p:nvPr/>
        </p:nvSpPr>
        <p:spPr>
          <a:xfrm>
            <a:off x="466725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10" name="学习与更新">
            <a:extLst>
              <a:ext uri="{FF2B5EF4-FFF2-40B4-BE49-F238E27FC236}">
                <a16:creationId xmlns:a16="http://schemas.microsoft.com/office/drawing/2014/main" id="{B1DD70E4-FCAA-4135-A7B6-770DD02DDA6B}"/>
              </a:ext>
            </a:extLst>
          </p:cNvPr>
          <p:cNvSpPr>
            <a:spLocks noGrp="1"/>
          </p:cNvSpPr>
          <p:nvPr/>
        </p:nvSpPr>
        <p:spPr>
          <a:xfrm>
            <a:off x="478155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学习与更新</a:t>
            </a:r>
          </a:p>
        </p:txBody>
      </p:sp>
      <p:sp>
        <p:nvSpPr>
          <p:cNvPr id="11" name="Pre/Mid-training&#10;SFT · RL · OPD">
            <a:extLst>
              <a:ext uri="{FF2B5EF4-FFF2-40B4-BE49-F238E27FC236}">
                <a16:creationId xmlns:a16="http://schemas.microsoft.com/office/drawing/2014/main" id="{67811A3F-AC47-4F72-9D35-8EE2D5C7AC8F}"/>
              </a:ext>
            </a:extLst>
          </p:cNvPr>
          <p:cNvSpPr>
            <a:spLocks noGrp="1"/>
          </p:cNvSpPr>
          <p:nvPr/>
        </p:nvSpPr>
        <p:spPr>
          <a:xfrm>
            <a:off x="481012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Pre/Mid-training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SFT · RL · OPD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2FDAE-7CE8-4033-8447-2B061FD9DA15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2857500" cy="1343025"/>
          </a:xfrm>
          <a:prstGeom prst="rect">
            <a:avLst/>
          </a:prstGeom>
          <a:solidFill>
            <a:srgbClr val="182F43"/>
          </a:solidFill>
          <a:ln w="14288">
            <a:solidFill>
              <a:srgbClr val="146D71"/>
            </a:solidFill>
          </a:ln>
        </p:spPr>
      </p:sp>
      <p:sp>
        <p:nvSpPr>
          <p:cNvPr id="13" name="Updated Policy">
            <a:extLst>
              <a:ext uri="{FF2B5EF4-FFF2-40B4-BE49-F238E27FC236}">
                <a16:creationId xmlns:a16="http://schemas.microsoft.com/office/drawing/2014/main" id="{8BDC2AD0-BDAD-48A1-9B05-30145EEC4FAA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Updated Policy</a:t>
            </a:r>
          </a:p>
        </p:txBody>
      </p:sp>
      <p:sp>
        <p:nvSpPr>
          <p:cNvPr id="14" name="参数或可训练模块&#10;形成新的行为策略">
            <a:extLst>
              <a:ext uri="{FF2B5EF4-FFF2-40B4-BE49-F238E27FC236}">
                <a16:creationId xmlns:a16="http://schemas.microsoft.com/office/drawing/2014/main" id="{CC34405A-8930-4966-8CAD-F24298C3B03A}"/>
              </a:ext>
            </a:extLst>
          </p:cNvPr>
          <p:cNvSpPr>
            <a:spLocks noGrp="1"/>
          </p:cNvSpPr>
          <p:nvPr/>
        </p:nvSpPr>
        <p:spPr>
          <a:xfrm>
            <a:off x="87153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参数或可训练模块</a:t>
            </a:r>
          </a:p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形成新的行为策略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BD35429-DA22-4D12-A821-E070609C054F}"/>
              </a:ext>
            </a:extLst>
          </p:cNvPr>
          <p:cNvCxnSpPr/>
          <p:nvPr/>
        </p:nvCxnSpPr>
        <p:spPr>
          <a:xfrm>
            <a:off x="3619500" y="3438525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08822EC-BE5C-46CE-871B-6055FDE67462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17" name="经验与信号">
            <a:extLst>
              <a:ext uri="{FF2B5EF4-FFF2-40B4-BE49-F238E27FC236}">
                <a16:creationId xmlns:a16="http://schemas.microsoft.com/office/drawing/2014/main" id="{57FD15F7-8549-4BA3-B876-82261B700B96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经验与信号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BE02D97-AF8A-4E2E-BF59-0A1D15BE4B25}"/>
              </a:ext>
            </a:extLst>
          </p:cNvPr>
          <p:cNvCxnSpPr/>
          <p:nvPr/>
        </p:nvCxnSpPr>
        <p:spPr>
          <a:xfrm>
            <a:off x="7524750" y="3438525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9A861CF-CDC5-477F-B3A8-2E6B694919A5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0" name="更新">
            <a:extLst>
              <a:ext uri="{FF2B5EF4-FFF2-40B4-BE49-F238E27FC236}">
                <a16:creationId xmlns:a16="http://schemas.microsoft.com/office/drawing/2014/main" id="{D558144C-948A-40F2-BADA-6AFC71EB0754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7CD00A-46B8-4AEA-890B-615E9BC0F33C}"/>
              </a:ext>
            </a:extLst>
          </p:cNvPr>
          <p:cNvSpPr>
            <a:spLocks noGrp="1"/>
          </p:cNvSpPr>
          <p:nvPr/>
        </p:nvSpPr>
        <p:spPr>
          <a:xfrm>
            <a:off x="466725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22" name="经验筛选与验证">
            <a:extLst>
              <a:ext uri="{FF2B5EF4-FFF2-40B4-BE49-F238E27FC236}">
                <a16:creationId xmlns:a16="http://schemas.microsoft.com/office/drawing/2014/main" id="{310DC9E4-D08D-4FF0-936C-0CF750228347}"/>
              </a:ext>
            </a:extLst>
          </p:cNvPr>
          <p:cNvSpPr>
            <a:spLocks noGrp="1"/>
          </p:cNvSpPr>
          <p:nvPr/>
        </p:nvSpPr>
        <p:spPr>
          <a:xfrm>
            <a:off x="478155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经验筛选与验证</a:t>
            </a:r>
          </a:p>
        </p:txBody>
      </p:sp>
      <p:sp>
        <p:nvSpPr>
          <p:cNvPr id="23" name="成功、失败与恢复记录">
            <a:extLst>
              <a:ext uri="{FF2B5EF4-FFF2-40B4-BE49-F238E27FC236}">
                <a16:creationId xmlns:a16="http://schemas.microsoft.com/office/drawing/2014/main" id="{5C95D3DB-CD32-45B0-B1BD-38ECC5C4DDC4}"/>
              </a:ext>
            </a:extLst>
          </p:cNvPr>
          <p:cNvSpPr>
            <a:spLocks noGrp="1"/>
          </p:cNvSpPr>
          <p:nvPr/>
        </p:nvSpPr>
        <p:spPr>
          <a:xfrm>
            <a:off x="481012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成功、失败与恢复记录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F55FD5-34CE-4B57-B3DC-CA2A63DC2178}"/>
              </a:ext>
            </a:extLst>
          </p:cNvPr>
          <p:cNvSpPr>
            <a:spLocks noGrp="1"/>
          </p:cNvSpPr>
          <p:nvPr/>
        </p:nvSpPr>
        <p:spPr>
          <a:xfrm>
            <a:off x="857250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25" name="策略执行">
            <a:extLst>
              <a:ext uri="{FF2B5EF4-FFF2-40B4-BE49-F238E27FC236}">
                <a16:creationId xmlns:a16="http://schemas.microsoft.com/office/drawing/2014/main" id="{84DA24D7-9376-43BF-9DA6-27EC24BFB9F2}"/>
              </a:ext>
            </a:extLst>
          </p:cNvPr>
          <p:cNvSpPr>
            <a:spLocks noGrp="1"/>
          </p:cNvSpPr>
          <p:nvPr/>
        </p:nvSpPr>
        <p:spPr>
          <a:xfrm>
            <a:off x="868680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策略执行</a:t>
            </a:r>
          </a:p>
        </p:txBody>
      </p:sp>
      <p:sp>
        <p:nvSpPr>
          <p:cNvPr id="26" name="Harness + Environment">
            <a:extLst>
              <a:ext uri="{FF2B5EF4-FFF2-40B4-BE49-F238E27FC236}">
                <a16:creationId xmlns:a16="http://schemas.microsoft.com/office/drawing/2014/main" id="{2FD0E15E-A317-4D77-B436-68526CC2E855}"/>
              </a:ext>
            </a:extLst>
          </p:cNvPr>
          <p:cNvSpPr>
            <a:spLocks noGrp="1"/>
          </p:cNvSpPr>
          <p:nvPr/>
        </p:nvSpPr>
        <p:spPr>
          <a:xfrm>
            <a:off x="871537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Harness + Environment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74E5597-D01D-49BF-91AD-C02F4BCBEDFC}"/>
              </a:ext>
            </a:extLst>
          </p:cNvPr>
          <p:cNvCxnSpPr/>
          <p:nvPr/>
        </p:nvCxnSpPr>
        <p:spPr>
          <a:xfrm>
            <a:off x="10001250" y="4124325"/>
            <a:ext cx="0" cy="49530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5C5D6AA-6CFA-4459-9583-3F5ADBA3C45B}"/>
              </a:ext>
            </a:extLst>
          </p:cNvPr>
          <p:cNvCxnSpPr/>
          <p:nvPr/>
        </p:nvCxnSpPr>
        <p:spPr>
          <a:xfrm>
            <a:off x="7524750" y="5172075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CC112A4C-368C-45A0-9572-81E1D17A002C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30" name="交互记录">
            <a:extLst>
              <a:ext uri="{FF2B5EF4-FFF2-40B4-BE49-F238E27FC236}">
                <a16:creationId xmlns:a16="http://schemas.microsoft.com/office/drawing/2014/main" id="{8432D1F3-26F6-4E0D-AB5D-0F50837DF67D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交互记录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A89083C-66DD-4486-99BE-1A3C2C0B62D7}"/>
              </a:ext>
            </a:extLst>
          </p:cNvPr>
          <p:cNvCxnSpPr/>
          <p:nvPr/>
        </p:nvCxnSpPr>
        <p:spPr>
          <a:xfrm>
            <a:off x="2190750" y="5172075"/>
            <a:ext cx="247650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371E5BE-9D7F-49F9-A67B-9DB1CFE2E282}"/>
              </a:ext>
            </a:extLst>
          </p:cNvPr>
          <p:cNvCxnSpPr/>
          <p:nvPr/>
        </p:nvCxnSpPr>
        <p:spPr>
          <a:xfrm>
            <a:off x="2190750" y="4124325"/>
            <a:ext cx="0" cy="104775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33" name="Self-evolution">
            <a:extLst>
              <a:ext uri="{FF2B5EF4-FFF2-40B4-BE49-F238E27FC236}">
                <a16:creationId xmlns:a16="http://schemas.microsoft.com/office/drawing/2014/main" id="{6A9261E1-C567-4ED7-AE59-6B9AF80A1321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Self-evolution</a:t>
            </a:r>
          </a:p>
        </p:txBody>
      </p:sp>
      <p:sp>
        <p:nvSpPr>
          <p:cNvPr id="34" name="组织下一轮经验生产与学习">
            <a:extLst>
              <a:ext uri="{FF2B5EF4-FFF2-40B4-BE49-F238E27FC236}">
                <a16:creationId xmlns:a16="http://schemas.microsoft.com/office/drawing/2014/main" id="{19320230-F21E-41E9-AD94-C155748D4778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组织下一轮经验生产与学习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89FCBE-3FE0-44CD-9524-D48BB69B93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36" name="回写经验／调整任务">
            <a:extLst>
              <a:ext uri="{FF2B5EF4-FFF2-40B4-BE49-F238E27FC236}">
                <a16:creationId xmlns:a16="http://schemas.microsoft.com/office/drawing/2014/main" id="{05EBEE47-F9C3-42FB-BF87-432F9C5069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回写经验／调整任务</a:t>
            </a:r>
          </a:p>
        </p:txBody>
      </p:sp>
      <p:sp>
        <p:nvSpPr>
          <p:cNvPr id="37" name="记录进入训练更新，才构成图示的内化循环">
            <a:extLst>
              <a:ext uri="{FF2B5EF4-FFF2-40B4-BE49-F238E27FC236}">
                <a16:creationId xmlns:a16="http://schemas.microsoft.com/office/drawing/2014/main" id="{6F043A52-0C2D-4EC6-A2F9-28DE8C0A38D3}"/>
              </a:ext>
            </a:extLst>
          </p:cNvPr>
          <p:cNvSpPr>
            <a:spLocks noGrp="1"/>
          </p:cNvSpPr>
          <p:nvPr/>
        </p:nvSpPr>
        <p:spPr>
          <a:xfrm>
            <a:off x="6048375" y="5915025"/>
            <a:ext cx="5381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记录进入训练更新，才构成图示的内化循环</a:t>
            </a:r>
          </a:p>
        </p:txBody>
      </p:sp>
      <p:sp>
        <p:nvSpPr>
          <p:cNvPr id="38" name="依据 S001 §5、Fig.11、Fig.13，PDF pp.37、39、53–55 重">
            <a:extLst>
              <a:ext uri="{FF2B5EF4-FFF2-40B4-BE49-F238E27FC236}">
                <a16:creationId xmlns:a16="http://schemas.microsoft.com/office/drawing/2014/main" id="{82B7C7B0-7182-4664-89BE-E631CE4514E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依据 S001 §5、Fig.11、Fig.13，PDF pp.37、39、53–55 重组；箭头表示供给、更新与反馈</a:t>
            </a:r>
          </a:p>
        </p:txBody>
      </p:sp>
      <p:sp>
        <p:nvSpPr>
          <p:cNvPr id="39" name="02">
            <a:extLst>
              <a:ext uri="{FF2B5EF4-FFF2-40B4-BE49-F238E27FC236}">
                <a16:creationId xmlns:a16="http://schemas.microsoft.com/office/drawing/2014/main" id="{DADB0157-50C5-4989-A991-B3980474230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2798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Agentic RL 总览">
            <a:extLst>
              <a:ext uri="{FF2B5EF4-FFF2-40B4-BE49-F238E27FC236}">
                <a16:creationId xmlns:a16="http://schemas.microsoft.com/office/drawing/2014/main" id="{85C63CE7-1897-4848-9A5F-D5D585B98B5C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Agentic RL 总览</a:t>
            </a:r>
          </a:p>
        </p:txBody>
      </p:sp>
      <p:sp>
        <p:nvSpPr>
          <p:cNvPr id="2" name="Agentic RL 的四个设计维度">
            <a:extLst>
              <a:ext uri="{FF2B5EF4-FFF2-40B4-BE49-F238E27FC236}">
                <a16:creationId xmlns:a16="http://schemas.microsoft.com/office/drawing/2014/main" id="{D5462291-2A69-4A7F-BB9F-2FB93B25DA92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Agentic RL 的四个设计维度</a:t>
            </a:r>
          </a:p>
        </p:txBody>
      </p:sp>
      <p:sp>
        <p:nvSpPr>
          <p:cNvPr id="3" name="利用自身交互反馈优化策略，学习目标覆盖多轮决策及其长期后果。">
            <a:extLst>
              <a:ext uri="{FF2B5EF4-FFF2-40B4-BE49-F238E27FC236}">
                <a16:creationId xmlns:a16="http://schemas.microsoft.com/office/drawing/2014/main" id="{3DF0343E-64A3-4F44-8C54-EEE9044DAE7A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利用自身交互反馈优化策略，学习目标覆盖多轮决策及其长期后果。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86CA69-FEA5-432D-8BD3-E4A757C82918}"/>
              </a:ext>
            </a:extLst>
          </p:cNvPr>
          <p:cNvGraphicFramePr/>
          <p:nvPr/>
        </p:nvGraphicFramePr>
        <p:xfrm>
          <a:off x="762000" y="2114550"/>
          <a:ext cx="10668000" cy="33718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设计维度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回答什么问题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典型设计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Credit Assignment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信用分配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哪些决策值得强化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结果、过程与显式评价准则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Outcome / Process / Rubric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Policy Optimization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策略优化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怎样把信号转成稳定更新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控制策略漂移、细化更新单位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维持探索与轨迹多样性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Sampling Strategy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采样策略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哪些经验有机会被学到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多轮 Rollout、共享前缀的树采样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预算分配与轨迹筛选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Interaction Patterns</a:t>
                      </a:r>
                    </a:p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交互结构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把哪些决策组织成学习对象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Hierarchical / Multi-agent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Memory-state Learning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四个维度可以组合；采样、信用与更新共同受交互结构影响。">
            <a:extLst>
              <a:ext uri="{FF2B5EF4-FFF2-40B4-BE49-F238E27FC236}">
                <a16:creationId xmlns:a16="http://schemas.microsoft.com/office/drawing/2014/main" id="{B7A199AF-D497-4C99-A449-7E4AC378B36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四个维度可以组合；采样、信用与更新共同受交互结构影响。</a:t>
            </a:r>
          </a:p>
        </p:txBody>
      </p:sp>
      <p:sp>
        <p:nvSpPr>
          <p:cNvPr id="6" name="综述框架：S001 §5.5、Fig.12，PDF pp.47–52；表述按设计">
            <a:extLst>
              <a:ext uri="{FF2B5EF4-FFF2-40B4-BE49-F238E27FC236}">
                <a16:creationId xmlns:a16="http://schemas.microsoft.com/office/drawing/2014/main" id="{5F707B1F-F46E-4C3A-B690-CFC31F29D64C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综述框架：S001 §5.5、Fig.12，PDF pp.47–52；表述按设计问题压缩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FE3F66B9-65D1-447F-862D-7E51C500684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9036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03  Model Optimization · 额外思考">
            <a:extLst>
              <a:ext uri="{FF2B5EF4-FFF2-40B4-BE49-F238E27FC236}">
                <a16:creationId xmlns:a16="http://schemas.microsoft.com/office/drawing/2014/main" id="{436191AB-D6A7-490B-9C0B-55295167EF2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  Model Optimization · 额外思考</a:t>
            </a:r>
          </a:p>
        </p:txBody>
      </p:sp>
      <p:sp>
        <p:nvSpPr>
          <p:cNvPr id="2" name="能力内化的证据需要分层">
            <a:extLst>
              <a:ext uri="{FF2B5EF4-FFF2-40B4-BE49-F238E27FC236}">
                <a16:creationId xmlns:a16="http://schemas.microsoft.com/office/drawing/2014/main" id="{FD9E6944-6BB1-47EE-8F2E-51804D421BA1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能力内化的证据需要分层</a:t>
            </a:r>
          </a:p>
        </p:txBody>
      </p:sp>
      <p:sp>
        <p:nvSpPr>
          <p:cNvPr id="3" name="“训练后表现更好”可以对应不同的能力变化。">
            <a:extLst>
              <a:ext uri="{FF2B5EF4-FFF2-40B4-BE49-F238E27FC236}">
                <a16:creationId xmlns:a16="http://schemas.microsoft.com/office/drawing/2014/main" id="{D83E6D0B-F3FF-4850-AD9F-8EB22499B6E2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“训练后表现更好”可以对应不同的能力变化。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235E85FC-3714-4D90-A001-2FA69A7E4C53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当前配置下更可靠">
            <a:extLst>
              <a:ext uri="{FF2B5EF4-FFF2-40B4-BE49-F238E27FC236}">
                <a16:creationId xmlns:a16="http://schemas.microsoft.com/office/drawing/2014/main" id="{8EB29DDE-2910-48C0-B24B-D07AA1620B0B}"/>
              </a:ext>
            </a:extLst>
          </p:cNvPr>
          <p:cNvSpPr>
            <a:spLocks noGrp="1"/>
          </p:cNvSpPr>
          <p:nvPr/>
        </p:nvSpPr>
        <p:spPr>
          <a:xfrm>
            <a:off x="1714500" y="224790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当前配置下更可靠</a:t>
            </a:r>
          </a:p>
        </p:txBody>
      </p:sp>
      <p:sp>
        <p:nvSpPr>
          <p:cNvPr id="6" name="固定模型接口、任务与预算，看完整任务成功率。&#10;这能支持当前配置下的改进。">
            <a:extLst>
              <a:ext uri="{FF2B5EF4-FFF2-40B4-BE49-F238E27FC236}">
                <a16:creationId xmlns:a16="http://schemas.microsoft.com/office/drawing/2014/main" id="{5FBB21AC-CDB5-45A1-B46F-63746C8950FA}"/>
              </a:ext>
            </a:extLst>
          </p:cNvPr>
          <p:cNvSpPr>
            <a:spLocks noGrp="1"/>
          </p:cNvSpPr>
          <p:nvPr/>
        </p:nvSpPr>
        <p:spPr>
          <a:xfrm>
            <a:off x="1714500" y="266700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固定模型接口、任务与预算，看完整任务成功率。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这能支持当前配置下的改进。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3C871595-C414-4CCE-8952-90D791A0D14F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错误发生后仍能继续">
            <a:extLst>
              <a:ext uri="{FF2B5EF4-FFF2-40B4-BE49-F238E27FC236}">
                <a16:creationId xmlns:a16="http://schemas.microsoft.com/office/drawing/2014/main" id="{19351701-752C-4AF5-BB0D-DB8261BFDADF}"/>
              </a:ext>
            </a:extLst>
          </p:cNvPr>
          <p:cNvSpPr>
            <a:spLocks noGrp="1"/>
          </p:cNvSpPr>
          <p:nvPr/>
        </p:nvSpPr>
        <p:spPr>
          <a:xfrm>
            <a:off x="1714500" y="3362325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错误发生后仍能继续</a:t>
            </a:r>
          </a:p>
        </p:txBody>
      </p:sp>
      <p:sp>
        <p:nvSpPr>
          <p:cNvPr id="9" name="看错误前缀之后的恢复过程。&#10;总分提升还可能来自少犯错，未必来自更会恢复。">
            <a:extLst>
              <a:ext uri="{FF2B5EF4-FFF2-40B4-BE49-F238E27FC236}">
                <a16:creationId xmlns:a16="http://schemas.microsoft.com/office/drawing/2014/main" id="{59C0045B-36D8-4502-97EB-EFDBA4E645B2}"/>
              </a:ext>
            </a:extLst>
          </p:cNvPr>
          <p:cNvSpPr>
            <a:spLocks noGrp="1"/>
          </p:cNvSpPr>
          <p:nvPr/>
        </p:nvSpPr>
        <p:spPr>
          <a:xfrm>
            <a:off x="1714500" y="3781425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看错误前缀之后的恢复过程。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总分提升还可能来自少犯错，未必来自更会恢复。</a:t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26D16933-ABD6-459E-B258-AF7A453AEEBF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交互条件改变后仍有效">
            <a:extLst>
              <a:ext uri="{FF2B5EF4-FFF2-40B4-BE49-F238E27FC236}">
                <a16:creationId xmlns:a16="http://schemas.microsoft.com/office/drawing/2014/main" id="{8478F20F-E5CB-4910-BAE8-6D6700E9A1D3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交互条件改变后仍有效</a:t>
            </a:r>
          </a:p>
        </p:txBody>
      </p:sp>
      <p:sp>
        <p:nvSpPr>
          <p:cNvPr id="12" name="分别改变题目、工具接口、环境或预算。&#10;换题成功与换接口成功，需要不同的迁移证据。">
            <a:extLst>
              <a:ext uri="{FF2B5EF4-FFF2-40B4-BE49-F238E27FC236}">
                <a16:creationId xmlns:a16="http://schemas.microsoft.com/office/drawing/2014/main" id="{046F456A-6560-4FE3-BBBD-433C6871D3E2}"/>
              </a:ext>
            </a:extLst>
          </p:cNvPr>
          <p:cNvSpPr>
            <a:spLocks noGrp="1"/>
          </p:cNvSpPr>
          <p:nvPr/>
        </p:nvSpPr>
        <p:spPr>
          <a:xfrm>
            <a:off x="1714500" y="489585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分别改变题目、工具接口、环境或预算。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换题成功与换接口成功，需要不同的迁移证据。</a:t>
            </a:r>
          </a:p>
        </p:txBody>
      </p:sp>
      <p:sp>
        <p:nvSpPr>
          <p:cNvPr id="13" name="讨论：什么证据足以说明，训练改善了可迁移的策略能力？">
            <a:extLst>
              <a:ext uri="{FF2B5EF4-FFF2-40B4-BE49-F238E27FC236}">
                <a16:creationId xmlns:a16="http://schemas.microsoft.com/office/drawing/2014/main" id="{B1DBD3C7-4286-4FDD-8996-5FF395879243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讨论：什么证据足以说明，训练改善了可迁移的策略能力？</a:t>
            </a:r>
          </a:p>
        </p:txBody>
      </p:sp>
      <p:sp>
        <p:nvSpPr>
          <p:cNvPr id="14" name="本库评测视角归纳；依据 S001 §5.2、§5.5–5.7、§6.6，PDF pp.40">
            <a:extLst>
              <a:ext uri="{FF2B5EF4-FFF2-40B4-BE49-F238E27FC236}">
                <a16:creationId xmlns:a16="http://schemas.microsoft.com/office/drawing/2014/main" id="{3FB81CEA-0557-4A1E-BAE2-F4C73DA2021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本库评测视角归纳；依据 S001 §5.2、§5.5–5.7、§6.6，PDF pp.40–55、64–65</a:t>
            </a:r>
          </a:p>
        </p:txBody>
      </p:sp>
      <p:sp>
        <p:nvSpPr>
          <p:cNvPr id="15" name="04">
            <a:extLst>
              <a:ext uri="{FF2B5EF4-FFF2-40B4-BE49-F238E27FC236}">
                <a16:creationId xmlns:a16="http://schemas.microsoft.com/office/drawing/2014/main" id="{DEF34ECE-6342-442D-A8EF-39A8A052126D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7535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4  Application · 总览">
            <a:extLst>
              <a:ext uri="{FF2B5EF4-FFF2-40B4-BE49-F238E27FC236}">
                <a16:creationId xmlns:a16="http://schemas.microsoft.com/office/drawing/2014/main" id="{442C3E41-584B-4F1A-A907-ABC9B2C09DD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04  Application · 总览</a:t>
            </a:r>
          </a:p>
        </p:txBody>
      </p:sp>
      <p:sp>
        <p:nvSpPr>
          <p:cNvPr id="2" name="Application 按观察与行动接口组织">
            <a:extLst>
              <a:ext uri="{FF2B5EF4-FFF2-40B4-BE49-F238E27FC236}">
                <a16:creationId xmlns:a16="http://schemas.microsoft.com/office/drawing/2014/main" id="{EF94264F-6A35-4919-8465-64FE24D1199B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Application 按观察与行动接口组织</a:t>
            </a:r>
          </a:p>
        </p:txBody>
      </p:sp>
      <p:sp>
        <p:nvSpPr>
          <p:cNvPr id="3" name="接口决定能看到什么、能改变什么，以及能获得什么反馈。">
            <a:extLst>
              <a:ext uri="{FF2B5EF4-FFF2-40B4-BE49-F238E27FC236}">
                <a16:creationId xmlns:a16="http://schemas.microsoft.com/office/drawing/2014/main" id="{7A59FAD0-A65D-4EE8-B0DE-2A4C333F2CF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接口决定能看到什么、能改变什么，以及能获得什么反馈。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D22D2F-5B23-4F35-8865-EA373EE8578E}"/>
              </a:ext>
            </a:extLst>
          </p:cNvPr>
          <p:cNvGraphicFramePr/>
          <p:nvPr/>
        </p:nvGraphicFramePr>
        <p:xfrm>
          <a:off x="762000" y="2114550"/>
          <a:ext cx="10668000" cy="32956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应用类别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接口与反馈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需要补足的能力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Engineering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代码、终端、测试与运行结果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定位问题、修复与需求核验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Information Seeking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网页、检索与文档证据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补齐信息、综合证据与判断停止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Computer Use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截图、界面状态与键鼠动作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定位对象、跟踪状态与恢复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Multimodal Agents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跨时间与模态的感知流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找到关键片段、保留与对齐信息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General-purpose Agents</a:t>
                      </a:r>
                    </a:p>
                  </a:txBody>
                  <a:tcPr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多个工具、权限与外部服务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跨接口保持目标、约束与完整交付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 cap="flat" cmpd="sng" algn="ctr">
                      <a:solidFill>
                        <a:srgbClr val="CCD7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类别可以重叠；反馈形式的差异不构成领域难度排名。">
            <a:extLst>
              <a:ext uri="{FF2B5EF4-FFF2-40B4-BE49-F238E27FC236}">
                <a16:creationId xmlns:a16="http://schemas.microsoft.com/office/drawing/2014/main" id="{FEB526E1-C175-4B42-94AA-3B255D5E141B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类别可以重叠；反馈形式的差异不构成领域难度排名。</a:t>
            </a:r>
          </a:p>
        </p:txBody>
      </p:sp>
      <p:sp>
        <p:nvSpPr>
          <p:cNvPr id="6" name="综述框架：S001 §6、Fig.14，PDF pp.55–57；能力表述依据正文压缩">
            <a:extLst>
              <a:ext uri="{FF2B5EF4-FFF2-40B4-BE49-F238E27FC236}">
                <a16:creationId xmlns:a16="http://schemas.microsoft.com/office/drawing/2014/main" id="{D11F4F33-53A5-4CAD-95C2-3D5A0759F56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综述框架：S001 §6、Fig.14，PDF pp.55–57；能力表述依据正文压缩</a:t>
            </a:r>
          </a:p>
        </p:txBody>
      </p:sp>
      <p:sp>
        <p:nvSpPr>
          <p:cNvPr id="7" name="05">
            <a:extLst>
              <a:ext uri="{FF2B5EF4-FFF2-40B4-BE49-F238E27FC236}">
                <a16:creationId xmlns:a16="http://schemas.microsoft.com/office/drawing/2014/main" id="{DAD04853-3755-40D6-8353-D6D5689C913B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2152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04  Application · 关系图">
            <a:extLst>
              <a:ext uri="{FF2B5EF4-FFF2-40B4-BE49-F238E27FC236}">
                <a16:creationId xmlns:a16="http://schemas.microsoft.com/office/drawing/2014/main" id="{862414B4-9C7C-45E5-9042-D9EE828EDE2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04  Application · 关系图</a:t>
            </a:r>
          </a:p>
        </p:txBody>
      </p:sp>
      <p:sp>
        <p:nvSpPr>
          <p:cNvPr id="2" name="任务结果来自 Model、Harness 与环境配合">
            <a:extLst>
              <a:ext uri="{FF2B5EF4-FFF2-40B4-BE49-F238E27FC236}">
                <a16:creationId xmlns:a16="http://schemas.microsoft.com/office/drawing/2014/main" id="{8E7C4F73-6ACA-4A89-9DC8-EBB3E2E48D04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任务结果来自 Model、Harness 与环境配合</a:t>
            </a:r>
          </a:p>
        </p:txBody>
      </p:sp>
      <p:sp>
        <p:nvSpPr>
          <p:cNvPr id="3" name="同一套运行关系，在不同应用中接入不同的观察、动作与反馈。">
            <a:extLst>
              <a:ext uri="{FF2B5EF4-FFF2-40B4-BE49-F238E27FC236}">
                <a16:creationId xmlns:a16="http://schemas.microsoft.com/office/drawing/2014/main" id="{A049708B-4451-4D8B-BB98-7BA2A9E532CD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同一套运行关系，在不同应用中接入不同的观察、动作与反馈。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D0DB6-ADCA-4A19-8FFA-6C582FBCDA2B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0668000" cy="619125"/>
          </a:xfrm>
          <a:prstGeom prst="rect">
            <a:avLst/>
          </a:prstGeom>
          <a:solidFill>
            <a:srgbClr val="EAF1EF"/>
          </a:solidFill>
          <a:ln w="14288">
            <a:solidFill>
              <a:srgbClr val="CCD7D5"/>
            </a:solidFill>
          </a:ln>
        </p:spPr>
      </p:sp>
      <p:sp>
        <p:nvSpPr>
          <p:cNvPr id="5" name="Task / Goal">
            <a:extLst>
              <a:ext uri="{FF2B5EF4-FFF2-40B4-BE49-F238E27FC236}">
                <a16:creationId xmlns:a16="http://schemas.microsoft.com/office/drawing/2014/main" id="{B00F6237-56D4-46DC-BCED-0228BEAA2FB2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Task / Goal</a:t>
            </a:r>
          </a:p>
        </p:txBody>
      </p:sp>
      <p:sp>
        <p:nvSpPr>
          <p:cNvPr id="6" name="目标、约束与完成条件贯穿整个任务">
            <a:extLst>
              <a:ext uri="{FF2B5EF4-FFF2-40B4-BE49-F238E27FC236}">
                <a16:creationId xmlns:a16="http://schemas.microsoft.com/office/drawing/2014/main" id="{5914C45C-8F20-48E1-AD44-1937F4FD0CF2}"/>
              </a:ext>
            </a:extLst>
          </p:cNvPr>
          <p:cNvSpPr>
            <a:spLocks noGrp="1"/>
          </p:cNvSpPr>
          <p:nvPr/>
        </p:nvSpPr>
        <p:spPr>
          <a:xfrm>
            <a:off x="3429000" y="2362200"/>
            <a:ext cx="752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目标、约束与完成条件贯穿整个任务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F8214-0FE8-4F8B-92B9-40157B68155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2857500" cy="1390650"/>
          </a:xfrm>
          <a:prstGeom prst="rect">
            <a:avLst/>
          </a:prstGeom>
          <a:solidFill>
            <a:srgbClr val="182F43"/>
          </a:solidFill>
          <a:ln w="14288">
            <a:solidFill>
              <a:srgbClr val="146D71"/>
            </a:solidFill>
          </a:ln>
        </p:spPr>
      </p:sp>
      <p:sp>
        <p:nvSpPr>
          <p:cNvPr id="8" name="Model">
            <a:extLst>
              <a:ext uri="{FF2B5EF4-FFF2-40B4-BE49-F238E27FC236}">
                <a16:creationId xmlns:a16="http://schemas.microsoft.com/office/drawing/2014/main" id="{33FF1547-D599-43A8-A2ED-4D1FD183F7BE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9" name="理解输入&#10;选择行动与解释反馈">
            <a:extLst>
              <a:ext uri="{FF2B5EF4-FFF2-40B4-BE49-F238E27FC236}">
                <a16:creationId xmlns:a16="http://schemas.microsoft.com/office/drawing/2014/main" id="{8B175446-B7CB-4584-B2E7-F568675311F7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理解输入</a:t>
            </a:r>
          </a:p>
          <a:p>
            <a:pPr algn="ctr">
              <a:def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6E6E4"/>
                </a:solidFill>
                <a:latin typeface="Microsoft YaHei"/>
                <a:ea typeface="Microsoft YaHei"/>
                <a:cs typeface="Microsoft YaHei"/>
              </a:rPr>
              <a:t>选择行动与解释反馈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DE7142-6EFA-464C-856B-8E68A9CCE274}"/>
              </a:ext>
            </a:extLst>
          </p:cNvPr>
          <p:cNvSpPr>
            <a:spLocks noGrp="1"/>
          </p:cNvSpPr>
          <p:nvPr/>
        </p:nvSpPr>
        <p:spPr>
          <a:xfrm>
            <a:off x="466725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11" name="Harness">
            <a:extLst>
              <a:ext uri="{FF2B5EF4-FFF2-40B4-BE49-F238E27FC236}">
                <a16:creationId xmlns:a16="http://schemas.microsoft.com/office/drawing/2014/main" id="{6D52E22D-217F-4B01-836D-AF37DFA074A4}"/>
              </a:ext>
            </a:extLst>
          </p:cNvPr>
          <p:cNvSpPr>
            <a:spLocks noGrp="1"/>
          </p:cNvSpPr>
          <p:nvPr/>
        </p:nvSpPr>
        <p:spPr>
          <a:xfrm>
            <a:off x="478155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2" name="管理 Context 与工作流&#10;接入接口、执行与检查">
            <a:extLst>
              <a:ext uri="{FF2B5EF4-FFF2-40B4-BE49-F238E27FC236}">
                <a16:creationId xmlns:a16="http://schemas.microsoft.com/office/drawing/2014/main" id="{F515E13E-D20E-4EC5-AE47-6DB8E191BA1A}"/>
              </a:ext>
            </a:extLst>
          </p:cNvPr>
          <p:cNvSpPr>
            <a:spLocks noGrp="1"/>
          </p:cNvSpPr>
          <p:nvPr/>
        </p:nvSpPr>
        <p:spPr>
          <a:xfrm>
            <a:off x="481012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管理 Context 与工作流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接入接口、执行与检查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04908E-62EE-4B7D-B6DC-6452D04FDB37}"/>
              </a:ext>
            </a:extLst>
          </p:cNvPr>
          <p:cNvSpPr>
            <a:spLocks noGrp="1"/>
          </p:cNvSpPr>
          <p:nvPr/>
        </p:nvSpPr>
        <p:spPr>
          <a:xfrm>
            <a:off x="857250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46D71"/>
            </a:solidFill>
          </a:ln>
        </p:spPr>
      </p:sp>
      <p:sp>
        <p:nvSpPr>
          <p:cNvPr id="14" name="Environment">
            <a:extLst>
              <a:ext uri="{FF2B5EF4-FFF2-40B4-BE49-F238E27FC236}">
                <a16:creationId xmlns:a16="http://schemas.microsoft.com/office/drawing/2014/main" id="{41B3B8A3-D590-44F1-A248-0E7CF8B79352}"/>
              </a:ext>
            </a:extLst>
          </p:cNvPr>
          <p:cNvSpPr>
            <a:spLocks noGrp="1"/>
          </p:cNvSpPr>
          <p:nvPr/>
        </p:nvSpPr>
        <p:spPr>
          <a:xfrm>
            <a:off x="86868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15" name="代码／网页／GUI&#10;多模态流／外部服务">
            <a:extLst>
              <a:ext uri="{FF2B5EF4-FFF2-40B4-BE49-F238E27FC236}">
                <a16:creationId xmlns:a16="http://schemas.microsoft.com/office/drawing/2014/main" id="{A70AE7EC-A793-481C-9898-B7DA66D0C6D0}"/>
              </a:ext>
            </a:extLst>
          </p:cNvPr>
          <p:cNvSpPr>
            <a:spLocks noGrp="1"/>
          </p:cNvSpPr>
          <p:nvPr/>
        </p:nvSpPr>
        <p:spPr>
          <a:xfrm>
            <a:off x="87153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代码／网页／GUI</a:t>
            </a:r>
          </a:p>
          <a:p>
            <a:pPr algn="ctr">
              <a:def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多模态流／外部服务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C45312-581A-46CF-A248-BF968F70A02F}"/>
              </a:ext>
            </a:extLst>
          </p:cNvPr>
          <p:cNvCxnSpPr/>
          <p:nvPr/>
        </p:nvCxnSpPr>
        <p:spPr>
          <a:xfrm>
            <a:off x="3619500" y="36957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D54E321-8B89-41E4-89F2-44C7EA42723F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18" name="Action">
            <a:extLst>
              <a:ext uri="{FF2B5EF4-FFF2-40B4-BE49-F238E27FC236}">
                <a16:creationId xmlns:a16="http://schemas.microsoft.com/office/drawing/2014/main" id="{81F75139-CFA6-42F4-8B6C-456D3F58A791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9B8F06E-2E2D-40A5-88B6-767E468EADAB}"/>
              </a:ext>
            </a:extLst>
          </p:cNvPr>
          <p:cNvCxnSpPr/>
          <p:nvPr/>
        </p:nvCxnSpPr>
        <p:spPr>
          <a:xfrm>
            <a:off x="7524750" y="36957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44C9E04-16FD-4A03-ADE6-47DCB3AD562B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1" name="操作">
            <a:extLst>
              <a:ext uri="{FF2B5EF4-FFF2-40B4-BE49-F238E27FC236}">
                <a16:creationId xmlns:a16="http://schemas.microsoft.com/office/drawing/2014/main" id="{5D9146EC-1DD6-4C8C-A864-50AB57266686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2A34DC5-0116-4C25-AB18-773855E46B1C}"/>
              </a:ext>
            </a:extLst>
          </p:cNvPr>
          <p:cNvCxnSpPr/>
          <p:nvPr/>
        </p:nvCxnSpPr>
        <p:spPr>
          <a:xfrm>
            <a:off x="7524750" y="43053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4C58F4E-DB5D-4F6C-A153-67AFA50FD78C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4" name="反馈">
            <a:extLst>
              <a:ext uri="{FF2B5EF4-FFF2-40B4-BE49-F238E27FC236}">
                <a16:creationId xmlns:a16="http://schemas.microsoft.com/office/drawing/2014/main" id="{707233E4-03EA-4003-9C9E-3CAFDB2CBFB7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88DD1C5-A5D2-47AD-8686-F1AA40E4619C}"/>
              </a:ext>
            </a:extLst>
          </p:cNvPr>
          <p:cNvCxnSpPr/>
          <p:nvPr/>
        </p:nvCxnSpPr>
        <p:spPr>
          <a:xfrm>
            <a:off x="3619500" y="4305300"/>
            <a:ext cx="1047750" cy="0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7154A75C-42FF-4638-AE13-0CB5D8DB9D83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solidFill>
            <a:srgbClr val="F8F9F7"/>
          </a:solidFill>
          <a:ln w="14288">
            <a:solidFill>
              <a:srgbClr val="F8F9F7"/>
            </a:solidFill>
          </a:ln>
        </p:spPr>
      </p:sp>
      <p:sp>
        <p:nvSpPr>
          <p:cNvPr id="27" name="Context">
            <a:extLst>
              <a:ext uri="{FF2B5EF4-FFF2-40B4-BE49-F238E27FC236}">
                <a16:creationId xmlns:a16="http://schemas.microsoft.com/office/drawing/2014/main" id="{CD124BBB-F0B8-4E39-90B5-64F1D36087E4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0581905-FF5C-4FB2-A2F3-A30F185BA733}"/>
              </a:ext>
            </a:extLst>
          </p:cNvPr>
          <p:cNvCxnSpPr/>
          <p:nvPr/>
        </p:nvCxnSpPr>
        <p:spPr>
          <a:xfrm>
            <a:off x="6096000" y="4629150"/>
            <a:ext cx="0" cy="390525"/>
          </a:xfrm>
          <a:prstGeom prst="straightConnector1">
            <a:avLst/>
          </a:prstGeom>
          <a:ln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2C6FD53E-9F8B-4F60-90E3-A4C613A606B0}"/>
              </a:ext>
            </a:extLst>
          </p:cNvPr>
          <p:cNvSpPr>
            <a:spLocks noGrp="1"/>
          </p:cNvSpPr>
          <p:nvPr/>
        </p:nvSpPr>
        <p:spPr>
          <a:xfrm>
            <a:off x="3619500" y="5019675"/>
            <a:ext cx="4953000" cy="561975"/>
          </a:xfrm>
          <a:prstGeom prst="rect">
            <a:avLst/>
          </a:prstGeom>
          <a:solidFill>
            <a:srgbClr val="EAF1EF"/>
          </a:solidFill>
          <a:ln w="14288">
            <a:solidFill>
              <a:srgbClr val="CCD7D5"/>
            </a:solidFill>
          </a:ln>
        </p:spPr>
      </p:sp>
      <p:sp>
        <p:nvSpPr>
          <p:cNvPr id="30" name="状态与产物：代码、草稿、记录、已完成操作">
            <a:extLst>
              <a:ext uri="{FF2B5EF4-FFF2-40B4-BE49-F238E27FC236}">
                <a16:creationId xmlns:a16="http://schemas.microsoft.com/office/drawing/2014/main" id="{E50458E9-5A64-4653-9D60-B1BC72A2966C}"/>
              </a:ext>
            </a:extLst>
          </p:cNvPr>
          <p:cNvSpPr>
            <a:spLocks noGrp="1"/>
          </p:cNvSpPr>
          <p:nvPr/>
        </p:nvSpPr>
        <p:spPr>
          <a:xfrm>
            <a:off x="3762375" y="5162550"/>
            <a:ext cx="466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状态与产物：代码、草稿、记录、已完成操作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F440973-E109-48C5-9E87-C77DBBD48661}"/>
              </a:ext>
            </a:extLst>
          </p:cNvPr>
          <p:cNvCxnSpPr/>
          <p:nvPr/>
        </p:nvCxnSpPr>
        <p:spPr>
          <a:xfrm>
            <a:off x="8572500" y="5295900"/>
            <a:ext cx="142875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62CD798-3D9D-4267-8EBA-A54364A12549}"/>
              </a:ext>
            </a:extLst>
          </p:cNvPr>
          <p:cNvCxnSpPr/>
          <p:nvPr/>
        </p:nvCxnSpPr>
        <p:spPr>
          <a:xfrm>
            <a:off x="10001250" y="5295900"/>
            <a:ext cx="0" cy="466725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  <a:tailEnd type="triangle" w="med" len="med"/>
          </a:ln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C30343F-8252-4A10-89A0-07CB3D003AEB}"/>
              </a:ext>
            </a:extLst>
          </p:cNvPr>
          <p:cNvSpPr>
            <a:spLocks noGrp="1"/>
          </p:cNvSpPr>
          <p:nvPr/>
        </p:nvSpPr>
        <p:spPr>
          <a:xfrm>
            <a:off x="8572500" y="5762625"/>
            <a:ext cx="2857500" cy="447675"/>
          </a:xfrm>
          <a:prstGeom prst="rect">
            <a:avLst/>
          </a:prstGeom>
          <a:solidFill>
            <a:srgbClr val="FFFFFF"/>
          </a:solidFill>
          <a:ln w="14288">
            <a:solidFill>
              <a:srgbClr val="946439"/>
            </a:solidFill>
          </a:ln>
        </p:spPr>
      </p:sp>
      <p:sp>
        <p:nvSpPr>
          <p:cNvPr id="34" name="完整任务结果评测">
            <a:extLst>
              <a:ext uri="{FF2B5EF4-FFF2-40B4-BE49-F238E27FC236}">
                <a16:creationId xmlns:a16="http://schemas.microsoft.com/office/drawing/2014/main" id="{6E1BDCD2-0509-4C35-AE51-0E693E71D920}"/>
              </a:ext>
            </a:extLst>
          </p:cNvPr>
          <p:cNvSpPr>
            <a:spLocks noGrp="1"/>
          </p:cNvSpPr>
          <p:nvPr/>
        </p:nvSpPr>
        <p:spPr>
          <a:xfrm>
            <a:off x="8715375" y="5857875"/>
            <a:ext cx="2571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rPr>
              <a:t>完整任务结果评测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68A02A5-FF87-4694-AC2E-96D1A334A2EA}"/>
              </a:ext>
            </a:extLst>
          </p:cNvPr>
          <p:cNvCxnSpPr/>
          <p:nvPr/>
        </p:nvCxnSpPr>
        <p:spPr>
          <a:xfrm>
            <a:off x="11430000" y="2495550"/>
            <a:ext cx="28575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0FE655E-2512-48E2-BB90-8D651DFD7C0B}"/>
              </a:ext>
            </a:extLst>
          </p:cNvPr>
          <p:cNvCxnSpPr/>
          <p:nvPr/>
        </p:nvCxnSpPr>
        <p:spPr>
          <a:xfrm>
            <a:off x="11715750" y="2495550"/>
            <a:ext cx="0" cy="348615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</a:ln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A699BDB-E8B0-4072-925E-35F970B0EF9F}"/>
              </a:ext>
            </a:extLst>
          </p:cNvPr>
          <p:cNvCxnSpPr/>
          <p:nvPr/>
        </p:nvCxnSpPr>
        <p:spPr>
          <a:xfrm>
            <a:off x="11430000" y="5981700"/>
            <a:ext cx="285750" cy="0"/>
          </a:xfrm>
          <a:prstGeom prst="straightConnector1">
            <a:avLst/>
          </a:prstGeom>
          <a:ln w="19050">
            <a:solidFill>
              <a:srgbClr val="946439"/>
            </a:solidFill>
            <a:prstDash val="dash"/>
            <a:headEnd type="triangle" w="med" len="med"/>
          </a:ln>
        </p:spPr>
      </p:cxnSp>
      <p:sp>
        <p:nvSpPr>
          <p:cNvPr id="38" name="运行反馈帮助决定下一步">
            <a:extLst>
              <a:ext uri="{FF2B5EF4-FFF2-40B4-BE49-F238E27FC236}">
                <a16:creationId xmlns:a16="http://schemas.microsoft.com/office/drawing/2014/main" id="{89775F04-D229-4173-B000-B1CF39977FEB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5810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运行反馈帮助决定下一步</a:t>
            </a:r>
          </a:p>
        </p:txBody>
      </p:sp>
      <p:sp>
        <p:nvSpPr>
          <p:cNvPr id="39" name="虚线：终态与任务要求进入评测">
            <a:extLst>
              <a:ext uri="{FF2B5EF4-FFF2-40B4-BE49-F238E27FC236}">
                <a16:creationId xmlns:a16="http://schemas.microsoft.com/office/drawing/2014/main" id="{E5FDC126-3C04-4957-9916-09E4C9AAFDF0}"/>
              </a:ext>
            </a:extLst>
          </p:cNvPr>
          <p:cNvSpPr>
            <a:spLocks noGrp="1"/>
          </p:cNvSpPr>
          <p:nvPr/>
        </p:nvSpPr>
        <p:spPr>
          <a:xfrm>
            <a:off x="762000" y="6134100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虚线：终态与任务要求进入评测</a:t>
            </a:r>
          </a:p>
        </p:txBody>
      </p:sp>
      <p:sp>
        <p:nvSpPr>
          <p:cNvPr id="40" name="本库机制示意；依据 S001 §6、§6.6，PDF pp.55–64；终态评测信号未必向">
            <a:extLst>
              <a:ext uri="{FF2B5EF4-FFF2-40B4-BE49-F238E27FC236}">
                <a16:creationId xmlns:a16="http://schemas.microsoft.com/office/drawing/2014/main" id="{2FDDD834-8128-4CCD-B3E1-96EB1DD3E1B3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本库机制示意；依据 S001 §6、§6.6，PDF pp.55–64；终态评测信号未必向运行中 Agent 开放</a:t>
            </a:r>
          </a:p>
        </p:txBody>
      </p:sp>
      <p:sp>
        <p:nvSpPr>
          <p:cNvPr id="41" name="06">
            <a:extLst>
              <a:ext uri="{FF2B5EF4-FFF2-40B4-BE49-F238E27FC236}">
                <a16:creationId xmlns:a16="http://schemas.microsoft.com/office/drawing/2014/main" id="{283FF30D-B609-42F4-8DC5-021A097D466F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0810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04  Application · 额外思考">
            <a:extLst>
              <a:ext uri="{FF2B5EF4-FFF2-40B4-BE49-F238E27FC236}">
                <a16:creationId xmlns:a16="http://schemas.microsoft.com/office/drawing/2014/main" id="{65A45F64-7CCD-488C-9102-BF316036EF30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04  Application · 额外思考</a:t>
            </a:r>
          </a:p>
        </p:txBody>
      </p:sp>
      <p:sp>
        <p:nvSpPr>
          <p:cNvPr id="2" name="已有成效依赖可用信息与有效反馈">
            <a:extLst>
              <a:ext uri="{FF2B5EF4-FFF2-40B4-BE49-F238E27FC236}">
                <a16:creationId xmlns:a16="http://schemas.microsoft.com/office/drawing/2014/main" id="{1AA5052D-6F15-4BD3-B73A-687AAFE80F4E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已有成效依赖可用信息与有效反馈</a:t>
            </a:r>
          </a:p>
        </p:txBody>
      </p:sp>
      <p:sp>
        <p:nvSpPr>
          <p:cNvPr id="3" name="从代表案例归纳成功机制，避免把所有收益都归于自由规划。">
            <a:extLst>
              <a:ext uri="{FF2B5EF4-FFF2-40B4-BE49-F238E27FC236}">
                <a16:creationId xmlns:a16="http://schemas.microsoft.com/office/drawing/2014/main" id="{7148A5CA-46F6-4AD5-81C1-BF66C4671B44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从代表案例归纳成功机制，避免把所有收益都归于自由规划。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769BAB27-0429-44C0-9D90-089821D01472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把操作与证据组织成模型可用的形式">
            <a:extLst>
              <a:ext uri="{FF2B5EF4-FFF2-40B4-BE49-F238E27FC236}">
                <a16:creationId xmlns:a16="http://schemas.microsoft.com/office/drawing/2014/main" id="{7EFB373D-E922-491C-95D0-071DF8B336C1}"/>
              </a:ext>
            </a:extLst>
          </p:cNvPr>
          <p:cNvSpPr>
            <a:spLocks noGrp="1"/>
          </p:cNvSpPr>
          <p:nvPr/>
        </p:nvSpPr>
        <p:spPr>
          <a:xfrm>
            <a:off x="1714500" y="224790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把操作与证据组织成模型可用的形式</a:t>
            </a:r>
          </a:p>
        </p:txBody>
      </p:sp>
      <p:sp>
        <p:nvSpPr>
          <p:cNvPr id="6" name="SWE-agent 的接口消融支持编辑与搜索设计有用。&#10;VideoSeek 的同帧对照支持">
            <a:extLst>
              <a:ext uri="{FF2B5EF4-FFF2-40B4-BE49-F238E27FC236}">
                <a16:creationId xmlns:a16="http://schemas.microsoft.com/office/drawing/2014/main" id="{9E121179-F35A-4DEF-8C8B-E7A4A458F098}"/>
              </a:ext>
            </a:extLst>
          </p:cNvPr>
          <p:cNvSpPr>
            <a:spLocks noGrp="1"/>
          </p:cNvSpPr>
          <p:nvPr/>
        </p:nvSpPr>
        <p:spPr>
          <a:xfrm>
            <a:off x="1714500" y="266700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SWE-agent 的接口消融支持编辑与搜索设计有用。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VideoSeek 的同帧对照支持证据选择有用。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A9272B4F-21CB-4697-B466-2E1893400D80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固定流程也能利用反馈推进任务">
            <a:extLst>
              <a:ext uri="{FF2B5EF4-FFF2-40B4-BE49-F238E27FC236}">
                <a16:creationId xmlns:a16="http://schemas.microsoft.com/office/drawing/2014/main" id="{DCC60A1E-F67E-4E96-8288-2FEAFEA9992C}"/>
              </a:ext>
            </a:extLst>
          </p:cNvPr>
          <p:cNvSpPr>
            <a:spLocks noGrp="1"/>
          </p:cNvSpPr>
          <p:nvPr/>
        </p:nvSpPr>
        <p:spPr>
          <a:xfrm>
            <a:off x="1714500" y="3362325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固定流程也能利用反馈推进任务</a:t>
            </a:r>
          </a:p>
        </p:txBody>
      </p:sp>
      <p:sp>
        <p:nvSpPr>
          <p:cNvPr id="9" name="Agentless 用定位、修复、测试选择组成固定流程。&#10;测试筛选有收益，自由规划并非取得">
            <a:extLst>
              <a:ext uri="{FF2B5EF4-FFF2-40B4-BE49-F238E27FC236}">
                <a16:creationId xmlns:a16="http://schemas.microsoft.com/office/drawing/2014/main" id="{E918D071-3C9D-4D24-8A92-1F9F31013170}"/>
              </a:ext>
            </a:extLst>
          </p:cNvPr>
          <p:cNvSpPr>
            <a:spLocks noGrp="1"/>
          </p:cNvSpPr>
          <p:nvPr/>
        </p:nvSpPr>
        <p:spPr>
          <a:xfrm>
            <a:off x="1714500" y="3781425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Agentless 用定位、修复、测试选择组成固定流程。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测试筛选有收益，自由规划并非取得成效的必要条件。</a:t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AA6B2574-AE34-47CC-A06D-E442DF6792B0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局部正确之后仍有完整交付问题">
            <a:extLst>
              <a:ext uri="{FF2B5EF4-FFF2-40B4-BE49-F238E27FC236}">
                <a16:creationId xmlns:a16="http://schemas.microsoft.com/office/drawing/2014/main" id="{AA277811-31A7-4605-A668-536466770E2C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局部正确之后仍有完整交付问题</a:t>
            </a:r>
          </a:p>
        </p:txBody>
      </p:sp>
      <p:sp>
        <p:nvSpPr>
          <p:cNvPr id="12" name="Toolathlon 案例中，Agent 选对 checkpoint 却漏传依赖图片。&#10;正">
            <a:extLst>
              <a:ext uri="{FF2B5EF4-FFF2-40B4-BE49-F238E27FC236}">
                <a16:creationId xmlns:a16="http://schemas.microsoft.com/office/drawing/2014/main" id="{0DC73D3E-CB96-403C-BCDE-30E03581E8C6}"/>
              </a:ext>
            </a:extLst>
          </p:cNvPr>
          <p:cNvSpPr>
            <a:spLocks noGrp="1"/>
          </p:cNvSpPr>
          <p:nvPr/>
        </p:nvSpPr>
        <p:spPr>
          <a:xfrm>
            <a:off x="1714500" y="489585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Toolathlon 案例中，Agent 选对 checkpoint 却漏传依赖图片。</a:t>
            </a:r>
          </a:p>
          <a:p>
            <a:pPr>
              <a:def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正确子结果需要放回完整目标与产物依赖中检查。</a:t>
            </a:r>
          </a:p>
        </p:txBody>
      </p:sp>
      <p:sp>
        <p:nvSpPr>
          <p:cNvPr id="13" name="讨论：任务中最缺的是信息、判断、有效反馈，还是完成条件？">
            <a:extLst>
              <a:ext uri="{FF2B5EF4-FFF2-40B4-BE49-F238E27FC236}">
                <a16:creationId xmlns:a16="http://schemas.microsoft.com/office/drawing/2014/main" id="{3D83C14C-ADD4-40E4-A041-368EA11C6BAD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讨论：任务中最缺的是信息、判断、有效反馈，还是完成条件？</a:t>
            </a:r>
          </a:p>
        </p:txBody>
      </p:sp>
      <p:sp>
        <p:nvSpPr>
          <p:cNvPr id="14" name="跨案例归纳；S071 p.6；S075 App.A.3 p.12；S072 §3 p.6、">
            <a:extLst>
              <a:ext uri="{FF2B5EF4-FFF2-40B4-BE49-F238E27FC236}">
                <a16:creationId xmlns:a16="http://schemas.microsoft.com/office/drawing/2014/main" id="{42A2FCE5-8A75-4F42-98CF-74A8460C2287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跨案例归纳；S071 p.6；S075 App.A.3 p.12；S072 §3 p.6、Table 4 p.14；S076 App.E.2 p.18</a:t>
            </a:r>
          </a:p>
        </p:txBody>
      </p:sp>
      <p:sp>
        <p:nvSpPr>
          <p:cNvPr id="15" name="07">
            <a:extLst>
              <a:ext uri="{FF2B5EF4-FFF2-40B4-BE49-F238E27FC236}">
                <a16:creationId xmlns:a16="http://schemas.microsoft.com/office/drawing/2014/main" id="{0AC17592-36B0-43FD-808B-78CD29C42D3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350" b="0">
              <a:solidFill>
                <a:srgbClr val="5465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996819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2418</Words>
  <Application>Microsoft Office PowerPoint</Application>
  <DocSecurity>0</DocSecurity>
  <PresentationFormat>宽屏</PresentationFormat>
  <Paragraphs>192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zixuan zeng</cp:lastModifiedBy>
  <cp:revision>1</cp:revision>
  <dcterms:created xsi:type="dcterms:W3CDTF">2026-10-28T06:22:16Z</dcterms:created>
  <dcterms:modified xsi:type="dcterms:W3CDTF">2026-10-28T07:42:52Z</dcterms:modified>
</cp:coreProperties>
</file>